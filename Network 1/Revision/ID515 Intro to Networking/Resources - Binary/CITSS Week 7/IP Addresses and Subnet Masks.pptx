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7" r:id="rId3"/>
    <p:sldId id="258" r:id="rId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461" autoAdjust="0"/>
  </p:normalViewPr>
  <p:slideViewPr>
    <p:cSldViewPr>
      <p:cViewPr>
        <p:scale>
          <a:sx n="80" d="100"/>
          <a:sy n="80" d="100"/>
        </p:scale>
        <p:origin x="-1032" y="-19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085A555-3D19-4154-8C20-64833EAEFCA3}" type="datetimeFigureOut">
              <a:rPr lang="en-US" smtClean="0"/>
              <a:t>8/14/2012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70AFD3-ACE4-4114-A43B-552B4B5A6E15}"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085A555-3D19-4154-8C20-64833EAEFCA3}" type="datetimeFigureOut">
              <a:rPr lang="en-US" smtClean="0"/>
              <a:t>8/14/2012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70AFD3-ACE4-4114-A43B-552B4B5A6E1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085A555-3D19-4154-8C20-64833EAEFCA3}" type="datetimeFigureOut">
              <a:rPr lang="en-US" smtClean="0"/>
              <a:t>8/14/2012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70AFD3-ACE4-4114-A43B-552B4B5A6E15}"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085A555-3D19-4154-8C20-64833EAEFCA3}" type="datetimeFigureOut">
              <a:rPr lang="en-US" smtClean="0"/>
              <a:t>8/14/2012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70AFD3-ACE4-4114-A43B-552B4B5A6E1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085A555-3D19-4154-8C20-64833EAEFCA3}" type="datetimeFigureOut">
              <a:rPr lang="en-US" smtClean="0"/>
              <a:t>8/14/2012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70AFD3-ACE4-4114-A43B-552B4B5A6E15}"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085A555-3D19-4154-8C20-64833EAEFCA3}" type="datetimeFigureOut">
              <a:rPr lang="en-US" smtClean="0"/>
              <a:t>8/14/2012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70AFD3-ACE4-4114-A43B-552B4B5A6E1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85A555-3D19-4154-8C20-64833EAEFCA3}" type="datetimeFigureOut">
              <a:rPr lang="en-US" smtClean="0"/>
              <a:t>8/14/2012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70AFD3-ACE4-4114-A43B-552B4B5A6E1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085A555-3D19-4154-8C20-64833EAEFCA3}" type="datetimeFigureOut">
              <a:rPr lang="en-US" smtClean="0"/>
              <a:t>8/14/2012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70AFD3-ACE4-4114-A43B-552B4B5A6E15}" type="slidenum">
              <a:rPr lang="en-US" smtClean="0"/>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fld id="{F085A555-3D19-4154-8C20-64833EAEFCA3}" type="datetimeFigureOut">
              <a:rPr lang="en-US" smtClean="0"/>
              <a:t>8/14/2012</a:t>
            </a:fld>
            <a:endParaRPr lang="en-US"/>
          </a:p>
        </p:txBody>
      </p:sp>
      <p:sp>
        <p:nvSpPr>
          <p:cNvPr id="9" name="Slide Number Placeholder 8"/>
          <p:cNvSpPr>
            <a:spLocks noGrp="1"/>
          </p:cNvSpPr>
          <p:nvPr>
            <p:ph type="sldNum" sz="quarter" idx="11"/>
          </p:nvPr>
        </p:nvSpPr>
        <p:spPr/>
        <p:txBody>
          <a:bodyPr/>
          <a:lstStyle/>
          <a:p>
            <a:fld id="{2F70AFD3-ACE4-4114-A43B-552B4B5A6E15}" type="slidenum">
              <a:rPr lang="en-US" smtClean="0"/>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085A555-3D19-4154-8C20-64833EAEFCA3}" type="datetimeFigureOut">
              <a:rPr lang="en-US" smtClean="0"/>
              <a:t>8/14/2012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70AFD3-ACE4-4114-A43B-552B4B5A6E1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085A555-3D19-4154-8C20-64833EAEFCA3}" type="datetimeFigureOut">
              <a:rPr lang="en-US" smtClean="0"/>
              <a:t>8/14/2012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70AFD3-ACE4-4114-A43B-552B4B5A6E1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2F70AFD3-ACE4-4114-A43B-552B4B5A6E15}" type="slidenum">
              <a:rPr lang="en-US" smtClean="0"/>
              <a:t>‹#›</a:t>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F085A555-3D19-4154-8C20-64833EAEFCA3}" type="datetimeFigureOut">
              <a:rPr lang="en-US" smtClean="0"/>
              <a:t>8/14/2012</a:t>
            </a:fld>
            <a:endParaRPr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NZ" dirty="0" smtClean="0"/>
              <a:t>IP Addresses and Subnet Masks</a:t>
            </a:r>
            <a:endParaRPr lang="en-US" dirty="0"/>
          </a:p>
        </p:txBody>
      </p:sp>
      <p:sp>
        <p:nvSpPr>
          <p:cNvPr id="3" name="Subtitle 2"/>
          <p:cNvSpPr>
            <a:spLocks noGrp="1"/>
          </p:cNvSpPr>
          <p:nvPr>
            <p:ph type="subTitle" idx="1"/>
          </p:nvPr>
        </p:nvSpPr>
        <p:spPr/>
        <p:txBody>
          <a:bodyPr/>
          <a:lstStyle/>
          <a:p>
            <a:r>
              <a:rPr lang="en-NZ" dirty="0" smtClean="0"/>
              <a:t>Where do we draw the line?</a:t>
            </a:r>
            <a:endParaRPr lang="en-US" dirty="0"/>
          </a:p>
        </p:txBody>
      </p:sp>
    </p:spTree>
    <p:extLst>
      <p:ext uri="{BB962C8B-B14F-4D97-AF65-F5344CB8AC3E}">
        <p14:creationId xmlns:p14="http://schemas.microsoft.com/office/powerpoint/2010/main" val="16536033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Exercise Review</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534545803"/>
              </p:ext>
            </p:extLst>
          </p:nvPr>
        </p:nvGraphicFramePr>
        <p:xfrm>
          <a:off x="467544" y="1412776"/>
          <a:ext cx="8280920" cy="5256569"/>
        </p:xfrm>
        <a:graphic>
          <a:graphicData uri="http://schemas.openxmlformats.org/drawingml/2006/table">
            <a:tbl>
              <a:tblPr firstRow="1" firstCol="1" bandRow="1"/>
              <a:tblGrid>
                <a:gridCol w="1652237"/>
                <a:gridCol w="1902480"/>
                <a:gridCol w="1181748"/>
                <a:gridCol w="1180959"/>
                <a:gridCol w="1181748"/>
                <a:gridCol w="1181748"/>
              </a:tblGrid>
              <a:tr h="456537">
                <a:tc>
                  <a:txBody>
                    <a:bodyPr/>
                    <a:lstStyle/>
                    <a:p>
                      <a:pPr>
                        <a:spcAft>
                          <a:spcPts val="0"/>
                        </a:spcAft>
                      </a:pPr>
                      <a:r>
                        <a:rPr lang="en-NZ" sz="800" b="1" dirty="0">
                          <a:effectLst/>
                          <a:latin typeface="Times New Roman"/>
                          <a:ea typeface="Calibri"/>
                        </a:rPr>
                        <a:t> </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b="1">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457200">
                        <a:spcBef>
                          <a:spcPts val="600"/>
                        </a:spcBef>
                        <a:spcAft>
                          <a:spcPts val="0"/>
                        </a:spcAft>
                      </a:pPr>
                      <a:r>
                        <a:rPr lang="en-NZ" sz="800" b="1">
                          <a:effectLst/>
                          <a:latin typeface="Times New Roman"/>
                          <a:ea typeface="Calibri"/>
                        </a:rPr>
                        <a:t>Octet 1 in</a:t>
                      </a:r>
                      <a:br>
                        <a:rPr lang="en-NZ" sz="800" b="1">
                          <a:effectLst/>
                          <a:latin typeface="Times New Roman"/>
                          <a:ea typeface="Calibri"/>
                        </a:rPr>
                      </a:br>
                      <a:r>
                        <a:rPr lang="en-NZ" sz="800" b="1">
                          <a:effectLst/>
                          <a:latin typeface="Times New Roman"/>
                          <a:ea typeface="Calibri"/>
                        </a:rPr>
                        <a:t>8 bit binary</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457200">
                        <a:spcBef>
                          <a:spcPts val="600"/>
                        </a:spcBef>
                        <a:spcAft>
                          <a:spcPts val="0"/>
                        </a:spcAft>
                      </a:pPr>
                      <a:r>
                        <a:rPr lang="en-NZ" sz="800" b="1">
                          <a:effectLst/>
                          <a:latin typeface="Times New Roman"/>
                          <a:ea typeface="Calibri"/>
                        </a:rPr>
                        <a:t>Octet 2 in</a:t>
                      </a:r>
                      <a:br>
                        <a:rPr lang="en-NZ" sz="800" b="1">
                          <a:effectLst/>
                          <a:latin typeface="Times New Roman"/>
                          <a:ea typeface="Calibri"/>
                        </a:rPr>
                      </a:br>
                      <a:r>
                        <a:rPr lang="en-NZ" sz="800" b="1">
                          <a:effectLst/>
                          <a:latin typeface="Times New Roman"/>
                          <a:ea typeface="Calibri"/>
                        </a:rPr>
                        <a:t>8 bit binary</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457200">
                        <a:spcBef>
                          <a:spcPts val="600"/>
                        </a:spcBef>
                        <a:spcAft>
                          <a:spcPts val="0"/>
                        </a:spcAft>
                      </a:pPr>
                      <a:r>
                        <a:rPr lang="en-NZ" sz="800" b="1">
                          <a:effectLst/>
                          <a:latin typeface="Times New Roman"/>
                          <a:ea typeface="Calibri"/>
                        </a:rPr>
                        <a:t>Octet 3 in</a:t>
                      </a:r>
                      <a:br>
                        <a:rPr lang="en-NZ" sz="800" b="1">
                          <a:effectLst/>
                          <a:latin typeface="Times New Roman"/>
                          <a:ea typeface="Calibri"/>
                        </a:rPr>
                      </a:br>
                      <a:r>
                        <a:rPr lang="en-NZ" sz="800" b="1">
                          <a:effectLst/>
                          <a:latin typeface="Times New Roman"/>
                          <a:ea typeface="Calibri"/>
                        </a:rPr>
                        <a:t>8 bit binary</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457200">
                        <a:spcBef>
                          <a:spcPts val="600"/>
                        </a:spcBef>
                        <a:spcAft>
                          <a:spcPts val="0"/>
                        </a:spcAft>
                      </a:pPr>
                      <a:r>
                        <a:rPr lang="en-NZ" sz="800" b="1">
                          <a:effectLst/>
                          <a:latin typeface="Times New Roman"/>
                          <a:ea typeface="Calibri"/>
                        </a:rPr>
                        <a:t>Octet 4 in</a:t>
                      </a:r>
                      <a:br>
                        <a:rPr lang="en-NZ" sz="800" b="1">
                          <a:effectLst/>
                          <a:latin typeface="Times New Roman"/>
                          <a:ea typeface="Calibri"/>
                        </a:rPr>
                      </a:br>
                      <a:r>
                        <a:rPr lang="en-NZ" sz="800" b="1">
                          <a:effectLst/>
                          <a:latin typeface="Times New Roman"/>
                          <a:ea typeface="Calibri"/>
                        </a:rPr>
                        <a:t>8 bit binary</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r>
              <a:tr h="150001">
                <a:tc>
                  <a:txBody>
                    <a:bodyPr/>
                    <a:lstStyle/>
                    <a:p>
                      <a:pPr>
                        <a:spcAft>
                          <a:spcPts val="0"/>
                        </a:spcAft>
                      </a:pPr>
                      <a:r>
                        <a:rPr lang="en-NZ" sz="800" b="1">
                          <a:effectLst/>
                          <a:latin typeface="Times New Roman"/>
                          <a:ea typeface="Calibri"/>
                        </a:rPr>
                        <a:t>IP Host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dirty="0">
                          <a:solidFill>
                            <a:srgbClr val="FF0000"/>
                          </a:solidFill>
                          <a:effectLst/>
                          <a:latin typeface="Times New Roman"/>
                          <a:ea typeface="Calibri"/>
                        </a:rPr>
                        <a:t>192.168.12</a:t>
                      </a:r>
                      <a:r>
                        <a:rPr lang="en-NZ" sz="800" dirty="0">
                          <a:effectLst/>
                          <a:latin typeface="Times New Roman"/>
                          <a:ea typeface="Calibri"/>
                        </a:rPr>
                        <a:t>.</a:t>
                      </a:r>
                      <a:r>
                        <a:rPr lang="en-NZ" sz="800" dirty="0">
                          <a:solidFill>
                            <a:schemeClr val="tx1"/>
                          </a:solidFill>
                          <a:effectLst/>
                          <a:latin typeface="Times New Roman"/>
                          <a:ea typeface="Calibri"/>
                        </a:rPr>
                        <a:t>84</a:t>
                      </a:r>
                      <a:endParaRPr lang="en-US" sz="800" dirty="0">
                        <a:solidFill>
                          <a:schemeClr val="tx1"/>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001">
                <a:tc>
                  <a:txBody>
                    <a:bodyPr/>
                    <a:lstStyle/>
                    <a:p>
                      <a:pPr>
                        <a:spcAft>
                          <a:spcPts val="0"/>
                        </a:spcAft>
                      </a:pPr>
                      <a:r>
                        <a:rPr lang="en-NZ" sz="800" b="1">
                          <a:effectLst/>
                          <a:latin typeface="Times New Roman"/>
                          <a:ea typeface="Calibri"/>
                        </a:rPr>
                        <a:t>Subnet Mask</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dirty="0">
                          <a:solidFill>
                            <a:srgbClr val="FF0000"/>
                          </a:solidFill>
                          <a:effectLst/>
                          <a:latin typeface="Times New Roman"/>
                          <a:ea typeface="Calibri"/>
                        </a:rPr>
                        <a:t>255.255.255</a:t>
                      </a:r>
                      <a:r>
                        <a:rPr lang="en-NZ" sz="800" dirty="0">
                          <a:effectLst/>
                          <a:latin typeface="Times New Roman"/>
                          <a:ea typeface="Calibri"/>
                        </a:rPr>
                        <a:t>.</a:t>
                      </a:r>
                      <a:r>
                        <a:rPr lang="en-NZ" sz="800" dirty="0">
                          <a:solidFill>
                            <a:schemeClr val="tx1"/>
                          </a:solidFill>
                          <a:effectLst/>
                          <a:latin typeface="Times New Roman"/>
                          <a:ea typeface="Calibri"/>
                        </a:rPr>
                        <a:t>0</a:t>
                      </a:r>
                      <a:endParaRPr lang="en-US" sz="800" dirty="0">
                        <a:solidFill>
                          <a:schemeClr val="tx1"/>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001">
                <a:tc gridSpan="2">
                  <a:txBody>
                    <a:bodyPr/>
                    <a:lstStyle/>
                    <a:p>
                      <a:pPr algn="r">
                        <a:spcAft>
                          <a:spcPts val="0"/>
                        </a:spcAft>
                      </a:pPr>
                      <a:r>
                        <a:rPr lang="en-NZ" sz="800" b="1">
                          <a:effectLst/>
                          <a:latin typeface="Times New Roman"/>
                          <a:ea typeface="Calibri"/>
                        </a:rPr>
                        <a:t>Result After AND</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001">
                <a:tc gridSpan="2">
                  <a:txBody>
                    <a:bodyPr/>
                    <a:lstStyle/>
                    <a:p>
                      <a:pPr algn="r">
                        <a:spcAft>
                          <a:spcPts val="0"/>
                        </a:spcAft>
                      </a:pPr>
                      <a:r>
                        <a:rPr lang="en-NZ" sz="800" b="1">
                          <a:effectLst/>
                          <a:latin typeface="Times New Roman"/>
                          <a:ea typeface="Calibri"/>
                        </a:rPr>
                        <a:t>IP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r>
              <a:tr h="150001">
                <a:tc>
                  <a:txBody>
                    <a:bodyPr/>
                    <a:lstStyle/>
                    <a:p>
                      <a:pPr>
                        <a:spcAft>
                          <a:spcPts val="0"/>
                        </a:spcAft>
                      </a:pPr>
                      <a:r>
                        <a:rPr lang="en-NZ" sz="800" b="1">
                          <a:effectLst/>
                          <a:latin typeface="Times New Roman"/>
                          <a:ea typeface="Calibri"/>
                        </a:rPr>
                        <a:t>IP Host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dirty="0">
                          <a:effectLst/>
                          <a:latin typeface="Times New Roman"/>
                          <a:ea typeface="Calibri"/>
                        </a:rPr>
                        <a:t>10.10.100.150</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effectLst/>
                          <a:latin typeface="Times New Roman"/>
                          <a:ea typeface="Calibri"/>
                        </a:rPr>
                        <a:t> </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001">
                <a:tc>
                  <a:txBody>
                    <a:bodyPr/>
                    <a:lstStyle/>
                    <a:p>
                      <a:pPr>
                        <a:spcAft>
                          <a:spcPts val="0"/>
                        </a:spcAft>
                      </a:pPr>
                      <a:r>
                        <a:rPr lang="en-NZ" sz="800" b="1">
                          <a:effectLst/>
                          <a:latin typeface="Times New Roman"/>
                          <a:ea typeface="Calibri"/>
                        </a:rPr>
                        <a:t>Subnet Mask</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255.255.192.0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001">
                <a:tc gridSpan="2">
                  <a:txBody>
                    <a:bodyPr/>
                    <a:lstStyle/>
                    <a:p>
                      <a:pPr algn="r">
                        <a:spcAft>
                          <a:spcPts val="0"/>
                        </a:spcAft>
                      </a:pPr>
                      <a:r>
                        <a:rPr lang="en-NZ" sz="800" b="1">
                          <a:effectLst/>
                          <a:latin typeface="Times New Roman"/>
                          <a:ea typeface="Calibri"/>
                        </a:rPr>
                        <a:t>Result After AND</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001">
                <a:tc gridSpan="2">
                  <a:txBody>
                    <a:bodyPr/>
                    <a:lstStyle/>
                    <a:p>
                      <a:pPr algn="r">
                        <a:spcAft>
                          <a:spcPts val="0"/>
                        </a:spcAft>
                      </a:pPr>
                      <a:r>
                        <a:rPr lang="en-NZ" sz="800" b="1">
                          <a:effectLst/>
                          <a:latin typeface="Times New Roman"/>
                          <a:ea typeface="Calibri"/>
                        </a:rPr>
                        <a:t>IP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r>
              <a:tr h="150001">
                <a:tc>
                  <a:txBody>
                    <a:bodyPr/>
                    <a:lstStyle/>
                    <a:p>
                      <a:pPr>
                        <a:spcAft>
                          <a:spcPts val="0"/>
                        </a:spcAft>
                      </a:pPr>
                      <a:r>
                        <a:rPr lang="en-NZ" sz="800" b="1">
                          <a:effectLst/>
                          <a:latin typeface="Times New Roman"/>
                          <a:ea typeface="Calibri"/>
                        </a:rPr>
                        <a:t>IP Host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192.168.5.12</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001">
                <a:tc>
                  <a:txBody>
                    <a:bodyPr/>
                    <a:lstStyle/>
                    <a:p>
                      <a:pPr>
                        <a:spcAft>
                          <a:spcPts val="0"/>
                        </a:spcAft>
                      </a:pPr>
                      <a:r>
                        <a:rPr lang="en-NZ" sz="800" b="1">
                          <a:effectLst/>
                          <a:latin typeface="Times New Roman"/>
                          <a:ea typeface="Calibri"/>
                        </a:rPr>
                        <a:t>Subnet Mask</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255.255.255.128</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001">
                <a:tc gridSpan="2">
                  <a:txBody>
                    <a:bodyPr/>
                    <a:lstStyle/>
                    <a:p>
                      <a:pPr algn="r">
                        <a:spcAft>
                          <a:spcPts val="0"/>
                        </a:spcAft>
                      </a:pPr>
                      <a:r>
                        <a:rPr lang="en-NZ" sz="800" b="1">
                          <a:effectLst/>
                          <a:latin typeface="Times New Roman"/>
                          <a:ea typeface="Calibri"/>
                        </a:rPr>
                        <a:t>Result After AND</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001">
                <a:tc gridSpan="2">
                  <a:txBody>
                    <a:bodyPr/>
                    <a:lstStyle/>
                    <a:p>
                      <a:pPr algn="r">
                        <a:spcAft>
                          <a:spcPts val="0"/>
                        </a:spcAft>
                      </a:pPr>
                      <a:r>
                        <a:rPr lang="en-NZ" sz="800" b="1">
                          <a:effectLst/>
                          <a:latin typeface="Times New Roman"/>
                          <a:ea typeface="Calibri"/>
                        </a:rPr>
                        <a:t>IP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r>
              <a:tr h="150001">
                <a:tc>
                  <a:txBody>
                    <a:bodyPr/>
                    <a:lstStyle/>
                    <a:p>
                      <a:pPr>
                        <a:spcAft>
                          <a:spcPts val="0"/>
                        </a:spcAft>
                      </a:pPr>
                      <a:r>
                        <a:rPr lang="en-NZ" sz="800" b="1">
                          <a:effectLst/>
                          <a:latin typeface="Times New Roman"/>
                          <a:ea typeface="Calibri"/>
                        </a:rPr>
                        <a:t>IP Host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192.168.0.1</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001">
                <a:tc>
                  <a:txBody>
                    <a:bodyPr/>
                    <a:lstStyle/>
                    <a:p>
                      <a:pPr>
                        <a:spcAft>
                          <a:spcPts val="0"/>
                        </a:spcAft>
                      </a:pPr>
                      <a:r>
                        <a:rPr lang="en-NZ" sz="800" b="1">
                          <a:effectLst/>
                          <a:latin typeface="Times New Roman"/>
                          <a:ea typeface="Calibri"/>
                        </a:rPr>
                        <a:t>Subnet Mask</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255.255.255.240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001">
                <a:tc gridSpan="2">
                  <a:txBody>
                    <a:bodyPr/>
                    <a:lstStyle/>
                    <a:p>
                      <a:pPr algn="r">
                        <a:spcAft>
                          <a:spcPts val="0"/>
                        </a:spcAft>
                      </a:pPr>
                      <a:r>
                        <a:rPr lang="en-NZ" sz="800" b="1">
                          <a:effectLst/>
                          <a:latin typeface="Times New Roman"/>
                          <a:ea typeface="Calibri"/>
                        </a:rPr>
                        <a:t>Result After AND</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001">
                <a:tc gridSpan="2">
                  <a:txBody>
                    <a:bodyPr/>
                    <a:lstStyle/>
                    <a:p>
                      <a:pPr algn="r">
                        <a:spcAft>
                          <a:spcPts val="0"/>
                        </a:spcAft>
                      </a:pPr>
                      <a:r>
                        <a:rPr lang="en-NZ" sz="800" b="1">
                          <a:effectLst/>
                          <a:latin typeface="Times New Roman"/>
                          <a:ea typeface="Calibri"/>
                        </a:rPr>
                        <a:t>IP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r>
              <a:tr h="150001">
                <a:tc>
                  <a:txBody>
                    <a:bodyPr/>
                    <a:lstStyle/>
                    <a:p>
                      <a:pPr>
                        <a:spcAft>
                          <a:spcPts val="0"/>
                        </a:spcAft>
                      </a:pPr>
                      <a:r>
                        <a:rPr lang="en-NZ" sz="800" b="1">
                          <a:effectLst/>
                          <a:latin typeface="Times New Roman"/>
                          <a:ea typeface="Calibri"/>
                        </a:rPr>
                        <a:t>IP Host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10.200.100.90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001">
                <a:tc>
                  <a:txBody>
                    <a:bodyPr/>
                    <a:lstStyle/>
                    <a:p>
                      <a:pPr>
                        <a:spcAft>
                          <a:spcPts val="0"/>
                        </a:spcAft>
                      </a:pPr>
                      <a:r>
                        <a:rPr lang="en-NZ" sz="800" b="1">
                          <a:effectLst/>
                          <a:latin typeface="Times New Roman"/>
                          <a:ea typeface="Calibri"/>
                        </a:rPr>
                        <a:t>Subnet Mask</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255.224.0.0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001">
                <a:tc gridSpan="2">
                  <a:txBody>
                    <a:bodyPr/>
                    <a:lstStyle/>
                    <a:p>
                      <a:pPr algn="r">
                        <a:spcAft>
                          <a:spcPts val="0"/>
                        </a:spcAft>
                      </a:pPr>
                      <a:r>
                        <a:rPr lang="en-NZ" sz="800" b="1">
                          <a:effectLst/>
                          <a:latin typeface="Times New Roman"/>
                          <a:ea typeface="Calibri"/>
                        </a:rPr>
                        <a:t>Result After AND</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001">
                <a:tc gridSpan="2">
                  <a:txBody>
                    <a:bodyPr/>
                    <a:lstStyle/>
                    <a:p>
                      <a:pPr algn="r">
                        <a:spcAft>
                          <a:spcPts val="0"/>
                        </a:spcAft>
                      </a:pPr>
                      <a:r>
                        <a:rPr lang="en-NZ" sz="800" b="1">
                          <a:effectLst/>
                          <a:latin typeface="Times New Roman"/>
                          <a:ea typeface="Calibri"/>
                        </a:rPr>
                        <a:t>IP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r>
              <a:tr h="150001">
                <a:tc>
                  <a:txBody>
                    <a:bodyPr/>
                    <a:lstStyle/>
                    <a:p>
                      <a:pPr>
                        <a:spcAft>
                          <a:spcPts val="0"/>
                        </a:spcAft>
                      </a:pPr>
                      <a:r>
                        <a:rPr lang="en-NZ" sz="800" b="1">
                          <a:effectLst/>
                          <a:latin typeface="Times New Roman"/>
                          <a:ea typeface="Calibri"/>
                        </a:rPr>
                        <a:t>IP Host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10.80.90.100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001">
                <a:tc>
                  <a:txBody>
                    <a:bodyPr/>
                    <a:lstStyle/>
                    <a:p>
                      <a:pPr>
                        <a:spcAft>
                          <a:spcPts val="0"/>
                        </a:spcAft>
                      </a:pPr>
                      <a:r>
                        <a:rPr lang="en-NZ" sz="800" b="1">
                          <a:effectLst/>
                          <a:latin typeface="Times New Roman"/>
                          <a:ea typeface="Calibri"/>
                        </a:rPr>
                        <a:t>Subnet Mask</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255.0.0.0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001">
                <a:tc gridSpan="2">
                  <a:txBody>
                    <a:bodyPr/>
                    <a:lstStyle/>
                    <a:p>
                      <a:pPr algn="r">
                        <a:spcAft>
                          <a:spcPts val="0"/>
                        </a:spcAft>
                      </a:pPr>
                      <a:r>
                        <a:rPr lang="en-NZ" sz="800" b="1">
                          <a:effectLst/>
                          <a:latin typeface="Times New Roman"/>
                          <a:ea typeface="Calibri"/>
                        </a:rPr>
                        <a:t>Result After AND</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001">
                <a:tc gridSpan="2">
                  <a:txBody>
                    <a:bodyPr/>
                    <a:lstStyle/>
                    <a:p>
                      <a:pPr algn="r">
                        <a:spcAft>
                          <a:spcPts val="0"/>
                        </a:spcAft>
                      </a:pPr>
                      <a:r>
                        <a:rPr lang="en-NZ" sz="800" b="1">
                          <a:effectLst/>
                          <a:latin typeface="Times New Roman"/>
                          <a:ea typeface="Calibri"/>
                        </a:rPr>
                        <a:t>IP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r>
              <a:tr h="150001">
                <a:tc>
                  <a:txBody>
                    <a:bodyPr/>
                    <a:lstStyle/>
                    <a:p>
                      <a:pPr>
                        <a:spcAft>
                          <a:spcPts val="0"/>
                        </a:spcAft>
                      </a:pPr>
                      <a:r>
                        <a:rPr lang="en-NZ" sz="800" b="1">
                          <a:effectLst/>
                          <a:latin typeface="Times New Roman"/>
                          <a:ea typeface="Calibri"/>
                        </a:rPr>
                        <a:t>IP Host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192.168.254.254</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001">
                <a:tc>
                  <a:txBody>
                    <a:bodyPr/>
                    <a:lstStyle/>
                    <a:p>
                      <a:pPr>
                        <a:spcAft>
                          <a:spcPts val="0"/>
                        </a:spcAft>
                      </a:pPr>
                      <a:r>
                        <a:rPr lang="en-NZ" sz="800" b="1">
                          <a:effectLst/>
                          <a:latin typeface="Times New Roman"/>
                          <a:ea typeface="Calibri"/>
                        </a:rPr>
                        <a:t>Subnet Mask</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255.255.255.0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001">
                <a:tc gridSpan="2">
                  <a:txBody>
                    <a:bodyPr/>
                    <a:lstStyle/>
                    <a:p>
                      <a:pPr algn="r">
                        <a:spcAft>
                          <a:spcPts val="0"/>
                        </a:spcAft>
                      </a:pPr>
                      <a:r>
                        <a:rPr lang="en-NZ" sz="800" b="1">
                          <a:effectLst/>
                          <a:latin typeface="Times New Roman"/>
                          <a:ea typeface="Calibri"/>
                        </a:rPr>
                        <a:t>Result After AND</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001">
                <a:tc gridSpan="2">
                  <a:txBody>
                    <a:bodyPr/>
                    <a:lstStyle/>
                    <a:p>
                      <a:pPr algn="r">
                        <a:spcAft>
                          <a:spcPts val="0"/>
                        </a:spcAft>
                      </a:pPr>
                      <a:r>
                        <a:rPr lang="en-NZ" sz="800" b="1">
                          <a:effectLst/>
                          <a:latin typeface="Times New Roman"/>
                          <a:ea typeface="Calibri"/>
                        </a:rPr>
                        <a:t>IP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r>
              <a:tr h="150001">
                <a:tc>
                  <a:txBody>
                    <a:bodyPr/>
                    <a:lstStyle/>
                    <a:p>
                      <a:pPr>
                        <a:spcAft>
                          <a:spcPts val="0"/>
                        </a:spcAft>
                      </a:pPr>
                      <a:r>
                        <a:rPr lang="en-NZ" sz="800" b="1">
                          <a:effectLst/>
                          <a:latin typeface="Times New Roman"/>
                          <a:ea typeface="Calibri"/>
                        </a:rPr>
                        <a:t>IP Host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10.200.220.240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001">
                <a:tc>
                  <a:txBody>
                    <a:bodyPr/>
                    <a:lstStyle/>
                    <a:p>
                      <a:pPr>
                        <a:spcAft>
                          <a:spcPts val="0"/>
                        </a:spcAft>
                      </a:pPr>
                      <a:r>
                        <a:rPr lang="en-NZ" sz="800" b="1">
                          <a:effectLst/>
                          <a:latin typeface="Times New Roman"/>
                          <a:ea typeface="Calibri"/>
                        </a:rPr>
                        <a:t>Subnet Mask</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255.255.254.0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001">
                <a:tc gridSpan="2">
                  <a:txBody>
                    <a:bodyPr/>
                    <a:lstStyle/>
                    <a:p>
                      <a:pPr algn="r">
                        <a:spcAft>
                          <a:spcPts val="0"/>
                        </a:spcAft>
                      </a:pPr>
                      <a:r>
                        <a:rPr lang="en-NZ" sz="800" b="1">
                          <a:effectLst/>
                          <a:latin typeface="Times New Roman"/>
                          <a:ea typeface="Calibri"/>
                        </a:rPr>
                        <a:t>Result After AND</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001">
                <a:tc gridSpan="2">
                  <a:txBody>
                    <a:bodyPr/>
                    <a:lstStyle/>
                    <a:p>
                      <a:pPr algn="r">
                        <a:spcAft>
                          <a:spcPts val="0"/>
                        </a:spcAft>
                      </a:pPr>
                      <a:r>
                        <a:rPr lang="en-NZ" sz="800" b="1">
                          <a:effectLst/>
                          <a:latin typeface="Times New Roman"/>
                          <a:ea typeface="Calibri"/>
                        </a:rPr>
                        <a:t>IP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 </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dirty="0">
                          <a:effectLst/>
                          <a:latin typeface="Times New Roman"/>
                          <a:ea typeface="Calibri"/>
                        </a:rPr>
                        <a:t> </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4060741848"/>
              </p:ext>
            </p:extLst>
          </p:nvPr>
        </p:nvGraphicFramePr>
        <p:xfrm>
          <a:off x="467544" y="1412776"/>
          <a:ext cx="8280920" cy="5256583"/>
        </p:xfrm>
        <a:graphic>
          <a:graphicData uri="http://schemas.openxmlformats.org/drawingml/2006/table">
            <a:tbl>
              <a:tblPr firstRow="1" firstCol="1" bandRow="1"/>
              <a:tblGrid>
                <a:gridCol w="1652237"/>
                <a:gridCol w="1902480"/>
                <a:gridCol w="1181748"/>
                <a:gridCol w="1180959"/>
                <a:gridCol w="1181748"/>
                <a:gridCol w="1181748"/>
              </a:tblGrid>
              <a:tr h="450439">
                <a:tc>
                  <a:txBody>
                    <a:bodyPr/>
                    <a:lstStyle/>
                    <a:p>
                      <a:pPr>
                        <a:spcAft>
                          <a:spcPts val="0"/>
                        </a:spcAft>
                      </a:pPr>
                      <a:r>
                        <a:rPr lang="en-NZ" sz="800" b="1" dirty="0">
                          <a:effectLst/>
                          <a:latin typeface="Times New Roman"/>
                          <a:ea typeface="Calibri"/>
                        </a:rPr>
                        <a:t> </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b="1" dirty="0">
                          <a:effectLst/>
                          <a:latin typeface="Times New Roman"/>
                          <a:ea typeface="Calibri"/>
                        </a:rPr>
                        <a:t> </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457200">
                        <a:spcBef>
                          <a:spcPts val="600"/>
                        </a:spcBef>
                        <a:spcAft>
                          <a:spcPts val="0"/>
                        </a:spcAft>
                      </a:pPr>
                      <a:r>
                        <a:rPr lang="en-NZ" sz="800" b="1">
                          <a:effectLst/>
                          <a:latin typeface="Times New Roman"/>
                          <a:ea typeface="Calibri"/>
                        </a:rPr>
                        <a:t>Octet 1 in</a:t>
                      </a:r>
                      <a:br>
                        <a:rPr lang="en-NZ" sz="800" b="1">
                          <a:effectLst/>
                          <a:latin typeface="Times New Roman"/>
                          <a:ea typeface="Calibri"/>
                        </a:rPr>
                      </a:br>
                      <a:r>
                        <a:rPr lang="en-NZ" sz="800" b="1">
                          <a:effectLst/>
                          <a:latin typeface="Times New Roman"/>
                          <a:ea typeface="Calibri"/>
                        </a:rPr>
                        <a:t>8 bit binary</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457200">
                        <a:spcBef>
                          <a:spcPts val="600"/>
                        </a:spcBef>
                        <a:spcAft>
                          <a:spcPts val="0"/>
                        </a:spcAft>
                      </a:pPr>
                      <a:r>
                        <a:rPr lang="en-NZ" sz="800" b="1">
                          <a:effectLst/>
                          <a:latin typeface="Times New Roman"/>
                          <a:ea typeface="Calibri"/>
                        </a:rPr>
                        <a:t>Octet 2 in</a:t>
                      </a:r>
                      <a:br>
                        <a:rPr lang="en-NZ" sz="800" b="1">
                          <a:effectLst/>
                          <a:latin typeface="Times New Roman"/>
                          <a:ea typeface="Calibri"/>
                        </a:rPr>
                      </a:br>
                      <a:r>
                        <a:rPr lang="en-NZ" sz="800" b="1">
                          <a:effectLst/>
                          <a:latin typeface="Times New Roman"/>
                          <a:ea typeface="Calibri"/>
                        </a:rPr>
                        <a:t>8 bit binary</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457200">
                        <a:spcBef>
                          <a:spcPts val="600"/>
                        </a:spcBef>
                        <a:spcAft>
                          <a:spcPts val="0"/>
                        </a:spcAft>
                      </a:pPr>
                      <a:r>
                        <a:rPr lang="en-NZ" sz="800" b="1">
                          <a:effectLst/>
                          <a:latin typeface="Times New Roman"/>
                          <a:ea typeface="Calibri"/>
                        </a:rPr>
                        <a:t>Octet 3 in</a:t>
                      </a:r>
                      <a:br>
                        <a:rPr lang="en-NZ" sz="800" b="1">
                          <a:effectLst/>
                          <a:latin typeface="Times New Roman"/>
                          <a:ea typeface="Calibri"/>
                        </a:rPr>
                      </a:br>
                      <a:r>
                        <a:rPr lang="en-NZ" sz="800" b="1">
                          <a:effectLst/>
                          <a:latin typeface="Times New Roman"/>
                          <a:ea typeface="Calibri"/>
                        </a:rPr>
                        <a:t>8 bit binary</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457200">
                        <a:spcBef>
                          <a:spcPts val="600"/>
                        </a:spcBef>
                        <a:spcAft>
                          <a:spcPts val="0"/>
                        </a:spcAft>
                      </a:pPr>
                      <a:r>
                        <a:rPr lang="en-NZ" sz="800" b="1">
                          <a:effectLst/>
                          <a:latin typeface="Times New Roman"/>
                          <a:ea typeface="Calibri"/>
                        </a:rPr>
                        <a:t>Octet 4 in</a:t>
                      </a:r>
                      <a:br>
                        <a:rPr lang="en-NZ" sz="800" b="1">
                          <a:effectLst/>
                          <a:latin typeface="Times New Roman"/>
                          <a:ea typeface="Calibri"/>
                        </a:rPr>
                      </a:br>
                      <a:r>
                        <a:rPr lang="en-NZ" sz="800" b="1">
                          <a:effectLst/>
                          <a:latin typeface="Times New Roman"/>
                          <a:ea typeface="Calibri"/>
                        </a:rPr>
                        <a:t>8 bit binary</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r>
              <a:tr h="150192">
                <a:tc>
                  <a:txBody>
                    <a:bodyPr/>
                    <a:lstStyle/>
                    <a:p>
                      <a:pPr>
                        <a:spcAft>
                          <a:spcPts val="0"/>
                        </a:spcAft>
                      </a:pPr>
                      <a:r>
                        <a:rPr lang="en-NZ" sz="800" b="1">
                          <a:effectLst/>
                          <a:latin typeface="Times New Roman"/>
                          <a:ea typeface="Calibri"/>
                        </a:rPr>
                        <a:t>IP Host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dirty="0">
                          <a:effectLst/>
                          <a:latin typeface="Times New Roman"/>
                          <a:ea typeface="Calibri"/>
                        </a:rPr>
                        <a:t>192.168.12.84</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11000000</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10101000</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00001100</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chemeClr val="tx1"/>
                          </a:solidFill>
                          <a:effectLst/>
                          <a:latin typeface="Times New Roman"/>
                          <a:ea typeface="Calibri"/>
                        </a:rPr>
                        <a:t>01010100</a:t>
                      </a:r>
                      <a:endParaRPr lang="en-US" sz="800" dirty="0">
                        <a:solidFill>
                          <a:schemeClr val="tx1"/>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192">
                <a:tc>
                  <a:txBody>
                    <a:bodyPr/>
                    <a:lstStyle/>
                    <a:p>
                      <a:pPr>
                        <a:spcAft>
                          <a:spcPts val="0"/>
                        </a:spcAft>
                      </a:pPr>
                      <a:r>
                        <a:rPr lang="en-NZ" sz="800" b="1">
                          <a:effectLst/>
                          <a:latin typeface="Times New Roman"/>
                          <a:ea typeface="Calibri"/>
                        </a:rPr>
                        <a:t>Subnet Mask</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255.255.255.0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solidFill>
                            <a:srgbClr val="FF0000"/>
                          </a:solidFill>
                          <a:effectLst/>
                          <a:latin typeface="Times New Roman"/>
                          <a:ea typeface="Calibri"/>
                        </a:rPr>
                        <a:t>11111111</a:t>
                      </a:r>
                      <a:endParaRPr lang="en-US" sz="80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solidFill>
                            <a:srgbClr val="FF0000"/>
                          </a:solidFill>
                          <a:effectLst/>
                          <a:latin typeface="Times New Roman"/>
                          <a:ea typeface="Calibri"/>
                        </a:rPr>
                        <a:t>11111111</a:t>
                      </a:r>
                      <a:endParaRPr lang="en-US" sz="80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11111111</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chemeClr val="tx1"/>
                          </a:solidFill>
                          <a:effectLst/>
                          <a:latin typeface="Times New Roman"/>
                          <a:ea typeface="Calibri"/>
                        </a:rPr>
                        <a:t>00000000</a:t>
                      </a:r>
                      <a:endParaRPr lang="en-US" sz="800" dirty="0">
                        <a:solidFill>
                          <a:schemeClr val="tx1"/>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192">
                <a:tc gridSpan="2">
                  <a:txBody>
                    <a:bodyPr/>
                    <a:lstStyle/>
                    <a:p>
                      <a:pPr algn="r">
                        <a:spcAft>
                          <a:spcPts val="0"/>
                        </a:spcAft>
                      </a:pPr>
                      <a:r>
                        <a:rPr lang="en-NZ" sz="800" b="1">
                          <a:effectLst/>
                          <a:latin typeface="Times New Roman"/>
                          <a:ea typeface="Calibri"/>
                        </a:rPr>
                        <a:t>Result After AND</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solidFill>
                            <a:srgbClr val="FF0000"/>
                          </a:solidFill>
                          <a:effectLst/>
                          <a:latin typeface="Times New Roman"/>
                          <a:ea typeface="Calibri"/>
                        </a:rPr>
                        <a:t>11000000</a:t>
                      </a:r>
                      <a:endParaRPr lang="en-US" sz="80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solidFill>
                            <a:srgbClr val="FF0000"/>
                          </a:solidFill>
                          <a:effectLst/>
                          <a:latin typeface="Times New Roman"/>
                          <a:ea typeface="Calibri"/>
                        </a:rPr>
                        <a:t>10101000</a:t>
                      </a:r>
                      <a:endParaRPr lang="en-US" sz="80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00001100</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chemeClr val="tx1"/>
                          </a:solidFill>
                          <a:effectLst/>
                          <a:latin typeface="Times New Roman"/>
                          <a:ea typeface="Calibri"/>
                        </a:rPr>
                        <a:t>00000000</a:t>
                      </a:r>
                      <a:endParaRPr lang="en-US" sz="800" dirty="0">
                        <a:solidFill>
                          <a:schemeClr val="tx1"/>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192">
                <a:tc gridSpan="2">
                  <a:txBody>
                    <a:bodyPr/>
                    <a:lstStyle/>
                    <a:p>
                      <a:pPr algn="r">
                        <a:spcAft>
                          <a:spcPts val="0"/>
                        </a:spcAft>
                      </a:pPr>
                      <a:r>
                        <a:rPr lang="en-NZ" sz="800" b="1">
                          <a:effectLst/>
                          <a:latin typeface="Times New Roman"/>
                          <a:ea typeface="Calibri"/>
                        </a:rPr>
                        <a:t>IP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dirty="0">
                          <a:solidFill>
                            <a:srgbClr val="FF0000"/>
                          </a:solidFill>
                          <a:effectLst/>
                          <a:latin typeface="Times New Roman"/>
                          <a:ea typeface="Calibri"/>
                        </a:rPr>
                        <a:t>192</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168</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12</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r>
              <a:tr h="150192">
                <a:tc>
                  <a:txBody>
                    <a:bodyPr/>
                    <a:lstStyle/>
                    <a:p>
                      <a:pPr>
                        <a:spcAft>
                          <a:spcPts val="0"/>
                        </a:spcAft>
                      </a:pPr>
                      <a:r>
                        <a:rPr lang="en-NZ" sz="800" b="1">
                          <a:effectLst/>
                          <a:latin typeface="Times New Roman"/>
                          <a:ea typeface="Calibri"/>
                        </a:rPr>
                        <a:t>IP Host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10.10.100.150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00001010</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00001010</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01</a:t>
                      </a:r>
                      <a:r>
                        <a:rPr lang="en-NZ" sz="800" dirty="0">
                          <a:effectLst/>
                          <a:latin typeface="Times New Roman"/>
                          <a:ea typeface="Calibri"/>
                        </a:rPr>
                        <a:t>100100</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10010110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192">
                <a:tc>
                  <a:txBody>
                    <a:bodyPr/>
                    <a:lstStyle/>
                    <a:p>
                      <a:pPr>
                        <a:spcAft>
                          <a:spcPts val="0"/>
                        </a:spcAft>
                      </a:pPr>
                      <a:r>
                        <a:rPr lang="en-NZ" sz="800" b="1">
                          <a:effectLst/>
                          <a:latin typeface="Times New Roman"/>
                          <a:ea typeface="Calibri"/>
                        </a:rPr>
                        <a:t>Subnet Mask</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255.255.192.0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11111111</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11111111</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a:t>
                      </a:r>
                      <a:r>
                        <a:rPr lang="en-NZ" sz="800" dirty="0">
                          <a:effectLst/>
                          <a:latin typeface="Times New Roman"/>
                          <a:ea typeface="Calibri"/>
                        </a:rPr>
                        <a:t>000000</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00000000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192">
                <a:tc gridSpan="2">
                  <a:txBody>
                    <a:bodyPr/>
                    <a:lstStyle/>
                    <a:p>
                      <a:pPr algn="r">
                        <a:spcAft>
                          <a:spcPts val="0"/>
                        </a:spcAft>
                      </a:pPr>
                      <a:r>
                        <a:rPr lang="en-NZ" sz="800" b="1">
                          <a:effectLst/>
                          <a:latin typeface="Times New Roman"/>
                          <a:ea typeface="Calibri"/>
                        </a:rPr>
                        <a:t>Result After AND</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solidFill>
                            <a:srgbClr val="FF0000"/>
                          </a:solidFill>
                          <a:effectLst/>
                          <a:latin typeface="Times New Roman"/>
                          <a:ea typeface="Calibri"/>
                        </a:rPr>
                        <a:t>00001010</a:t>
                      </a:r>
                      <a:endParaRPr lang="en-US" sz="80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00001010</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01</a:t>
                      </a:r>
                      <a:r>
                        <a:rPr lang="en-NZ" sz="800" dirty="0">
                          <a:effectLst/>
                          <a:latin typeface="Times New Roman"/>
                          <a:ea typeface="Calibri"/>
                        </a:rPr>
                        <a:t>000000</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00000000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192">
                <a:tc gridSpan="2">
                  <a:txBody>
                    <a:bodyPr/>
                    <a:lstStyle/>
                    <a:p>
                      <a:pPr algn="r">
                        <a:spcAft>
                          <a:spcPts val="0"/>
                        </a:spcAft>
                      </a:pPr>
                      <a:r>
                        <a:rPr lang="en-NZ" sz="800" b="1">
                          <a:effectLst/>
                          <a:latin typeface="Times New Roman"/>
                          <a:ea typeface="Calibri"/>
                        </a:rPr>
                        <a:t>IP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effectLst/>
                          <a:latin typeface="Times New Roman"/>
                          <a:ea typeface="Calibri"/>
                        </a:rPr>
                        <a:t>10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10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64</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r>
              <a:tr h="150192">
                <a:tc>
                  <a:txBody>
                    <a:bodyPr/>
                    <a:lstStyle/>
                    <a:p>
                      <a:pPr>
                        <a:spcAft>
                          <a:spcPts val="0"/>
                        </a:spcAft>
                      </a:pPr>
                      <a:r>
                        <a:rPr lang="en-NZ" sz="800" b="1">
                          <a:effectLst/>
                          <a:latin typeface="Times New Roman"/>
                          <a:ea typeface="Calibri"/>
                        </a:rPr>
                        <a:t>IP Host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192.168.5.12</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11000000</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10101000</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00000101</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0</a:t>
                      </a:r>
                      <a:r>
                        <a:rPr lang="en-NZ" sz="800" dirty="0">
                          <a:effectLst/>
                          <a:latin typeface="Times New Roman"/>
                          <a:ea typeface="Calibri"/>
                        </a:rPr>
                        <a:t>0001100</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192">
                <a:tc>
                  <a:txBody>
                    <a:bodyPr/>
                    <a:lstStyle/>
                    <a:p>
                      <a:pPr>
                        <a:spcAft>
                          <a:spcPts val="0"/>
                        </a:spcAft>
                      </a:pPr>
                      <a:r>
                        <a:rPr lang="en-NZ" sz="800" b="1">
                          <a:effectLst/>
                          <a:latin typeface="Times New Roman"/>
                          <a:ea typeface="Calibri"/>
                        </a:rPr>
                        <a:t>Subnet Mask</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255.255.255.128</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solidFill>
                            <a:srgbClr val="FF0000"/>
                          </a:solidFill>
                          <a:effectLst/>
                          <a:latin typeface="Times New Roman"/>
                          <a:ea typeface="Calibri"/>
                        </a:rPr>
                        <a:t>11111111</a:t>
                      </a:r>
                      <a:endParaRPr lang="en-US" sz="80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11111111</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11111111</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a:t>
                      </a:r>
                      <a:r>
                        <a:rPr lang="en-NZ" sz="800" dirty="0">
                          <a:effectLst/>
                          <a:latin typeface="Times New Roman"/>
                          <a:ea typeface="Calibri"/>
                        </a:rPr>
                        <a:t>0000000</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192">
                <a:tc gridSpan="2">
                  <a:txBody>
                    <a:bodyPr/>
                    <a:lstStyle/>
                    <a:p>
                      <a:pPr algn="r">
                        <a:spcAft>
                          <a:spcPts val="0"/>
                        </a:spcAft>
                      </a:pPr>
                      <a:r>
                        <a:rPr lang="en-NZ" sz="800" b="1">
                          <a:effectLst/>
                          <a:latin typeface="Times New Roman"/>
                          <a:ea typeface="Calibri"/>
                        </a:rPr>
                        <a:t>Result After AND</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solidFill>
                            <a:srgbClr val="FF0000"/>
                          </a:solidFill>
                          <a:effectLst/>
                          <a:latin typeface="Times New Roman"/>
                          <a:ea typeface="Calibri"/>
                        </a:rPr>
                        <a:t>11000000</a:t>
                      </a:r>
                      <a:endParaRPr lang="en-US" sz="80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solidFill>
                            <a:srgbClr val="FF0000"/>
                          </a:solidFill>
                          <a:effectLst/>
                          <a:latin typeface="Times New Roman"/>
                          <a:ea typeface="Calibri"/>
                        </a:rPr>
                        <a:t>10101000</a:t>
                      </a:r>
                      <a:endParaRPr lang="en-US" sz="80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00000101</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0</a:t>
                      </a:r>
                      <a:r>
                        <a:rPr lang="en-NZ" sz="800" dirty="0">
                          <a:effectLst/>
                          <a:latin typeface="Times New Roman"/>
                          <a:ea typeface="Calibri"/>
                        </a:rPr>
                        <a:t>0000000</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192">
                <a:tc gridSpan="2">
                  <a:txBody>
                    <a:bodyPr/>
                    <a:lstStyle/>
                    <a:p>
                      <a:pPr algn="r">
                        <a:spcAft>
                          <a:spcPts val="0"/>
                        </a:spcAft>
                      </a:pPr>
                      <a:r>
                        <a:rPr lang="en-NZ" sz="800" b="1">
                          <a:effectLst/>
                          <a:latin typeface="Times New Roman"/>
                          <a:ea typeface="Calibri"/>
                        </a:rPr>
                        <a:t>IP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effectLst/>
                          <a:latin typeface="Times New Roman"/>
                          <a:ea typeface="Calibri"/>
                        </a:rPr>
                        <a:t>192</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168</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5</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dirty="0">
                          <a:effectLst/>
                          <a:latin typeface="Times New Roman"/>
                          <a:ea typeface="Calibri"/>
                        </a:rPr>
                        <a:t>0</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r>
              <a:tr h="150192">
                <a:tc>
                  <a:txBody>
                    <a:bodyPr/>
                    <a:lstStyle/>
                    <a:p>
                      <a:pPr>
                        <a:spcAft>
                          <a:spcPts val="0"/>
                        </a:spcAft>
                      </a:pPr>
                      <a:r>
                        <a:rPr lang="en-NZ" sz="800" b="1">
                          <a:effectLst/>
                          <a:latin typeface="Times New Roman"/>
                          <a:ea typeface="Calibri"/>
                        </a:rPr>
                        <a:t>IP Host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192.168.0.1</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11000000</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10101000</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00000000</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0000</a:t>
                      </a:r>
                      <a:r>
                        <a:rPr lang="en-NZ" sz="800" dirty="0">
                          <a:effectLst/>
                          <a:latin typeface="Times New Roman"/>
                          <a:ea typeface="Calibri"/>
                        </a:rPr>
                        <a:t>0001</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192">
                <a:tc>
                  <a:txBody>
                    <a:bodyPr/>
                    <a:lstStyle/>
                    <a:p>
                      <a:pPr>
                        <a:spcAft>
                          <a:spcPts val="0"/>
                        </a:spcAft>
                      </a:pPr>
                      <a:r>
                        <a:rPr lang="en-NZ" sz="800" b="1">
                          <a:effectLst/>
                          <a:latin typeface="Times New Roman"/>
                          <a:ea typeface="Calibri"/>
                        </a:rPr>
                        <a:t>Subnet Mask</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255.255.255.240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solidFill>
                            <a:srgbClr val="FF0000"/>
                          </a:solidFill>
                          <a:effectLst/>
                          <a:latin typeface="Times New Roman"/>
                          <a:ea typeface="Calibri"/>
                        </a:rPr>
                        <a:t>11111111</a:t>
                      </a:r>
                      <a:endParaRPr lang="en-US" sz="80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solidFill>
                            <a:srgbClr val="FF0000"/>
                          </a:solidFill>
                          <a:effectLst/>
                          <a:latin typeface="Times New Roman"/>
                          <a:ea typeface="Calibri"/>
                        </a:rPr>
                        <a:t>11111111</a:t>
                      </a:r>
                      <a:endParaRPr lang="en-US" sz="80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11111111</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1111</a:t>
                      </a:r>
                      <a:r>
                        <a:rPr lang="en-NZ" sz="800" dirty="0">
                          <a:effectLst/>
                          <a:latin typeface="Times New Roman"/>
                          <a:ea typeface="Calibri"/>
                        </a:rPr>
                        <a:t>0000</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192">
                <a:tc gridSpan="2">
                  <a:txBody>
                    <a:bodyPr/>
                    <a:lstStyle/>
                    <a:p>
                      <a:pPr algn="r">
                        <a:spcAft>
                          <a:spcPts val="0"/>
                        </a:spcAft>
                      </a:pPr>
                      <a:r>
                        <a:rPr lang="en-NZ" sz="800" b="1">
                          <a:effectLst/>
                          <a:latin typeface="Times New Roman"/>
                          <a:ea typeface="Calibri"/>
                        </a:rPr>
                        <a:t>Result After AND</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solidFill>
                            <a:srgbClr val="FF0000"/>
                          </a:solidFill>
                          <a:effectLst/>
                          <a:latin typeface="Times New Roman"/>
                          <a:ea typeface="Calibri"/>
                        </a:rPr>
                        <a:t>11000000</a:t>
                      </a:r>
                      <a:endParaRPr lang="en-US" sz="80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solidFill>
                            <a:srgbClr val="FF0000"/>
                          </a:solidFill>
                          <a:effectLst/>
                          <a:latin typeface="Times New Roman"/>
                          <a:ea typeface="Calibri"/>
                        </a:rPr>
                        <a:t>10101000</a:t>
                      </a:r>
                      <a:endParaRPr lang="en-US" sz="80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00000000</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0000</a:t>
                      </a:r>
                      <a:r>
                        <a:rPr lang="en-NZ" sz="800" dirty="0">
                          <a:effectLst/>
                          <a:latin typeface="Times New Roman"/>
                          <a:ea typeface="Calibri"/>
                        </a:rPr>
                        <a:t>0000</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192">
                <a:tc gridSpan="2">
                  <a:txBody>
                    <a:bodyPr/>
                    <a:lstStyle/>
                    <a:p>
                      <a:pPr algn="r">
                        <a:spcAft>
                          <a:spcPts val="0"/>
                        </a:spcAft>
                      </a:pPr>
                      <a:r>
                        <a:rPr lang="en-NZ" sz="800" b="1">
                          <a:effectLst/>
                          <a:latin typeface="Times New Roman"/>
                          <a:ea typeface="Calibri"/>
                        </a:rPr>
                        <a:t>IP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solidFill>
                            <a:schemeClr val="tx1"/>
                          </a:solidFill>
                          <a:effectLst/>
                          <a:latin typeface="Times New Roman"/>
                          <a:ea typeface="Calibri"/>
                        </a:rPr>
                        <a:t>192</a:t>
                      </a:r>
                      <a:endParaRPr lang="en-US" sz="800">
                        <a:solidFill>
                          <a:schemeClr val="tx1"/>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solidFill>
                            <a:schemeClr val="tx1"/>
                          </a:solidFill>
                          <a:effectLst/>
                          <a:latin typeface="Times New Roman"/>
                          <a:ea typeface="Calibri"/>
                        </a:rPr>
                        <a:t>168</a:t>
                      </a:r>
                      <a:endParaRPr lang="en-US" sz="800">
                        <a:solidFill>
                          <a:schemeClr val="tx1"/>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dirty="0">
                          <a:solidFill>
                            <a:schemeClr val="tx1"/>
                          </a:solidFill>
                          <a:effectLst/>
                          <a:latin typeface="Times New Roman"/>
                          <a:ea typeface="Calibri"/>
                        </a:rPr>
                        <a:t>0</a:t>
                      </a:r>
                      <a:endParaRPr lang="en-US" sz="800" dirty="0">
                        <a:solidFill>
                          <a:schemeClr val="tx1"/>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dirty="0">
                          <a:effectLst/>
                          <a:latin typeface="Times New Roman"/>
                          <a:ea typeface="Calibri"/>
                        </a:rPr>
                        <a:t>0</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r>
              <a:tr h="150192">
                <a:tc>
                  <a:txBody>
                    <a:bodyPr/>
                    <a:lstStyle/>
                    <a:p>
                      <a:pPr>
                        <a:spcAft>
                          <a:spcPts val="0"/>
                        </a:spcAft>
                      </a:pPr>
                      <a:r>
                        <a:rPr lang="en-NZ" sz="800" b="1">
                          <a:effectLst/>
                          <a:latin typeface="Times New Roman"/>
                          <a:ea typeface="Calibri"/>
                        </a:rPr>
                        <a:t>IP Host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10.200.100.90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00001010</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110</a:t>
                      </a:r>
                      <a:r>
                        <a:rPr lang="en-NZ" sz="800" dirty="0">
                          <a:effectLst/>
                          <a:latin typeface="Times New Roman"/>
                          <a:ea typeface="Calibri"/>
                        </a:rPr>
                        <a:t>01000</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01100100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01011010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192">
                <a:tc>
                  <a:txBody>
                    <a:bodyPr/>
                    <a:lstStyle/>
                    <a:p>
                      <a:pPr>
                        <a:spcAft>
                          <a:spcPts val="0"/>
                        </a:spcAft>
                      </a:pPr>
                      <a:r>
                        <a:rPr lang="en-NZ" sz="800" b="1">
                          <a:effectLst/>
                          <a:latin typeface="Times New Roman"/>
                          <a:ea typeface="Calibri"/>
                        </a:rPr>
                        <a:t>Subnet Mask</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255.224.0.0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11111111</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111</a:t>
                      </a:r>
                      <a:r>
                        <a:rPr lang="en-NZ" sz="800" dirty="0">
                          <a:effectLst/>
                          <a:latin typeface="Times New Roman"/>
                          <a:ea typeface="Calibri"/>
                        </a:rPr>
                        <a:t>00000</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effectLst/>
                          <a:latin typeface="Times New Roman"/>
                          <a:ea typeface="Calibri"/>
                        </a:rPr>
                        <a:t>00000000</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00000000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192">
                <a:tc gridSpan="2">
                  <a:txBody>
                    <a:bodyPr/>
                    <a:lstStyle/>
                    <a:p>
                      <a:pPr algn="r">
                        <a:spcAft>
                          <a:spcPts val="0"/>
                        </a:spcAft>
                      </a:pPr>
                      <a:r>
                        <a:rPr lang="en-NZ" sz="800" b="1">
                          <a:effectLst/>
                          <a:latin typeface="Times New Roman"/>
                          <a:ea typeface="Calibri"/>
                        </a:rPr>
                        <a:t>Result After AND</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dirty="0">
                          <a:solidFill>
                            <a:srgbClr val="FF0000"/>
                          </a:solidFill>
                          <a:effectLst/>
                          <a:latin typeface="Times New Roman"/>
                          <a:ea typeface="Calibri"/>
                        </a:rPr>
                        <a:t>00001010</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110</a:t>
                      </a:r>
                      <a:r>
                        <a:rPr lang="en-NZ" sz="800" dirty="0">
                          <a:effectLst/>
                          <a:latin typeface="Times New Roman"/>
                          <a:ea typeface="Calibri"/>
                        </a:rPr>
                        <a:t>00000</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00000000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00000000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192">
                <a:tc gridSpan="2">
                  <a:txBody>
                    <a:bodyPr/>
                    <a:lstStyle/>
                    <a:p>
                      <a:pPr algn="r">
                        <a:spcAft>
                          <a:spcPts val="0"/>
                        </a:spcAft>
                      </a:pPr>
                      <a:r>
                        <a:rPr lang="en-NZ" sz="800" b="1">
                          <a:effectLst/>
                          <a:latin typeface="Times New Roman"/>
                          <a:ea typeface="Calibri"/>
                        </a:rPr>
                        <a:t>IP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effectLst/>
                          <a:latin typeface="Times New Roman"/>
                          <a:ea typeface="Calibri"/>
                        </a:rPr>
                        <a:t>10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dirty="0">
                          <a:effectLst/>
                          <a:latin typeface="Times New Roman"/>
                          <a:ea typeface="Calibri"/>
                        </a:rPr>
                        <a:t>192</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r>
              <a:tr h="150192">
                <a:tc>
                  <a:txBody>
                    <a:bodyPr/>
                    <a:lstStyle/>
                    <a:p>
                      <a:pPr>
                        <a:spcAft>
                          <a:spcPts val="0"/>
                        </a:spcAft>
                      </a:pPr>
                      <a:r>
                        <a:rPr lang="en-NZ" sz="800" b="1">
                          <a:effectLst/>
                          <a:latin typeface="Times New Roman"/>
                          <a:ea typeface="Calibri"/>
                        </a:rPr>
                        <a:t>IP Host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10.80.90.100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00001010</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01010000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01011010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01100100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192">
                <a:tc>
                  <a:txBody>
                    <a:bodyPr/>
                    <a:lstStyle/>
                    <a:p>
                      <a:pPr>
                        <a:spcAft>
                          <a:spcPts val="0"/>
                        </a:spcAft>
                      </a:pPr>
                      <a:r>
                        <a:rPr lang="en-NZ" sz="800" b="1">
                          <a:effectLst/>
                          <a:latin typeface="Times New Roman"/>
                          <a:ea typeface="Calibri"/>
                        </a:rPr>
                        <a:t>Subnet Mask</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255.0.0.0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11111111</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00000000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00000000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00000000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192">
                <a:tc gridSpan="2">
                  <a:txBody>
                    <a:bodyPr/>
                    <a:lstStyle/>
                    <a:p>
                      <a:pPr algn="r">
                        <a:spcAft>
                          <a:spcPts val="0"/>
                        </a:spcAft>
                      </a:pPr>
                      <a:r>
                        <a:rPr lang="en-NZ" sz="800" b="1">
                          <a:effectLst/>
                          <a:latin typeface="Times New Roman"/>
                          <a:ea typeface="Calibri"/>
                        </a:rPr>
                        <a:t>Result After AND</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dirty="0">
                          <a:solidFill>
                            <a:srgbClr val="FF0000"/>
                          </a:solidFill>
                          <a:effectLst/>
                          <a:latin typeface="Times New Roman"/>
                          <a:ea typeface="Calibri"/>
                        </a:rPr>
                        <a:t>00001010</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effectLst/>
                          <a:latin typeface="Times New Roman"/>
                          <a:ea typeface="Calibri"/>
                        </a:rPr>
                        <a:t>00000000</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00000000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00000000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192">
                <a:tc gridSpan="2">
                  <a:txBody>
                    <a:bodyPr/>
                    <a:lstStyle/>
                    <a:p>
                      <a:pPr algn="r">
                        <a:spcAft>
                          <a:spcPts val="0"/>
                        </a:spcAft>
                      </a:pPr>
                      <a:r>
                        <a:rPr lang="en-NZ" sz="800" b="1">
                          <a:effectLst/>
                          <a:latin typeface="Times New Roman"/>
                          <a:ea typeface="Calibri"/>
                        </a:rPr>
                        <a:t>IP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dirty="0">
                          <a:solidFill>
                            <a:srgbClr val="FF0000"/>
                          </a:solidFill>
                          <a:effectLst/>
                          <a:latin typeface="Times New Roman"/>
                          <a:ea typeface="Calibri"/>
                        </a:rPr>
                        <a:t>10</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r>
              <a:tr h="150192">
                <a:tc>
                  <a:txBody>
                    <a:bodyPr/>
                    <a:lstStyle/>
                    <a:p>
                      <a:pPr>
                        <a:spcAft>
                          <a:spcPts val="0"/>
                        </a:spcAft>
                      </a:pPr>
                      <a:r>
                        <a:rPr lang="en-NZ" sz="800" b="1">
                          <a:effectLst/>
                          <a:latin typeface="Times New Roman"/>
                          <a:ea typeface="Calibri"/>
                        </a:rPr>
                        <a:t>IP Host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192.168.254.254</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11000000</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solidFill>
                            <a:srgbClr val="FF0000"/>
                          </a:solidFill>
                          <a:effectLst/>
                          <a:latin typeface="Times New Roman"/>
                          <a:ea typeface="Calibri"/>
                        </a:rPr>
                        <a:t>10101000</a:t>
                      </a:r>
                      <a:endParaRPr lang="en-US" sz="80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solidFill>
                            <a:srgbClr val="FF0000"/>
                          </a:solidFill>
                          <a:effectLst/>
                          <a:latin typeface="Times New Roman"/>
                          <a:ea typeface="Calibri"/>
                        </a:rPr>
                        <a:t>11111110</a:t>
                      </a:r>
                      <a:endParaRPr lang="en-US" sz="80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11111110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192">
                <a:tc>
                  <a:txBody>
                    <a:bodyPr/>
                    <a:lstStyle/>
                    <a:p>
                      <a:pPr>
                        <a:spcAft>
                          <a:spcPts val="0"/>
                        </a:spcAft>
                      </a:pPr>
                      <a:r>
                        <a:rPr lang="en-NZ" sz="800" b="1">
                          <a:effectLst/>
                          <a:latin typeface="Times New Roman"/>
                          <a:ea typeface="Calibri"/>
                        </a:rPr>
                        <a:t>Subnet Mask</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255.255.255.0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solidFill>
                            <a:srgbClr val="FF0000"/>
                          </a:solidFill>
                          <a:effectLst/>
                          <a:latin typeface="Times New Roman"/>
                          <a:ea typeface="Calibri"/>
                        </a:rPr>
                        <a:t>11111111</a:t>
                      </a:r>
                      <a:endParaRPr lang="en-US" sz="80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11111111</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11111111</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00000000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192">
                <a:tc gridSpan="2">
                  <a:txBody>
                    <a:bodyPr/>
                    <a:lstStyle/>
                    <a:p>
                      <a:pPr algn="r">
                        <a:spcAft>
                          <a:spcPts val="0"/>
                        </a:spcAft>
                      </a:pPr>
                      <a:r>
                        <a:rPr lang="en-NZ" sz="800" b="1">
                          <a:effectLst/>
                          <a:latin typeface="Times New Roman"/>
                          <a:ea typeface="Calibri"/>
                        </a:rPr>
                        <a:t>Result After AND</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solidFill>
                            <a:srgbClr val="FF0000"/>
                          </a:solidFill>
                          <a:effectLst/>
                          <a:latin typeface="Times New Roman"/>
                          <a:ea typeface="Calibri"/>
                        </a:rPr>
                        <a:t>11000000</a:t>
                      </a:r>
                      <a:endParaRPr lang="en-US" sz="80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10101000</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11111110</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00000000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192">
                <a:tc gridSpan="2">
                  <a:txBody>
                    <a:bodyPr/>
                    <a:lstStyle/>
                    <a:p>
                      <a:pPr algn="r">
                        <a:spcAft>
                          <a:spcPts val="0"/>
                        </a:spcAft>
                      </a:pPr>
                      <a:r>
                        <a:rPr lang="en-NZ" sz="800" b="1">
                          <a:effectLst/>
                          <a:latin typeface="Times New Roman"/>
                          <a:ea typeface="Calibri"/>
                        </a:rPr>
                        <a:t>IP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solidFill>
                            <a:srgbClr val="FF0000"/>
                          </a:solidFill>
                          <a:effectLst/>
                          <a:latin typeface="Times New Roman"/>
                          <a:ea typeface="Calibri"/>
                        </a:rPr>
                        <a:t>192</a:t>
                      </a:r>
                      <a:endParaRPr lang="en-US" sz="80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solidFill>
                            <a:srgbClr val="FF0000"/>
                          </a:solidFill>
                          <a:effectLst/>
                          <a:latin typeface="Times New Roman"/>
                          <a:ea typeface="Calibri"/>
                        </a:rPr>
                        <a:t>168</a:t>
                      </a:r>
                      <a:endParaRPr lang="en-US" sz="80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254</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r>
              <a:tr h="150192">
                <a:tc>
                  <a:txBody>
                    <a:bodyPr/>
                    <a:lstStyle/>
                    <a:p>
                      <a:pPr>
                        <a:spcAft>
                          <a:spcPts val="0"/>
                        </a:spcAft>
                      </a:pPr>
                      <a:r>
                        <a:rPr lang="en-NZ" sz="800" b="1">
                          <a:effectLst/>
                          <a:latin typeface="Times New Roman"/>
                          <a:ea typeface="Calibri"/>
                        </a:rPr>
                        <a:t>IP Host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10.200.220.240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00001010</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11001000</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1101110</a:t>
                      </a:r>
                      <a:r>
                        <a:rPr lang="en-NZ" sz="800" dirty="0">
                          <a:effectLst/>
                          <a:latin typeface="Times New Roman"/>
                          <a:ea typeface="Calibri"/>
                        </a:rPr>
                        <a:t>0</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11110000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192">
                <a:tc>
                  <a:txBody>
                    <a:bodyPr/>
                    <a:lstStyle/>
                    <a:p>
                      <a:pPr>
                        <a:spcAft>
                          <a:spcPts val="0"/>
                        </a:spcAft>
                      </a:pPr>
                      <a:r>
                        <a:rPr lang="en-NZ" sz="800" b="1">
                          <a:effectLst/>
                          <a:latin typeface="Times New Roman"/>
                          <a:ea typeface="Calibri"/>
                        </a:rPr>
                        <a:t>Subnet Mask</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NZ" sz="800">
                          <a:effectLst/>
                          <a:latin typeface="Times New Roman"/>
                          <a:ea typeface="Calibri"/>
                        </a:rPr>
                        <a:t>255.255.254.0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solidFill>
                            <a:srgbClr val="FF0000"/>
                          </a:solidFill>
                          <a:effectLst/>
                          <a:latin typeface="Times New Roman"/>
                          <a:ea typeface="Calibri"/>
                        </a:rPr>
                        <a:t>11111111</a:t>
                      </a:r>
                      <a:endParaRPr lang="en-US" sz="80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11111111</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1111111</a:t>
                      </a:r>
                      <a:r>
                        <a:rPr lang="en-NZ" sz="800" dirty="0">
                          <a:effectLst/>
                          <a:latin typeface="Times New Roman"/>
                          <a:ea typeface="Calibri"/>
                        </a:rPr>
                        <a:t>0</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00000000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192">
                <a:tc gridSpan="2">
                  <a:txBody>
                    <a:bodyPr/>
                    <a:lstStyle/>
                    <a:p>
                      <a:pPr algn="r">
                        <a:spcAft>
                          <a:spcPts val="0"/>
                        </a:spcAft>
                      </a:pPr>
                      <a:r>
                        <a:rPr lang="en-NZ" sz="800" b="1">
                          <a:effectLst/>
                          <a:latin typeface="Times New Roman"/>
                          <a:ea typeface="Calibri"/>
                        </a:rPr>
                        <a:t>Result After AND</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solidFill>
                            <a:srgbClr val="FF0000"/>
                          </a:solidFill>
                          <a:effectLst/>
                          <a:latin typeface="Times New Roman"/>
                          <a:ea typeface="Calibri"/>
                        </a:rPr>
                        <a:t>00001010</a:t>
                      </a:r>
                      <a:endParaRPr lang="en-US" sz="80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11001000</a:t>
                      </a:r>
                      <a:endParaRPr lang="en-US" sz="800" dirty="0">
                        <a:solidFill>
                          <a:srgbClr val="FF0000"/>
                        </a:solidFill>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dirty="0">
                          <a:solidFill>
                            <a:srgbClr val="FF0000"/>
                          </a:solidFill>
                          <a:effectLst/>
                          <a:latin typeface="Times New Roman"/>
                          <a:ea typeface="Calibri"/>
                        </a:rPr>
                        <a:t>1101110</a:t>
                      </a:r>
                      <a:r>
                        <a:rPr lang="en-NZ" sz="800" dirty="0">
                          <a:effectLst/>
                          <a:latin typeface="Times New Roman"/>
                          <a:ea typeface="Calibri"/>
                        </a:rPr>
                        <a:t>0</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00000000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192">
                <a:tc gridSpan="2">
                  <a:txBody>
                    <a:bodyPr/>
                    <a:lstStyle/>
                    <a:p>
                      <a:pPr algn="r">
                        <a:spcAft>
                          <a:spcPts val="0"/>
                        </a:spcAft>
                      </a:pPr>
                      <a:r>
                        <a:rPr lang="en-NZ" sz="800" b="1">
                          <a:effectLst/>
                          <a:latin typeface="Times New Roman"/>
                          <a:ea typeface="Calibri"/>
                        </a:rPr>
                        <a:t>IP Address</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solidFill>
                      <a:srgbClr val="D9D9D9"/>
                    </a:solidFill>
                  </a:tcPr>
                </a:tc>
                <a:tc hMerge="1">
                  <a:txBody>
                    <a:bodyPr/>
                    <a:lstStyle/>
                    <a:p>
                      <a:endParaRPr lang="en-US"/>
                    </a:p>
                  </a:txBody>
                  <a:tcPr/>
                </a:tc>
                <a:tc>
                  <a:txBody>
                    <a:bodyPr/>
                    <a:lstStyle/>
                    <a:p>
                      <a:pPr>
                        <a:spcAft>
                          <a:spcPts val="0"/>
                        </a:spcAft>
                      </a:pPr>
                      <a:r>
                        <a:rPr lang="en-NZ" sz="800">
                          <a:effectLst/>
                          <a:latin typeface="Times New Roman"/>
                          <a:ea typeface="Calibri"/>
                        </a:rPr>
                        <a:t>10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200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a:effectLst/>
                          <a:latin typeface="Times New Roman"/>
                          <a:ea typeface="Calibri"/>
                        </a:rPr>
                        <a:t>220</a:t>
                      </a:r>
                      <a:endParaRPr lang="en-US" sz="80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spcAft>
                          <a:spcPts val="0"/>
                        </a:spcAft>
                      </a:pPr>
                      <a:r>
                        <a:rPr lang="en-NZ" sz="800" dirty="0">
                          <a:effectLst/>
                          <a:latin typeface="Times New Roman"/>
                          <a:ea typeface="Calibri"/>
                        </a:rPr>
                        <a:t>0</a:t>
                      </a:r>
                      <a:endParaRPr lang="en-US" sz="800" dirty="0">
                        <a:effectLst/>
                        <a:latin typeface="Times New Roman"/>
                        <a:ea typeface="Calibri"/>
                      </a:endParaRPr>
                    </a:p>
                  </a:txBody>
                  <a:tcPr marL="45871" marR="458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267680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What Can We Conclude?</a:t>
            </a:r>
            <a:endParaRPr lang="en-US"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1560" y="1268760"/>
            <a:ext cx="5010646" cy="3219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07504" y="4488313"/>
            <a:ext cx="8280920" cy="2215991"/>
          </a:xfrm>
          <a:prstGeom prst="rect">
            <a:avLst/>
          </a:prstGeom>
          <a:noFill/>
        </p:spPr>
        <p:txBody>
          <a:bodyPr wrap="square" rtlCol="0">
            <a:spAutoFit/>
          </a:bodyPr>
          <a:lstStyle/>
          <a:p>
            <a:pPr marL="342900" indent="-342900">
              <a:spcAft>
                <a:spcPts val="600"/>
              </a:spcAft>
              <a:buFont typeface="+mj-lt"/>
              <a:buAutoNum type="arabicPeriod"/>
            </a:pPr>
            <a:r>
              <a:rPr lang="en-NZ" sz="1600" dirty="0" smtClean="0"/>
              <a:t>When we apply a bitwise AND to an IP Host Address and it’s Subnet Mask, we in effect keep all the binary bits in the network portion, but turn all the bits in the host portion to 0’s.  This defines the network address space that we belong to, in other words the network address.  We can break this down further by saying:-</a:t>
            </a:r>
          </a:p>
          <a:p>
            <a:pPr marL="712788" lvl="1" indent="-357188">
              <a:spcAft>
                <a:spcPts val="600"/>
              </a:spcAft>
              <a:buFont typeface="+mj-lt"/>
              <a:buAutoNum type="alphaLcParenR"/>
            </a:pPr>
            <a:r>
              <a:rPr lang="en-NZ" sz="1600" dirty="0" smtClean="0"/>
              <a:t>We are not allowed to touch/change any bits that are in the network portion of an IP Address</a:t>
            </a:r>
          </a:p>
          <a:p>
            <a:pPr marL="712788" lvl="1" indent="-357188">
              <a:spcAft>
                <a:spcPts val="600"/>
              </a:spcAft>
              <a:buFont typeface="+mj-lt"/>
              <a:buAutoNum type="alphaLcParenR"/>
            </a:pPr>
            <a:r>
              <a:rPr lang="en-NZ" sz="1600" dirty="0" smtClean="0"/>
              <a:t>In order to find the Network that a host belongs to, we simply change all the host bits to 0’s</a:t>
            </a:r>
            <a:endParaRPr lang="en-US" sz="1600" dirty="0"/>
          </a:p>
        </p:txBody>
      </p:sp>
    </p:spTree>
    <p:extLst>
      <p:ext uri="{BB962C8B-B14F-4D97-AF65-F5344CB8AC3E}">
        <p14:creationId xmlns:p14="http://schemas.microsoft.com/office/powerpoint/2010/main" val="1502742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52</TotalTime>
  <Words>470</Words>
  <Application>Microsoft Office PowerPoint</Application>
  <PresentationFormat>On-screen Show (4:3)</PresentationFormat>
  <Paragraphs>371</Paragraphs>
  <Slides>3</Slides>
  <Notes>0</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Adjacency</vt:lpstr>
      <vt:lpstr>IP Addresses and Subnet Masks</vt:lpstr>
      <vt:lpstr>Exercise Review</vt:lpstr>
      <vt:lpstr>What Can We Conclude?</vt:lpstr>
    </vt:vector>
  </TitlesOfParts>
  <Company>Otago Polytechnic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Otago Polytechnic</dc:creator>
  <cp:lastModifiedBy>Otago Polytechnic</cp:lastModifiedBy>
  <cp:revision>7</cp:revision>
  <dcterms:created xsi:type="dcterms:W3CDTF">2012-08-13T22:55:18Z</dcterms:created>
  <dcterms:modified xsi:type="dcterms:W3CDTF">2012-08-13T23:47:24Z</dcterms:modified>
</cp:coreProperties>
</file>