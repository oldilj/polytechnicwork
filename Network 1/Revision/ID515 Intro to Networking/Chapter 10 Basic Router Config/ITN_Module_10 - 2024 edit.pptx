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5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0"/>
  </p:notesMasterIdLst>
  <p:sldIdLst>
    <p:sldId id="876" r:id="rId2"/>
    <p:sldId id="759" r:id="rId3"/>
    <p:sldId id="1054" r:id="rId4"/>
    <p:sldId id="1091" r:id="rId5"/>
    <p:sldId id="1056" r:id="rId6"/>
    <p:sldId id="1058" r:id="rId7"/>
    <p:sldId id="1092" r:id="rId8"/>
    <p:sldId id="1093" r:id="rId9"/>
    <p:sldId id="1094" r:id="rId10"/>
    <p:sldId id="1061" r:id="rId11"/>
    <p:sldId id="1096" r:id="rId12"/>
    <p:sldId id="1097" r:id="rId13"/>
    <p:sldId id="1098" r:id="rId14"/>
    <p:sldId id="1099" r:id="rId15"/>
    <p:sldId id="1063" r:id="rId16"/>
    <p:sldId id="1064" r:id="rId17"/>
    <p:sldId id="1100" r:id="rId18"/>
    <p:sldId id="291" r:id="rId19"/>
  </p:sldIdLst>
  <p:sldSz cx="9144000" cy="5143500" type="screen16x9"/>
  <p:notesSz cx="6858000" cy="9144000"/>
  <p:custDataLst>
    <p:tags r:id="rId21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70340" autoAdjust="0"/>
  </p:normalViewPr>
  <p:slideViewPr>
    <p:cSldViewPr snapToGrid="0" showGuides="1">
      <p:cViewPr varScale="1">
        <p:scale>
          <a:sx n="106" d="100"/>
          <a:sy n="106" d="100"/>
        </p:scale>
        <p:origin x="1764" y="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4/9/2024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baseline="0" dirty="0"/>
              <a:t>Introduction to Networks v</a:t>
            </a:r>
            <a:r>
              <a:rPr lang="en-US" b="0" dirty="0"/>
              <a:t>7.0 (ITN)</a:t>
            </a:r>
          </a:p>
          <a:p>
            <a:r>
              <a:rPr lang="en-US" dirty="0"/>
              <a:t>Module 10: Basic Router Configuration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Configure Initial Router Settings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10.1.1 – Basic Routing Configuration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10.1.2 – Basic Routing Configuration Example</a:t>
            </a:r>
          </a:p>
          <a:p>
            <a:r>
              <a:rPr lang="en-US" dirty="0"/>
              <a:t>10.1.3 - Syntax Checker – Configure Initial Router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57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Configure Interfaces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10.2.1 – Configure Router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039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10.2.2 – Configure Router Interfaces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03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10.2.2 – Configure Router Interfaces Example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26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10.2.3 – Verify Interface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83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062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6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790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79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  <a:p>
            <a:r>
              <a:rPr lang="en-US" dirty="0"/>
              <a:t>10.2.5 Syntax Checker – Configure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074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Configure the Default Gateway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10.3.1 – Default Gateway on a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10.3.2 – Default Gateway on a Switch</a:t>
            </a:r>
          </a:p>
          <a:p>
            <a:r>
              <a:rPr lang="en-US" dirty="0"/>
              <a:t>10.3.3 – Syntax Checker – Configure the Default Gateway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103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31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10: Basic Router Configuration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10.1 Configure Initial Router Settings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Basic Router Configuration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67" y="855419"/>
            <a:ext cx="3265419" cy="3517076"/>
          </a:xfrm>
        </p:spPr>
        <p:txBody>
          <a:bodyPr/>
          <a:lstStyle/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Configure the device name.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privileged EXEC mode.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user EXEC mode.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remote Telnet / SSH access.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Encrypt all plaintext passwords.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 legal notification and save the configuration.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798284" y="855419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8BC38-AC68-4E30-A757-4BD5691E2755}"/>
              </a:ext>
            </a:extLst>
          </p:cNvPr>
          <p:cNvSpPr txBox="1"/>
          <p:nvPr/>
        </p:nvSpPr>
        <p:spPr>
          <a:xfrm>
            <a:off x="3798284" y="1256000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42215-AFFA-4B80-8518-0228983486B9}"/>
              </a:ext>
            </a:extLst>
          </p:cNvPr>
          <p:cNvSpPr txBox="1"/>
          <p:nvPr/>
        </p:nvSpPr>
        <p:spPr>
          <a:xfrm>
            <a:off x="3798284" y="1656581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CA5BC-EB52-4F1C-9E7F-0082B26780ED}"/>
              </a:ext>
            </a:extLst>
          </p:cNvPr>
          <p:cNvSpPr txBox="1"/>
          <p:nvPr/>
        </p:nvSpPr>
        <p:spPr>
          <a:xfrm>
            <a:off x="3798284" y="2413242"/>
            <a:ext cx="4926349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transport input {ssh | telnet}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7E84C-919C-4F49-B88F-D6C32C285E08}"/>
              </a:ext>
            </a:extLst>
          </p:cNvPr>
          <p:cNvSpPr txBox="1"/>
          <p:nvPr/>
        </p:nvSpPr>
        <p:spPr>
          <a:xfrm>
            <a:off x="3798284" y="3352472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A1035-A981-4284-92B3-0FB302E7DAF6}"/>
              </a:ext>
            </a:extLst>
          </p:cNvPr>
          <p:cNvSpPr txBox="1"/>
          <p:nvPr/>
        </p:nvSpPr>
        <p:spPr>
          <a:xfrm>
            <a:off x="3798284" y="3737302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</a:t>
            </a:r>
            <a:r>
              <a:rPr lang="en-US" sz="1200" b="1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message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end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Router# copy running-config startup-config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Basic Router Configuration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9"/>
            <a:ext cx="3135194" cy="611640"/>
          </a:xfrm>
        </p:spPr>
        <p:txBody>
          <a:bodyPr/>
          <a:lstStyle/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Commands for basic router configuration on R1.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Configuration is saved to NVRAM.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818374" y="855419"/>
            <a:ext cx="4893654" cy="360098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R1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class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 input ssh telnet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TEXT message. End with a new line and the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***********************************************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WARNING: Unauthorized access is prohibited!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running-config startup-config</a:t>
            </a:r>
          </a:p>
          <a:p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2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10.2 Configure Interfaces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8" y="806335"/>
            <a:ext cx="8455461" cy="590204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Configuring a router interface includes issuing the following commands: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E17110-55CB-48EF-A414-A5E9B161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972" y="1571547"/>
            <a:ext cx="6578056" cy="10156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type-and-number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description-text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 address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ipv4-address subnet-mask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ipv6-address/prefix-length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94B5632-F1A8-4FC1-AA4C-612027B45A69}"/>
              </a:ext>
            </a:extLst>
          </p:cNvPr>
          <p:cNvSpPr txBox="1">
            <a:spLocks/>
          </p:cNvSpPr>
          <p:nvPr/>
        </p:nvSpPr>
        <p:spPr>
          <a:xfrm>
            <a:off x="474661" y="2932333"/>
            <a:ext cx="8280057" cy="11756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It is a good practice to use the </a:t>
            </a:r>
            <a:r>
              <a:rPr lang="en-US" b="1" dirty="0">
                <a:solidFill>
                  <a:srgbClr val="000000"/>
                </a:solidFill>
              </a:rPr>
              <a:t>description</a:t>
            </a:r>
            <a:r>
              <a:rPr lang="en-US" dirty="0">
                <a:solidFill>
                  <a:srgbClr val="000000"/>
                </a:solidFill>
              </a:rPr>
              <a:t> command to add information about the network connected to the interface.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</a:t>
            </a:r>
            <a:r>
              <a:rPr lang="en-US" b="1" dirty="0">
                <a:solidFill>
                  <a:srgbClr val="000000"/>
                </a:solidFill>
              </a:rPr>
              <a:t>no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000000"/>
                </a:solidFill>
              </a:rPr>
              <a:t>shutdown </a:t>
            </a:r>
            <a:r>
              <a:rPr lang="en-US" dirty="0">
                <a:solidFill>
                  <a:srgbClr val="000000"/>
                </a:solidFill>
              </a:rPr>
              <a:t>command activates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252369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commands to configure interface G0/0/0 on R1 are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LAN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192.168.10.1 255.255.255.0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2001:db8:acad:10::1/64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01:43:53.435: %LINK-3-UPDOWN: Interface GigabitEthernet0/0/0, changed state to 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01:43:56.447: %LINK-3-UPDOWN: Interface GigabitEthernet0/0/0, changed state to up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01:43:57.447: %LINEPROTO-5-UPDOWN: Line protocol on Interface GigabitEthernet0/0/0,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18167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 Example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commands to configure interface G0/0/1 on R1 are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R2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209.165.200.225 255.255.255.252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2001:db8:feed:224::1/64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01:46:29.170: %LINK-3-UPDOWN: Interface GigabitEthernet0/0/1, changed state to 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01:46:32.171: %LINK-3-UPDOWN: Interface GigabitEthernet0/0/1, changed state to up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01:46:33.171: %LINEPROTO-5-UPDOWN: Line protocol on Interface GigabitEthernet0/0/1,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38276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Verify Interface Configuration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884985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To verify interface configuration use the </a:t>
            </a:r>
            <a:r>
              <a:rPr lang="en-US" b="1" dirty="0">
                <a:solidFill>
                  <a:srgbClr val="000000"/>
                </a:solidFill>
              </a:rPr>
              <a:t>show ip interface brief </a:t>
            </a:r>
            <a:r>
              <a:rPr lang="en-US" dirty="0">
                <a:solidFill>
                  <a:srgbClr val="000000"/>
                </a:solidFill>
              </a:rPr>
              <a:t>and </a:t>
            </a:r>
            <a:r>
              <a:rPr lang="en-US" b="1" dirty="0">
                <a:solidFill>
                  <a:srgbClr val="000000"/>
                </a:solidFill>
              </a:rPr>
              <a:t>show ipv6 interface brief </a:t>
            </a:r>
            <a:r>
              <a:rPr lang="en-US" dirty="0">
                <a:solidFill>
                  <a:srgbClr val="000000"/>
                </a:solidFill>
              </a:rPr>
              <a:t>commands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1721391" y="1940923"/>
            <a:ext cx="5701218" cy="7848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             IP-Address      OK? Method Status                Protocol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192.168.10.1   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209.165.200.225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unassigned      YES unset  administratively down down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205F4-B6F7-4CBB-9733-95EEED388FC7}"/>
              </a:ext>
            </a:extLst>
          </p:cNvPr>
          <p:cNvSpPr txBox="1"/>
          <p:nvPr/>
        </p:nvSpPr>
        <p:spPr>
          <a:xfrm>
            <a:off x="1721391" y="2907887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    [administratively down/down]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2534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The table summarizes show commands used to verify interface configuration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BB6E86-62EB-2348-9F73-08093BACD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366291"/>
              </p:ext>
            </p:extLst>
          </p:nvPr>
        </p:nvGraphicFramePr>
        <p:xfrm>
          <a:off x="675861" y="1419402"/>
          <a:ext cx="7893708" cy="292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215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837493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455550">
                <a:tc>
                  <a:txBody>
                    <a:bodyPr/>
                    <a:lstStyle/>
                    <a:p>
                      <a:r>
                        <a:rPr lang="en-US" sz="1400" dirty="0"/>
                        <a:t>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 brief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 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all interfaces, their IP addresses, and their current status.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route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contents of the IP routing tables stored in 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statistics for all interfaces on the device. Only displays the IPv4 addressing information.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IPv4 statistics for all interfaces on a router.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IPv6 statistics for all interfaces on a router.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52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the contents of the IP routing tables with the </a:t>
            </a:r>
            <a:r>
              <a:rPr lang="en-US" sz="1600" b="1" dirty="0">
                <a:solidFill>
                  <a:srgbClr val="000000"/>
                </a:solidFill>
              </a:rPr>
              <a:t>show ip route </a:t>
            </a:r>
            <a:r>
              <a:rPr lang="en-US" sz="1600" dirty="0">
                <a:solidFill>
                  <a:srgbClr val="000000"/>
                </a:solidFill>
              </a:rPr>
              <a:t>and </a:t>
            </a:r>
            <a:r>
              <a:rPr lang="en-US" sz="1600" b="1" dirty="0">
                <a:solidFill>
                  <a:srgbClr val="000000"/>
                </a:solidFill>
              </a:rPr>
              <a:t>show ipv6 route </a:t>
            </a:r>
            <a:r>
              <a:rPr lang="en-US" sz="1600" dirty="0">
                <a:solidFill>
                  <a:srgbClr val="000000"/>
                </a:solidFill>
              </a:rPr>
              <a:t>commands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01233" y="1475729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route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output omitted&gt;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not set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192.168.10.0/24 is variably subnetted, 2 subnets, 2 masks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    192.168.10.0/24 is directly connected, GigabitEthernet0/0/0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     192.168.10.1/32 is directly connected, GigabitEthernet0/0/0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209.165.200.0/24 is variably subnetted, 2 subnets, 2 masks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    209.165.200.224/30 is directly connected, GigabitEthernet0/0/1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     209.165.200.225/32 is directly connected, GigabitEthernet0/0/1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3035889"/>
            <a:ext cx="5701218" cy="189282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show ipv6 route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2001:DB8:ACAD:10::/64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directly connected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2001:DB8:ACAD:10::1/128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2001:DB8:FEED:224::/64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directly connected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2001:DB8:FEED:224::1/128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FF00::/8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Null0,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24688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statistics for all interfaces with the </a:t>
            </a:r>
            <a:r>
              <a:rPr lang="en-US" sz="1600" b="1" dirty="0">
                <a:solidFill>
                  <a:srgbClr val="000000"/>
                </a:solidFill>
              </a:rPr>
              <a:t>show interfaces </a:t>
            </a:r>
            <a:r>
              <a:rPr lang="en-US" sz="1600" dirty="0">
                <a:solidFill>
                  <a:srgbClr val="000000"/>
                </a:solidFill>
              </a:rPr>
              <a:t>command,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320968" y="890954"/>
            <a:ext cx="5419440" cy="369331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interfaces gig0/0/0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Hardware is ISR4321-2x1GE, address is a0e0.af0d.e140 (bia  a0e0.af0d.e140)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1500 bytes, BW 100000 Kbit/sec, DLY 100 usec,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reliability 255/255, txload 1/255, rxload 1/255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Encapsulation ARPA, loopback not set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Keepalive not supported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Full Duplex, 100Mbps, link type is auto, media type is RJ45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flow-control is off, input flow-control is off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ARP type: ARPA, ARP Timeout 04:00:00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input 00:00:01, output 00:00:35, output hang never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clearing of "show interface" counters never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Input queue: 0/375/0/0 (size/max/drops/flushes); Total output     drops: 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Queueing strategy: fifo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queue: 0/40 (size/max)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input rate 0 bits/sec, 0 packets/sec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output rate 0 bits/sec, 0 packets/sec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1180 packets input, 109486 bytes, 0 no buffer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Received 84 broadcasts (0 IP multicasts)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0 runts, 0 giants, 0 throttles 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42999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IPv4 statistics for router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 interface </a:t>
            </a:r>
            <a:r>
              <a:rPr lang="en-US" sz="1600" dirty="0">
                <a:solidFill>
                  <a:srgbClr val="000000"/>
                </a:solidFill>
              </a:rPr>
              <a:t>command,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93954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g0/0/0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Broadcast address is 255.255.255.255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 determined by setup command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Helper address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Directed broadcast forwarding is disabled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Common access list is not set 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access list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Common access list is not set 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 access list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Proxy ARP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Local Proxy ARP is disabled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Security level is default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Split horizon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always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always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mask replies are never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 fast switching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 Flow switching is disabled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71470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IPv6 statistics for router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ipv6 interface </a:t>
            </a:r>
            <a:r>
              <a:rPr lang="en-US" sz="1600" dirty="0">
                <a:solidFill>
                  <a:srgbClr val="000000"/>
                </a:solidFill>
              </a:rPr>
              <a:t>command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32398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g0/0/0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IPv6 is enabled, link-local address is FE80::868A:8DFF:FE44:49B0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 Virtual link-local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Global unicast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2001:DB8:ACAD:10::1, subnet is 2001:DB8:ACAD:10::/64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Joined group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FF02::1:FF00:1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FF02::1:FF44:49B0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error messages limited to one every 100 milliseconds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DAD is enabled, number of DAD attempts: 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reachable time is 30000 milliseconds (using 30000)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NS retransmit interval is 1000 milliseconds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16618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10.3 Configure the Default Gateway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br>
              <a:rPr lang="en-US" dirty="0"/>
            </a:br>
            <a:r>
              <a:rPr lang="en-US" sz="2400" dirty="0"/>
              <a:t>Default Gateway on a Host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3924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default gateway is used when a host sends a packet to a device on another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default gateway address is generally the router interface address attached to the local network of the host.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 reach PC3, PC1 addresses a packet with the IPv4 address of PC3, but forwards the packet to its default gateway, the G0/0/0 interface of R1.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866AA-E301-488D-96AD-D9CEE8D1E785}"/>
              </a:ext>
            </a:extLst>
          </p:cNvPr>
          <p:cNvSpPr txBox="1"/>
          <p:nvPr/>
        </p:nvSpPr>
        <p:spPr>
          <a:xfrm>
            <a:off x="4258469" y="3770924"/>
            <a:ext cx="4443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Note</a:t>
            </a:r>
            <a:r>
              <a:rPr lang="en-US" sz="1600" dirty="0">
                <a:solidFill>
                  <a:srgbClr val="000000"/>
                </a:solidFill>
              </a:rPr>
              <a:t>: The IP address of the host and the router interface must be in the same network.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4100A-4BDC-504D-85D6-01A2B41E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22" y="715554"/>
            <a:ext cx="3021496" cy="29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br>
              <a:rPr lang="en-US" dirty="0"/>
            </a:br>
            <a:r>
              <a:rPr lang="en-US" sz="2400" dirty="0"/>
              <a:t>Default Gateway on a Switch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1" y="890954"/>
            <a:ext cx="63788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 switch must have a default gateway address configured to remotely manage the switch from another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To configure an IPv4 default gateway on a switch, use the </a:t>
            </a:r>
            <a:r>
              <a:rPr lang="en-US" b="1" dirty="0">
                <a:solidFill>
                  <a:srgbClr val="000000"/>
                </a:solidFill>
              </a:rPr>
              <a:t>ip default-gateway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i="1" dirty="0">
                <a:solidFill>
                  <a:srgbClr val="000000"/>
                </a:solidFill>
              </a:rPr>
              <a:t>ip-address </a:t>
            </a:r>
            <a:r>
              <a:rPr lang="en-US" dirty="0">
                <a:solidFill>
                  <a:srgbClr val="000000"/>
                </a:solidFill>
              </a:rPr>
              <a:t>global configuration command.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D49DD1-25C3-410D-A41D-9402EE3BA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44" y="2906441"/>
            <a:ext cx="7803968" cy="85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5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5134</TotalTime>
  <Words>2073</Words>
  <Application>Microsoft Office PowerPoint</Application>
  <PresentationFormat>On-screen Show (16:9)</PresentationFormat>
  <Paragraphs>288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CiscoSans ExtraLight</vt:lpstr>
      <vt:lpstr>Courier New</vt:lpstr>
      <vt:lpstr>Default Theme</vt:lpstr>
      <vt:lpstr>Module 10: Basic Router Configuration</vt:lpstr>
      <vt:lpstr>10.1 Configure Initial Router Settings</vt:lpstr>
      <vt:lpstr>Configure Initial Router Settings Basic Router Configuration Steps</vt:lpstr>
      <vt:lpstr>Configure Initial Router Settings Basic Router Configuration Example</vt:lpstr>
      <vt:lpstr>10.2 Configure Interfaces</vt:lpstr>
      <vt:lpstr>Configure Interfaces Configure Router Interfaces</vt:lpstr>
      <vt:lpstr>Configure Interfaces Configure Router Interfaces Example</vt:lpstr>
      <vt:lpstr>Configure Interfaces Configure Router Interfaces Example (Cont.)</vt:lpstr>
      <vt:lpstr>Configure Interfaces Verify Interface Configuration</vt:lpstr>
      <vt:lpstr>Configure Interfaces Configure Verification Commands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10.3 Configure the Default Gateway</vt:lpstr>
      <vt:lpstr>Configure the Default Gateway Default Gateway on a Host</vt:lpstr>
      <vt:lpstr>Configure the Default Gateway Default Gateway on a Switch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Hamish Smith</cp:lastModifiedBy>
  <cp:revision>224</cp:revision>
  <dcterms:created xsi:type="dcterms:W3CDTF">2019-10-18T06:21:22Z</dcterms:created>
  <dcterms:modified xsi:type="dcterms:W3CDTF">2024-04-09T04:57:34Z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