
<file path=[Content_Types].xml><?xml version="1.0" encoding="utf-8"?>
<Types xmlns="http://schemas.openxmlformats.org/package/2006/content-types"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notesMasterIdLst>
    <p:notesMasterId r:id="rId22"/>
  </p:notesMasterIdLst>
  <p:sldIdLst>
    <p:sldId id="627" r:id="rId2"/>
    <p:sldId id="628" r:id="rId3"/>
    <p:sldId id="629" r:id="rId4"/>
    <p:sldId id="630" r:id="rId5"/>
    <p:sldId id="631" r:id="rId6"/>
    <p:sldId id="632" r:id="rId7"/>
    <p:sldId id="633" r:id="rId8"/>
    <p:sldId id="634" r:id="rId9"/>
    <p:sldId id="541" r:id="rId10"/>
    <p:sldId id="635" r:id="rId11"/>
    <p:sldId id="636" r:id="rId12"/>
    <p:sldId id="637" r:id="rId13"/>
    <p:sldId id="638" r:id="rId14"/>
    <p:sldId id="563" r:id="rId15"/>
    <p:sldId id="639" r:id="rId16"/>
    <p:sldId id="640" r:id="rId17"/>
    <p:sldId id="641" r:id="rId18"/>
    <p:sldId id="642" r:id="rId19"/>
    <p:sldId id="643" r:id="rId20"/>
    <p:sldId id="644" r:id="rId21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5153"/>
    <a:srgbClr val="8A8A8A"/>
    <a:srgbClr val="6B6B6B"/>
    <a:srgbClr val="264DAE"/>
    <a:srgbClr val="4ADAD7"/>
    <a:srgbClr val="90A3A6"/>
    <a:srgbClr val="EDDFF5"/>
    <a:srgbClr val="493B93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90" autoAdjust="0"/>
    <p:restoredTop sz="90417" autoAdjust="0"/>
  </p:normalViewPr>
  <p:slideViewPr>
    <p:cSldViewPr snapToGrid="0">
      <p:cViewPr varScale="1">
        <p:scale>
          <a:sx n="88" d="100"/>
          <a:sy n="88" d="100"/>
        </p:scale>
        <p:origin x="-12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33006-993C-46CE-BE81-A42F2D8A6269}" type="datetimeFigureOut">
              <a:rPr lang="en-US" smtClean="0"/>
              <a:t>07-Sep-21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2CD79-D36A-4E01-AE1C-064887FE9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27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8.1.2.6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Classless Subnetting Example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8.1.2.6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Classless Subnetting Example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404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8.1.2.7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2 Subnets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847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8.1.2.7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2 Subnets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783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8.1.2.7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2 Subnets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301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8.1.2.7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2 Subnets (Cont.)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8.1.2.8 Video Demonstration – Creating Two Equal-Sized Subnets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14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8.1.2.9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 Formulas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329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8.1.2.9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 Formulas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67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8.1.2.10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4 Subnets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383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8.1.2.10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4 Subnets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332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8.1.2.10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4 Subnets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64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8.1.2.10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4 Subnets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5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8.1.2.10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4 Subnets (Cont.)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8.1.2.11 Video Demonstration – Creating Four Equal-Sized Subnets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8.1.2.12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 Demonstration – Creating Eight Equal-Sized Subnets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90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96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8.1.3.1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Subnets with a /16 prefix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9383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8.1.3.2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100 Subnets with a /16 Network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319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8.1.3.2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100 Subnets with a /16 Network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60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8.1.3.3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Calculating the Hosts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8.1.3.4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 Demonstration – Creating One Hundred Equal-Sized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08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8.1.3.5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1000 Subnets with a /8 Network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73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8.1.3.5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1000 Subnets with a /8 Network (Cont.)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8.1.3.6 Video Demonstration – Subnetting Across Multiple Octets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735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3657600" cy="384721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 smtClean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Presentation Title Goes Here</a:t>
            </a:r>
            <a:endParaRPr lang="en-US" dirty="0"/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Speaker 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Date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2" y="4464066"/>
            <a:ext cx="3657600" cy="384721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 smtClean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Presentation Title Goes Here</a:t>
            </a:r>
            <a:endParaRPr lang="en-US" dirty="0"/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Speaker Title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7723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8110728" cy="384175"/>
          </a:xfr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>
            <a:lvl1pPr marL="0" indent="0" algn="l"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 smtClean="0"/>
              <a:t>Presenter Name</a:t>
            </a:r>
            <a:endParaRPr lang="en-US" dirty="0"/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Presentation </a:t>
            </a:r>
            <a:br>
              <a:rPr lang="en-US" dirty="0" smtClean="0"/>
            </a:br>
            <a:r>
              <a:rPr lang="en-US" dirty="0" smtClean="0"/>
              <a:t>Title Goes Here</a:t>
            </a:r>
            <a:endParaRPr lang="en-US" dirty="0"/>
          </a:p>
        </p:txBody>
      </p:sp>
      <p:pic>
        <p:nvPicPr>
          <p:cNvPr id="51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053" y="325971"/>
            <a:ext cx="2920207" cy="48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2" y="4862154"/>
            <a:ext cx="8110728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 smtClean="0"/>
              <a:t>Speaker 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1" y="5231003"/>
            <a:ext cx="8110728" cy="297004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4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 smtClean="0"/>
              <a:t>Date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Presentation </a:t>
            </a:r>
            <a:br>
              <a:rPr lang="en-US" dirty="0" smtClean="0"/>
            </a:br>
            <a:r>
              <a:rPr lang="en-US" dirty="0" smtClean="0"/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93137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712451"/>
            <a:ext cx="8477250" cy="1828800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 smtClean="0"/>
              <a:t>Segue Title Here</a:t>
            </a:r>
            <a:endParaRPr lang="en-US" dirty="0"/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</a:t>
            </a: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Public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696378"/>
            <a:ext cx="8477250" cy="1844873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 smtClean="0"/>
              <a:t>Segue Title Here</a:t>
            </a:r>
            <a:endParaRPr lang="en-US" dirty="0"/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</a:t>
            </a: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Public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571527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 Seg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 smtClean="0"/>
              <a:t>Segue Title Here</a:t>
            </a:r>
            <a:endParaRPr lang="en-US" dirty="0"/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</a:t>
            </a: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Public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72439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Slide Title Goes Here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4809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06781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29702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1339745"/>
            <a:ext cx="4103687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ounded Rectangle 9"/>
          <p:cNvSpPr/>
          <p:nvPr userDrawn="1"/>
        </p:nvSpPr>
        <p:spPr>
          <a:xfrm>
            <a:off x="4984231" y="1416140"/>
            <a:ext cx="3759720" cy="459903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1">
                  <a:lumMod val="20000"/>
                  <a:lumOff val="80000"/>
                </a:schemeClr>
              </a:gs>
              <a:gs pos="47000">
                <a:schemeClr val="bg1"/>
              </a:gs>
              <a:gs pos="100000">
                <a:srgbClr val="EDDFF5"/>
              </a:gs>
            </a:gsLst>
            <a:lin ang="2700000" scaled="1"/>
            <a:tileRect/>
          </a:gra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221224" y="1747683"/>
            <a:ext cx="3236976" cy="1900292"/>
          </a:xfrm>
        </p:spPr>
        <p:txBody>
          <a:bodyPr/>
          <a:lstStyle>
            <a:lvl1pPr marL="114300" indent="-114300">
              <a:buFontTx/>
              <a:buNone/>
              <a:defRPr sz="2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5310124" y="4876800"/>
            <a:ext cx="3044497" cy="32624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 flipH="1">
            <a:off x="4990141" y="1335313"/>
            <a:ext cx="1" cy="4760687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3259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301752"/>
            <a:ext cx="4123944" cy="838200"/>
          </a:xfrm>
        </p:spPr>
        <p:txBody>
          <a:bodyPr vert="horz" lIns="82296" tIns="45720" rIns="82296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Two Column</a:t>
            </a:r>
            <a:br>
              <a:rPr lang="en-US" dirty="0" smtClean="0"/>
            </a:br>
            <a:r>
              <a:rPr lang="en-US" dirty="0" smtClean="0"/>
              <a:t>Title Left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19455" y="1600200"/>
            <a:ext cx="4142232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406400" indent="0">
              <a:buClr>
                <a:schemeClr val="accent5"/>
              </a:buClr>
              <a:buFontTx/>
              <a:buNone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 dirty="0" smtClean="0"/>
              <a:t>Body copy uses sentence capital letters only, size 20, left aligned</a:t>
            </a:r>
          </a:p>
          <a:p>
            <a:pPr lvl="1"/>
            <a:r>
              <a:rPr lang="en-US" dirty="0" smtClean="0"/>
              <a:t>Sub-bullets are size 18 </a:t>
            </a:r>
            <a:br>
              <a:rPr lang="en-US" dirty="0" smtClean="0"/>
            </a:br>
            <a:r>
              <a:rPr lang="en-US" dirty="0" smtClean="0"/>
              <a:t>and indented</a:t>
            </a:r>
          </a:p>
          <a:p>
            <a:pPr lvl="1"/>
            <a:r>
              <a:rPr lang="en-US" dirty="0" smtClean="0"/>
              <a:t>Hyperlink: www.cisco.com </a:t>
            </a:r>
          </a:p>
          <a:p>
            <a:pPr lvl="0"/>
            <a:r>
              <a:rPr lang="en-US" dirty="0" smtClean="0"/>
              <a:t>Use Cisco highlight color, bold, or both when emphasizing words, </a:t>
            </a:r>
            <a:br>
              <a:rPr lang="en-US" dirty="0" smtClean="0"/>
            </a:br>
            <a:r>
              <a:rPr lang="en-US" dirty="0" smtClean="0"/>
              <a:t>do not italicize; use yellow on the </a:t>
            </a:r>
            <a:br>
              <a:rPr lang="en-US" dirty="0" smtClean="0"/>
            </a:br>
            <a:r>
              <a:rPr lang="en-US" dirty="0" smtClean="0"/>
              <a:t>black template and red for the white template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818888" y="1600200"/>
            <a:ext cx="4005072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406400" indent="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None/>
              <a:defRPr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 dirty="0" smtClean="0"/>
              <a:t>Body copy uses sentence capital letters only, size 20, left aligned</a:t>
            </a:r>
          </a:p>
          <a:p>
            <a:pPr lvl="1"/>
            <a:r>
              <a:rPr lang="en-US" dirty="0" smtClean="0"/>
              <a:t>Sub-bullets are size 18 </a:t>
            </a:r>
            <a:br>
              <a:rPr lang="en-US" dirty="0" smtClean="0"/>
            </a:br>
            <a:r>
              <a:rPr lang="en-US" dirty="0" smtClean="0"/>
              <a:t>and indented</a:t>
            </a:r>
          </a:p>
          <a:p>
            <a:pPr lvl="1"/>
            <a:r>
              <a:rPr lang="en-US" dirty="0" smtClean="0"/>
              <a:t>Hyperlink: www.cisco.com </a:t>
            </a:r>
          </a:p>
          <a:p>
            <a:pPr lvl="0"/>
            <a:r>
              <a:rPr lang="en-US" dirty="0" smtClean="0"/>
              <a:t>Use Cisco highlight color, bold, or both when emphasizing words, do not italicize; use yellow on the black template and red for the white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18887" y="301752"/>
            <a:ext cx="3951308" cy="838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Two Column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</a:b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Title Right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16000">
                    <a:schemeClr val="tx2"/>
                  </a:gs>
                  <a:gs pos="100000">
                    <a:srgbClr val="28A7DF"/>
                  </a:gs>
                </a:gsLst>
                <a:lin ang="1800000" scaled="0"/>
                <a:tileRect/>
              </a:gradFill>
              <a:effectLst/>
              <a:uLnTx/>
              <a:uFillTx/>
              <a:latin typeface="+mj-lt"/>
              <a:ea typeface="+mj-ea"/>
              <a:cs typeface="Arial" pitchFamily="34" charset="0"/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4475" y="1866900"/>
            <a:ext cx="2622550" cy="439102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292474" y="1866900"/>
            <a:ext cx="2593975" cy="436245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75388" y="1866900"/>
            <a:ext cx="2633662" cy="433387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1" name="Text Placeholder 20"/>
          <p:cNvSpPr>
            <a:spLocks noGrp="1" noChangeAspect="1"/>
          </p:cNvSpPr>
          <p:nvPr>
            <p:ph type="body" sz="quarter" idx="17"/>
          </p:nvPr>
        </p:nvSpPr>
        <p:spPr>
          <a:xfrm>
            <a:off x="219456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255264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24" name="Text Placeholder 20"/>
          <p:cNvSpPr>
            <a:spLocks noGrp="1" noChangeAspect="1"/>
          </p:cNvSpPr>
          <p:nvPr>
            <p:ph type="body" sz="quarter" idx="19"/>
          </p:nvPr>
        </p:nvSpPr>
        <p:spPr>
          <a:xfrm>
            <a:off x="6247902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082817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6083084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246972" y="439710"/>
            <a:ext cx="8567244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Slide Title Goes Here</a:t>
            </a:r>
            <a:endParaRPr lang="en-US" dirty="0"/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359764" y="1476375"/>
            <a:ext cx="8439461" cy="4305300"/>
          </a:xfrm>
        </p:spPr>
        <p:txBody>
          <a:bodyPr anchor="ctr" anchorCtr="1"/>
          <a:lstStyle>
            <a:lvl1pPr>
              <a:buNone/>
              <a:defRPr>
                <a:latin typeface="+mj-lt"/>
              </a:defRPr>
            </a:lvl1pPr>
          </a:lstStyle>
          <a:p>
            <a:r>
              <a:rPr lang="en-US" dirty="0" smtClean="0"/>
              <a:t>Click icon to add chart</a:t>
            </a:r>
            <a:endParaRPr lang="en-US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49466" y="6062114"/>
            <a:ext cx="7461250" cy="276999"/>
          </a:xfrm>
        </p:spPr>
        <p:txBody>
          <a:bodyPr wrap="square" anchor="b" anchorCtr="0">
            <a:sp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rgbClr val="435153"/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 dirty="0" smtClean="0"/>
              <a:t>Source: Placeholder for Notes Is 12 Points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Slide Title Goes Here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46888" y="1600200"/>
            <a:ext cx="4005072" cy="374904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Simple text goes here and can wrap to accommodate more lines of information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873752" y="1947672"/>
            <a:ext cx="3429000" cy="2990088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Slide Title Goes Here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5852160"/>
            <a:ext cx="8112126" cy="38417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 smtClean="0"/>
              <a:t>Presenter Name and Title Go Here</a:t>
            </a:r>
            <a:endParaRPr lang="en-US" dirty="0"/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456" y="649224"/>
            <a:ext cx="8112125" cy="4480560"/>
          </a:xfrm>
        </p:spPr>
        <p:txBody>
          <a:bodyPr/>
          <a:lstStyle>
            <a:lvl1pPr marL="236538" indent="-236538" algn="l" defTabSz="914400" rtl="0" eaLnBrk="1" latinLnBrk="0" hangingPunct="1">
              <a:lnSpc>
                <a:spcPts val="52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“Format large quotes using this slide layout. Be sure to cite your source below.”</a:t>
            </a:r>
            <a:endParaRPr lang="en-US" dirty="0"/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744" y="484632"/>
            <a:ext cx="8755128" cy="4372131"/>
          </a:xfrm>
        </p:spPr>
        <p:txBody>
          <a:bodyPr anchor="b" anchorCtr="0"/>
          <a:lstStyle>
            <a:lvl1pPr marL="228600" indent="-228600">
              <a:buFont typeface="Arial" pitchFamily="34" charset="0"/>
              <a:buChar char="“"/>
              <a:defRPr sz="6000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Format large quotes using this slide layout. Be sure to cite your source below.”</a:t>
            </a:r>
            <a:endParaRPr lang="en-US" dirty="0"/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</a:t>
            </a:r>
            <a:r>
              <a:rPr lang="en-US" sz="600" dirty="0" smtClean="0">
                <a:solidFill>
                  <a:schemeClr val="bg1"/>
                </a:solidFill>
                <a:latin typeface="+mj-lt"/>
              </a:rPr>
              <a:t>Public</a:t>
            </a:r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0248" y="5358903"/>
            <a:ext cx="8574685" cy="61436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 smtClean="0"/>
              <a:t>Source</a:t>
            </a:r>
            <a:endParaRPr lang="en-US" dirty="0"/>
          </a:p>
        </p:txBody>
      </p:sp>
      <p:sp>
        <p:nvSpPr>
          <p:cNvPr id="21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 smtClean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  <a:endParaRPr lang="en-US" sz="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1918741"/>
            <a:ext cx="4117446" cy="3020518"/>
          </a:xfrm>
        </p:spPr>
        <p:txBody>
          <a:bodyPr vert="horz" lIns="82296" tIns="45720" rIns="82296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Telling Shared Experiences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922519" y="777667"/>
            <a:ext cx="3895344" cy="5287676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marL="0" lv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Clr>
                <a:srgbClr val="435153"/>
              </a:buClr>
              <a:buFont typeface="Arial" pitchFamily="34" charset="0"/>
              <a:buNone/>
            </a:pPr>
            <a:r>
              <a:rPr lang="en-US" dirty="0" smtClean="0"/>
              <a:t>Tell your story here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1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279392"/>
            <a:ext cx="4684867" cy="38417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rgbClr val="493B93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 smtClean="0"/>
              <a:t>Presenter Name and Title Go Here</a:t>
            </a:r>
            <a:endParaRPr lang="en-US" dirty="0"/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8693" y="3282696"/>
            <a:ext cx="4712557" cy="1022350"/>
          </a:xfrm>
        </p:spPr>
        <p:txBody>
          <a:bodyPr vert="horz" lIns="82296" tIns="45720" rIns="82296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 smtClean="0"/>
              <a:t>Demo Title</a:t>
            </a:r>
            <a:endParaRPr lang="en-US" dirty="0"/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5540375" y="1917700"/>
            <a:ext cx="2676525" cy="2889250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891875" y="795528"/>
            <a:ext cx="5349240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91874" y="4794352"/>
            <a:ext cx="5347552" cy="9963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1900238" y="795528"/>
            <a:ext cx="5329238" cy="400507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65871" y="4873438"/>
            <a:ext cx="5074070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</a:t>
            </a:r>
            <a:r>
              <a:rPr lang="en-US" sz="600" dirty="0" smtClean="0">
                <a:solidFill>
                  <a:schemeClr val="bg1"/>
                </a:solidFill>
                <a:latin typeface="+mj-lt"/>
              </a:rPr>
              <a:t>Public</a:t>
            </a:r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 smtClean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  <a:endParaRPr lang="en-US" sz="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38328" y="310896"/>
            <a:ext cx="3273552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38328" y="310896"/>
            <a:ext cx="3273552" cy="2459736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29703" y="3429000"/>
            <a:ext cx="7009298" cy="1421928"/>
          </a:xfrm>
        </p:spPr>
        <p:txBody>
          <a:bodyPr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Large photo </a:t>
            </a:r>
            <a:br>
              <a:rPr lang="en-US" dirty="0" smtClean="0"/>
            </a:br>
            <a:r>
              <a:rPr lang="en-US" dirty="0" smtClean="0"/>
              <a:t>caption here.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</a:t>
            </a:r>
            <a:r>
              <a:rPr lang="en-US" sz="600" dirty="0" smtClean="0">
                <a:solidFill>
                  <a:schemeClr val="bg1"/>
                </a:solidFill>
                <a:latin typeface="+mj-lt"/>
              </a:rPr>
              <a:t>Public</a:t>
            </a:r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 smtClean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  <a:endParaRPr lang="en-US" sz="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992624" y="859536"/>
            <a:ext cx="3630168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992624" y="859536"/>
            <a:ext cx="3630168" cy="502920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9703" y="728972"/>
            <a:ext cx="4349918" cy="108952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</a:t>
            </a:r>
            <a:r>
              <a:rPr lang="en-US" sz="600" dirty="0" smtClean="0">
                <a:solidFill>
                  <a:schemeClr val="bg1"/>
                </a:solidFill>
                <a:latin typeface="+mj-lt"/>
              </a:rPr>
              <a:t>Public</a:t>
            </a:r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 smtClean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  <a:endParaRPr lang="en-US" sz="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668713" y="311149"/>
            <a:ext cx="3268136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3668989" y="311149"/>
            <a:ext cx="326786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334963" y="311149"/>
            <a:ext cx="3258612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20824" y="311149"/>
            <a:ext cx="327275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7011988" y="311149"/>
            <a:ext cx="1806574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7011988" y="311149"/>
            <a:ext cx="1806573" cy="1308101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334963" y="3028951"/>
            <a:ext cx="2501965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320824" y="3028951"/>
            <a:ext cx="2516104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2911476" y="3028951"/>
            <a:ext cx="4025374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2908334" y="3028951"/>
            <a:ext cx="4028516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7011988" y="1683657"/>
            <a:ext cx="1806574" cy="344215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7011988" y="1676400"/>
            <a:ext cx="1806573" cy="344941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7011988" y="5182960"/>
            <a:ext cx="1806574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7011988" y="5182960"/>
            <a:ext cx="1806573" cy="1304925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 smtClean="0"/>
              <a:t>Insert photo here</a:t>
            </a:r>
            <a:endParaRPr lang="en-US" dirty="0"/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</a:t>
            </a:r>
            <a:r>
              <a:rPr lang="en-US" sz="600" dirty="0" smtClean="0">
                <a:solidFill>
                  <a:schemeClr val="bg1"/>
                </a:solidFill>
                <a:latin typeface="+mj-lt"/>
              </a:rPr>
              <a:t>Public</a:t>
            </a:r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 smtClean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  <a:endParaRPr lang="en-US" sz="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8328" y="310896"/>
            <a:ext cx="8476488" cy="607539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33375" y="339924"/>
            <a:ext cx="8474869" cy="6054185"/>
          </a:xfrm>
          <a:ln>
            <a:solidFill>
              <a:srgbClr val="FFFFFF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smtClean="0"/>
              <a:t>Photo placeholder</a:t>
            </a:r>
            <a:endParaRPr lang="en-US" dirty="0"/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</a:t>
            </a: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Public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 smtClean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-91440" y="-91440"/>
            <a:ext cx="9326880" cy="7040880"/>
          </a:xfrm>
        </p:spPr>
        <p:txBody>
          <a:bodyPr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r>
              <a:rPr lang="en-US" dirty="0" smtClean="0"/>
              <a:t>Full bleed image placeholder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1" name="Media Placeholder 20"/>
          <p:cNvSpPr>
            <a:spLocks noGrp="1"/>
          </p:cNvSpPr>
          <p:nvPr>
            <p:ph type="media" sz="quarter" idx="10" hasCustomPrompt="1"/>
          </p:nvPr>
        </p:nvSpPr>
        <p:spPr>
          <a:xfrm>
            <a:off x="2642616" y="777240"/>
            <a:ext cx="5897880" cy="4425696"/>
          </a:xfrm>
          <a:solidFill>
            <a:srgbClr val="000000"/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 smtClean="0"/>
              <a:t>Click icon to add video</a:t>
            </a:r>
            <a:endParaRPr lang="en-US" dirty="0"/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148" y="6042098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36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</a:t>
            </a:r>
            <a:r>
              <a:rPr lang="en-US" sz="600" kern="1200" dirty="0" smtClean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Public</a:t>
            </a:r>
            <a:endParaRPr lang="en-US" sz="600" kern="1200" dirty="0">
              <a:solidFill>
                <a:srgbClr val="80808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 smtClean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20" name="Rectangle 19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2" name="Freeform 21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4" name="Freeform 23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5" name="Freeform 24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6" name="Freeform 25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7" name="Freeform 26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8" name="Freeform 27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9" name="Freeform 28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0" name="Freeform 29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1" name="Freeform 30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2" name="Freeform 31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3" name="Freeform 32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blue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FFFF"/>
                </a:solidFill>
                <a:latin typeface="+mj-lt"/>
              </a:rPr>
              <a:t>Thank you.</a:t>
            </a:r>
            <a:endParaRPr lang="en-US" sz="36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7" name="Freeform 6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FFFF"/>
                </a:solidFill>
                <a:latin typeface="+mj-lt"/>
              </a:rPr>
              <a:t>Thank you.</a:t>
            </a:r>
            <a:endParaRPr lang="en-US" sz="36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 smtClean="0"/>
              <a:t>Slide Title Goes Here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9702" y="1339745"/>
            <a:ext cx="8577072" cy="49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 smtClean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Cisco </a:t>
            </a:r>
            <a:r>
              <a:rPr lang="en-US" sz="600" dirty="0" smtClean="0">
                <a:solidFill>
                  <a:srgbClr val="808080"/>
                </a:solidFill>
                <a:latin typeface="+mj-lt"/>
              </a:rPr>
              <a:t>Public</a:t>
            </a:r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930" r:id="rId2"/>
    <p:sldLayoutId id="2147483929" r:id="rId3"/>
    <p:sldLayoutId id="2147483937" r:id="rId4"/>
    <p:sldLayoutId id="2147483900" r:id="rId5"/>
    <p:sldLayoutId id="2147483931" r:id="rId6"/>
    <p:sldLayoutId id="2147483932" r:id="rId7"/>
    <p:sldLayoutId id="2147483933" r:id="rId8"/>
    <p:sldLayoutId id="2147483902" r:id="rId9"/>
    <p:sldLayoutId id="2147483903" r:id="rId10"/>
    <p:sldLayoutId id="2147483935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3" r:id="rId18"/>
    <p:sldLayoutId id="2147483911" r:id="rId19"/>
    <p:sldLayoutId id="2147483912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1" r:id="rId27"/>
    <p:sldLayoutId id="2147483922" r:id="rId28"/>
    <p:sldLayoutId id="2147483936" r:id="rId29"/>
    <p:sldLayoutId id="2147483923" r:id="rId30"/>
    <p:sldLayoutId id="2147483924" r:id="rId31"/>
    <p:sldLayoutId id="2147483925" r:id="rId32"/>
    <p:sldLayoutId id="2147483926" r:id="rId33"/>
    <p:sldLayoutId id="2147483927" r:id="rId34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en-US" sz="3600" b="0" i="0" u="none" strike="noStrike" kern="1200" cap="none" spc="0" normalizeH="0" baseline="0" dirty="0">
          <a:ln>
            <a:noFill/>
          </a:ln>
          <a:gradFill flip="none" rotWithShape="1">
            <a:gsLst>
              <a:gs pos="16000">
                <a:schemeClr val="tx2"/>
              </a:gs>
              <a:gs pos="100000">
                <a:srgbClr val="28A7DF"/>
              </a:gs>
            </a:gsLst>
            <a:lin ang="1800000" scaled="0"/>
            <a:tileRect/>
          </a:gradFill>
          <a:effectLst/>
          <a:uLnTx/>
          <a:uFillTx/>
          <a:latin typeface="+mj-lt"/>
          <a:ea typeface="+mj-ea"/>
          <a:cs typeface="Arial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5000"/>
        </a:lnSpc>
        <a:spcBef>
          <a:spcPts val="1440"/>
        </a:spcBef>
        <a:buClr>
          <a:srgbClr val="493B93"/>
        </a:buClr>
        <a:buSzPct val="90000"/>
        <a:buFont typeface="Arial" pitchFamily="34" charset="0"/>
        <a:buChar char="•"/>
        <a:tabLst/>
        <a:defRPr lang="en-US" sz="2200" kern="1200" dirty="0" smtClean="0">
          <a:solidFill>
            <a:srgbClr val="435153"/>
          </a:solidFill>
          <a:latin typeface="+mj-lt"/>
          <a:ea typeface="+mn-ea"/>
          <a:cs typeface="+mn-cs"/>
        </a:defRPr>
      </a:lvl1pPr>
      <a:lvl2pPr marL="406400" indent="0" algn="l" defTabSz="9144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800" kern="1200" dirty="0" smtClean="0">
          <a:solidFill>
            <a:srgbClr val="435153"/>
          </a:solidFill>
          <a:latin typeface="+mj-lt"/>
          <a:ea typeface="+mn-ea"/>
          <a:cs typeface="+mn-cs"/>
        </a:defRPr>
      </a:lvl2pPr>
      <a:lvl3pPr marL="571500" indent="-1588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dirty="0" smtClean="0">
          <a:solidFill>
            <a:srgbClr val="435153"/>
          </a:solidFill>
          <a:latin typeface="+mj-lt"/>
          <a:ea typeface="+mn-ea"/>
          <a:cs typeface="+mn-cs"/>
        </a:defRPr>
      </a:lvl3pPr>
      <a:lvl4pPr marL="688975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 smtClean="0">
          <a:solidFill>
            <a:srgbClr val="435153"/>
          </a:solidFill>
          <a:latin typeface="+mj-lt"/>
          <a:ea typeface="+mn-ea"/>
          <a:cs typeface="+mn-cs"/>
        </a:defRPr>
      </a:lvl4pPr>
      <a:lvl5pPr marL="801688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>
          <a:solidFill>
            <a:srgbClr val="435153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4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Classless Subnetting Example</a:t>
            </a:r>
          </a:p>
        </p:txBody>
      </p:sp>
      <p:pic>
        <p:nvPicPr>
          <p:cNvPr id="5" name="Picture 4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0" t="23360" r="45679" b="30059"/>
          <a:stretch/>
        </p:blipFill>
        <p:spPr>
          <a:xfrm>
            <a:off x="1828799" y="1414496"/>
            <a:ext cx="4921957" cy="473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3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Classless Subnetting </a:t>
            </a:r>
            <a:r>
              <a:rPr lang="en-US" dirty="0" smtClean="0"/>
              <a:t>Example (cont.)</a:t>
            </a:r>
            <a:endParaRPr lang="en-US" dirty="0"/>
          </a:p>
        </p:txBody>
      </p:sp>
      <p:pic>
        <p:nvPicPr>
          <p:cNvPr id="3" name="Picture 2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8" t="23533" r="45734" b="29847"/>
          <a:stretch/>
        </p:blipFill>
        <p:spPr>
          <a:xfrm>
            <a:off x="2133599" y="1333782"/>
            <a:ext cx="4928499" cy="50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4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2 Subnets</a:t>
            </a:r>
          </a:p>
        </p:txBody>
      </p:sp>
      <p:pic>
        <p:nvPicPr>
          <p:cNvPr id="4" name="Picture 3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7" t="22775" r="47595" b="33100"/>
          <a:stretch/>
        </p:blipFill>
        <p:spPr>
          <a:xfrm>
            <a:off x="1717128" y="1455228"/>
            <a:ext cx="5709745" cy="458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8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2 </a:t>
            </a:r>
            <a:r>
              <a:rPr lang="en-US" dirty="0" smtClean="0"/>
              <a:t>Subnets (cont.)</a:t>
            </a:r>
            <a:endParaRPr lang="en-US" dirty="0"/>
          </a:p>
        </p:txBody>
      </p:sp>
      <p:pic>
        <p:nvPicPr>
          <p:cNvPr id="2" name="Picture 1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8" t="22775" r="45315" b="27805"/>
          <a:stretch/>
        </p:blipFill>
        <p:spPr>
          <a:xfrm>
            <a:off x="0" y="1502394"/>
            <a:ext cx="4548851" cy="3557761"/>
          </a:xfrm>
          <a:prstGeom prst="rect">
            <a:avLst/>
          </a:prstGeom>
        </p:spPr>
      </p:pic>
      <p:pic>
        <p:nvPicPr>
          <p:cNvPr id="5" name="Picture 4" descr="Introduction to Networks - Google Chrom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7" t="22775" r="46582" b="30982"/>
          <a:stretch/>
        </p:blipFill>
        <p:spPr>
          <a:xfrm>
            <a:off x="4907666" y="1502394"/>
            <a:ext cx="4037709" cy="337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2 </a:t>
            </a:r>
            <a:r>
              <a:rPr lang="en-US" dirty="0" smtClean="0"/>
              <a:t>Subnets (cont.)</a:t>
            </a:r>
            <a:endParaRPr lang="en-US" dirty="0"/>
          </a:p>
        </p:txBody>
      </p:sp>
      <p:pic>
        <p:nvPicPr>
          <p:cNvPr id="3" name="Picture 2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9" t="22581" r="42251" b="29180"/>
          <a:stretch/>
        </p:blipFill>
        <p:spPr>
          <a:xfrm>
            <a:off x="1459266" y="1314101"/>
            <a:ext cx="6574421" cy="499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7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2 </a:t>
            </a:r>
            <a:r>
              <a:rPr lang="en-US" dirty="0" smtClean="0"/>
              <a:t>Subnets (cont.)</a:t>
            </a:r>
            <a:endParaRPr lang="en-US" dirty="0"/>
          </a:p>
        </p:txBody>
      </p:sp>
      <p:pic>
        <p:nvPicPr>
          <p:cNvPr id="4" name="Picture 3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9" t="22673" r="47777" b="20693"/>
          <a:stretch/>
        </p:blipFill>
        <p:spPr>
          <a:xfrm>
            <a:off x="2562579" y="1288627"/>
            <a:ext cx="4018843" cy="489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5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Subnetting Formulas</a:t>
            </a:r>
          </a:p>
        </p:txBody>
      </p:sp>
      <p:pic>
        <p:nvPicPr>
          <p:cNvPr id="2" name="Picture 1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1" t="32485" r="47037" b="41349"/>
          <a:stretch/>
        </p:blipFill>
        <p:spPr>
          <a:xfrm>
            <a:off x="4663158" y="635211"/>
            <a:ext cx="3443111" cy="2285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422" y="1538111"/>
            <a:ext cx="438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calculate the number of </a:t>
            </a:r>
            <a:r>
              <a:rPr lang="en-US" dirty="0" smtClean="0"/>
              <a:t>subnets.</a:t>
            </a:r>
            <a:endParaRPr lang="en-US" dirty="0"/>
          </a:p>
        </p:txBody>
      </p:sp>
      <p:pic>
        <p:nvPicPr>
          <p:cNvPr id="5" name="Picture 4" descr="Introduction to Networks - Google Chrom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4" t="28354" r="45802" b="37907"/>
          <a:stretch/>
        </p:blipFill>
        <p:spPr>
          <a:xfrm>
            <a:off x="1251106" y="2672362"/>
            <a:ext cx="5635115" cy="369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4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Subnetting </a:t>
            </a:r>
            <a:r>
              <a:rPr lang="en-US" dirty="0" smtClean="0"/>
              <a:t>Formulas (cont.)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64444" y="1760877"/>
            <a:ext cx="438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calculate the number of </a:t>
            </a:r>
            <a:r>
              <a:rPr lang="en-US" dirty="0" smtClean="0"/>
              <a:t>hosts.</a:t>
            </a:r>
            <a:endParaRPr lang="en-US" dirty="0"/>
          </a:p>
        </p:txBody>
      </p:sp>
      <p:pic>
        <p:nvPicPr>
          <p:cNvPr id="4" name="Picture 3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92" t="32313" r="48889" b="45309"/>
          <a:stretch/>
        </p:blipFill>
        <p:spPr>
          <a:xfrm>
            <a:off x="4526844" y="1297458"/>
            <a:ext cx="2844801" cy="1600970"/>
          </a:xfrm>
          <a:prstGeom prst="rect">
            <a:avLst/>
          </a:prstGeom>
        </p:spPr>
      </p:pic>
      <p:pic>
        <p:nvPicPr>
          <p:cNvPr id="6" name="Picture 5" descr="Introduction to Networks - Google Chrom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0" t="37993" r="48271" b="39285"/>
          <a:stretch/>
        </p:blipFill>
        <p:spPr>
          <a:xfrm>
            <a:off x="1128887" y="2837468"/>
            <a:ext cx="6457246" cy="327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9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4 Subnets</a:t>
            </a:r>
          </a:p>
        </p:txBody>
      </p:sp>
      <p:pic>
        <p:nvPicPr>
          <p:cNvPr id="2" name="Picture 1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28" t="22386" r="44537" b="41235"/>
          <a:stretch/>
        </p:blipFill>
        <p:spPr>
          <a:xfrm>
            <a:off x="784399" y="1282418"/>
            <a:ext cx="7174268" cy="504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3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4 </a:t>
            </a:r>
            <a:r>
              <a:rPr lang="en-US" dirty="0" smtClean="0"/>
              <a:t>Subnets (cont.)</a:t>
            </a:r>
            <a:endParaRPr lang="en-US" dirty="0"/>
          </a:p>
        </p:txBody>
      </p:sp>
      <p:pic>
        <p:nvPicPr>
          <p:cNvPr id="3" name="Picture 2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3" t="23210" r="43605" b="26748"/>
          <a:stretch/>
        </p:blipFill>
        <p:spPr>
          <a:xfrm>
            <a:off x="1994065" y="1339143"/>
            <a:ext cx="5060134" cy="496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6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4 </a:t>
            </a:r>
            <a:r>
              <a:rPr lang="en-US" dirty="0" smtClean="0"/>
              <a:t>Subnets (cont.)</a:t>
            </a:r>
            <a:endParaRPr lang="en-US" dirty="0"/>
          </a:p>
        </p:txBody>
      </p:sp>
      <p:pic>
        <p:nvPicPr>
          <p:cNvPr id="2" name="Picture 1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9" t="22715" r="48135" b="45021"/>
          <a:stretch/>
        </p:blipFill>
        <p:spPr>
          <a:xfrm>
            <a:off x="0" y="1481948"/>
            <a:ext cx="3527547" cy="2551289"/>
          </a:xfrm>
          <a:prstGeom prst="rect">
            <a:avLst/>
          </a:prstGeom>
        </p:spPr>
      </p:pic>
      <p:pic>
        <p:nvPicPr>
          <p:cNvPr id="4" name="Picture 3" descr="Introduction to Networks - Google Chrom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28" t="23210" r="45603" b="39259"/>
          <a:stretch/>
        </p:blipFill>
        <p:spPr>
          <a:xfrm>
            <a:off x="3522132" y="1481948"/>
            <a:ext cx="5621868" cy="43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3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4 </a:t>
            </a:r>
            <a:r>
              <a:rPr lang="en-US" dirty="0" smtClean="0"/>
              <a:t>Subnets (cont.)</a:t>
            </a:r>
            <a:endParaRPr lang="en-US" dirty="0"/>
          </a:p>
        </p:txBody>
      </p:sp>
      <p:pic>
        <p:nvPicPr>
          <p:cNvPr id="3" name="Picture 2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22880" r="38542" b="30371"/>
          <a:stretch/>
        </p:blipFill>
        <p:spPr>
          <a:xfrm>
            <a:off x="1154398" y="1323906"/>
            <a:ext cx="7088307" cy="492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4 </a:t>
            </a:r>
            <a:r>
              <a:rPr lang="en-US" dirty="0" smtClean="0"/>
              <a:t>Subnets (cont.)</a:t>
            </a:r>
            <a:endParaRPr lang="en-US" dirty="0"/>
          </a:p>
        </p:txBody>
      </p:sp>
      <p:pic>
        <p:nvPicPr>
          <p:cNvPr id="2" name="Picture 1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3" t="22551" r="41739" b="30535"/>
          <a:stretch/>
        </p:blipFill>
        <p:spPr>
          <a:xfrm>
            <a:off x="1696265" y="1254478"/>
            <a:ext cx="6183379" cy="509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5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Subnetting a /16 and a /8 Prefix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8393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Subnets with a /16 prefix</a:t>
            </a:r>
          </a:p>
        </p:txBody>
      </p:sp>
      <p:pic>
        <p:nvPicPr>
          <p:cNvPr id="3" name="Picture 2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6" t="26008" r="33879" b="21481"/>
          <a:stretch/>
        </p:blipFill>
        <p:spPr>
          <a:xfrm>
            <a:off x="1373316" y="1507630"/>
            <a:ext cx="6397368" cy="432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9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100 Subnets with a /16 Network</a:t>
            </a:r>
          </a:p>
        </p:txBody>
      </p:sp>
      <p:pic>
        <p:nvPicPr>
          <p:cNvPr id="2" name="Picture 1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4" t="29794" r="47469" b="25432"/>
          <a:stretch/>
        </p:blipFill>
        <p:spPr>
          <a:xfrm>
            <a:off x="1907822" y="1409416"/>
            <a:ext cx="5328356" cy="46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2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100 Subnets with a /16 </a:t>
            </a:r>
            <a:r>
              <a:rPr lang="en-US" dirty="0" smtClean="0"/>
              <a:t>Network (cont.)</a:t>
            </a:r>
            <a:endParaRPr lang="en-US" dirty="0"/>
          </a:p>
        </p:txBody>
      </p:sp>
      <p:pic>
        <p:nvPicPr>
          <p:cNvPr id="3" name="Picture 2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6" t="22551" r="42407" b="24609"/>
          <a:stretch/>
        </p:blipFill>
        <p:spPr>
          <a:xfrm>
            <a:off x="2369679" y="1426886"/>
            <a:ext cx="4404642" cy="492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3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Hosts</a:t>
            </a:r>
          </a:p>
        </p:txBody>
      </p:sp>
      <p:pic>
        <p:nvPicPr>
          <p:cNvPr id="2" name="Picture 1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4" t="37725" r="47022" b="31841"/>
          <a:stretch/>
        </p:blipFill>
        <p:spPr>
          <a:xfrm>
            <a:off x="402156" y="1411110"/>
            <a:ext cx="3951111" cy="257386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Picture 3" descr="Introduction to Networks - Google Chrom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1" t="22222" r="43738" b="29712"/>
          <a:stretch/>
        </p:blipFill>
        <p:spPr>
          <a:xfrm>
            <a:off x="4571999" y="1411110"/>
            <a:ext cx="4246563" cy="372533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62564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1000 Subnets with a /8 Network</a:t>
            </a:r>
          </a:p>
        </p:txBody>
      </p:sp>
      <p:pic>
        <p:nvPicPr>
          <p:cNvPr id="3" name="Picture 2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0" t="27325" r="38809" b="20494"/>
          <a:stretch/>
        </p:blipFill>
        <p:spPr>
          <a:xfrm>
            <a:off x="1609619" y="1323755"/>
            <a:ext cx="5829026" cy="49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1000 Subnets with a /8 </a:t>
            </a:r>
            <a:r>
              <a:rPr lang="en-US" dirty="0" smtClean="0"/>
              <a:t>Network (cont.)</a:t>
            </a:r>
            <a:endParaRPr lang="en-US" dirty="0"/>
          </a:p>
        </p:txBody>
      </p:sp>
      <p:pic>
        <p:nvPicPr>
          <p:cNvPr id="2" name="Picture 1" descr="Introduction to Network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9" t="35720" r="46269" b="37778"/>
          <a:stretch/>
        </p:blipFill>
        <p:spPr>
          <a:xfrm>
            <a:off x="338665" y="1615815"/>
            <a:ext cx="3872120" cy="2283557"/>
          </a:xfrm>
          <a:prstGeom prst="rect">
            <a:avLst/>
          </a:prstGeom>
        </p:spPr>
      </p:pic>
      <p:pic>
        <p:nvPicPr>
          <p:cNvPr id="5" name="Picture 4" descr="Introduction to Networks - Google Chrom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9" t="22387" r="40542" b="35144"/>
          <a:stretch/>
        </p:blipFill>
        <p:spPr>
          <a:xfrm>
            <a:off x="4617155" y="1615815"/>
            <a:ext cx="4209376" cy="32810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9138" y="1499729"/>
            <a:ext cx="2585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435153"/>
                </a:solidFill>
              </a:rPr>
              <a:t>Calculating Hosts</a:t>
            </a:r>
            <a:endParaRPr lang="en-US" dirty="0">
              <a:solidFill>
                <a:srgbClr val="4351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53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Acad_White_PPT_Template 05Oct12">
  <a:themeElements>
    <a:clrScheme name="Cisco NetAcad">
      <a:dk1>
        <a:srgbClr val="2AA7DF"/>
      </a:dk1>
      <a:lt1>
        <a:srgbClr val="FFFFFF"/>
      </a:lt1>
      <a:dk2>
        <a:srgbClr val="6B308E"/>
      </a:dk2>
      <a:lt2>
        <a:srgbClr val="000000"/>
      </a:lt2>
      <a:accent1>
        <a:srgbClr val="00938E"/>
      </a:accent1>
      <a:accent2>
        <a:srgbClr val="3EB549"/>
      </a:accent2>
      <a:accent3>
        <a:srgbClr val="D81673"/>
      </a:accent3>
      <a:accent4>
        <a:srgbClr val="234493"/>
      </a:accent4>
      <a:accent5>
        <a:srgbClr val="ED2D28"/>
      </a:accent5>
      <a:accent6>
        <a:srgbClr val="F68B21"/>
      </a:accent6>
      <a:hlink>
        <a:srgbClr val="2AA7DF"/>
      </a:hlink>
      <a:folHlink>
        <a:srgbClr val="ACB2C2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NetAcad_White_PPT_Template 05Oct12</Template>
  <TotalTime>12671</TotalTime>
  <Words>317</Words>
  <Application>Microsoft Office PowerPoint</Application>
  <PresentationFormat>On-screen Show (4:3)</PresentationFormat>
  <Paragraphs>67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NetAcad_White_PPT_Template 05Oct12</vt:lpstr>
      <vt:lpstr>Classless Subnetting Example</vt:lpstr>
      <vt:lpstr>Classless Subnetting Example (cont.)</vt:lpstr>
      <vt:lpstr>Creating 2 Subnets</vt:lpstr>
      <vt:lpstr>Creating 2 Subnets (cont.)</vt:lpstr>
      <vt:lpstr>Creating 2 Subnets (cont.)</vt:lpstr>
      <vt:lpstr>Creating 2 Subnets (cont.)</vt:lpstr>
      <vt:lpstr>Subnetting Formulas</vt:lpstr>
      <vt:lpstr>Subnetting Formulas (cont.)</vt:lpstr>
      <vt:lpstr>Creating 4 Subnets</vt:lpstr>
      <vt:lpstr>Creating 4 Subnets (cont.)</vt:lpstr>
      <vt:lpstr>Creating 4 Subnets (cont.)</vt:lpstr>
      <vt:lpstr>Creating 4 Subnets (cont.)</vt:lpstr>
      <vt:lpstr>Creating 4 Subnets (cont.)</vt:lpstr>
      <vt:lpstr> Subnetting a /16 and a /8 Prefix</vt:lpstr>
      <vt:lpstr>Creating Subnets with a /16 prefix</vt:lpstr>
      <vt:lpstr>Creating 100 Subnets with a /16 Network</vt:lpstr>
      <vt:lpstr>Creating 100 Subnets with a /16 Network (cont.)</vt:lpstr>
      <vt:lpstr>Calculating the Hosts</vt:lpstr>
      <vt:lpstr>Creating 1000 Subnets with a /8 Network</vt:lpstr>
      <vt:lpstr>Creating 1000 Subnets with a /8 Network (cont.)</vt:lpstr>
    </vt:vector>
  </TitlesOfParts>
  <Company>Cisco Systems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Real, Relevant,  Surprising and Fresh: Cisco Brand</dc:title>
  <dc:creator>Melissa Gabriel</dc:creator>
  <cp:lastModifiedBy>Michael Holtz</cp:lastModifiedBy>
  <cp:revision>376</cp:revision>
  <dcterms:created xsi:type="dcterms:W3CDTF">2012-10-09T16:58:47Z</dcterms:created>
  <dcterms:modified xsi:type="dcterms:W3CDTF">2021-09-06T23:12:05Z</dcterms:modified>
</cp:coreProperties>
</file>