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5.xml" ContentType="application/vnd.openxmlformats-officedocument.presentationml.tags+xml"/>
  <Override PartName="/ppt/notesSlides/notesSlide10.xml" ContentType="application/vnd.openxmlformats-officedocument.presentationml.notesSlide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tags/tag7.xml" ContentType="application/vnd.openxmlformats-officedocument.presentationml.tags+xml"/>
  <Override PartName="/ppt/notesSlides/notesSlide12.xml" ContentType="application/vnd.openxmlformats-officedocument.presentationml.notesSlide+xml"/>
  <Override PartName="/ppt/tags/tag8.xml" ContentType="application/vnd.openxmlformats-officedocument.presentationml.tags+xml"/>
  <Override PartName="/ppt/notesSlides/notesSlide13.xml" ContentType="application/vnd.openxmlformats-officedocument.presentationml.notesSlide+xml"/>
  <Override PartName="/ppt/tags/tag9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10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11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32"/>
  </p:notesMasterIdLst>
  <p:sldIdLst>
    <p:sldId id="876" r:id="rId2"/>
    <p:sldId id="759" r:id="rId3"/>
    <p:sldId id="628" r:id="rId4"/>
    <p:sldId id="926" r:id="rId5"/>
    <p:sldId id="1059" r:id="rId6"/>
    <p:sldId id="1060" r:id="rId7"/>
    <p:sldId id="1061" r:id="rId8"/>
    <p:sldId id="1062" r:id="rId9"/>
    <p:sldId id="1123" r:id="rId10"/>
    <p:sldId id="927" r:id="rId11"/>
    <p:sldId id="788" r:id="rId12"/>
    <p:sldId id="1070" r:id="rId13"/>
    <p:sldId id="1124" r:id="rId14"/>
    <p:sldId id="886" r:id="rId15"/>
    <p:sldId id="1072" r:id="rId16"/>
    <p:sldId id="1074" r:id="rId17"/>
    <p:sldId id="1075" r:id="rId18"/>
    <p:sldId id="942" r:id="rId19"/>
    <p:sldId id="957" r:id="rId20"/>
    <p:sldId id="1126" r:id="rId21"/>
    <p:sldId id="1078" r:id="rId22"/>
    <p:sldId id="1079" r:id="rId23"/>
    <p:sldId id="1081" r:id="rId24"/>
    <p:sldId id="952" r:id="rId25"/>
    <p:sldId id="966" r:id="rId26"/>
    <p:sldId id="1082" r:id="rId27"/>
    <p:sldId id="1083" r:id="rId28"/>
    <p:sldId id="1127" r:id="rId29"/>
    <p:sldId id="1087" r:id="rId30"/>
    <p:sldId id="1121" r:id="rId31"/>
  </p:sldIdLst>
  <p:sldSz cx="9144000" cy="5143500" type="screen16x9"/>
  <p:notesSz cx="6858000" cy="9144000"/>
  <p:custDataLst>
    <p:tags r:id="rId33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/>
  <p:cmAuthor id="2" name="Bob Vachon" initials="BV" lastIdx="24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13" autoAdjust="0"/>
    <p:restoredTop sz="84965" autoAdjust="0"/>
  </p:normalViewPr>
  <p:slideViewPr>
    <p:cSldViewPr snapToGrid="0" showGuides="1">
      <p:cViewPr varScale="1">
        <p:scale>
          <a:sx n="120" d="100"/>
          <a:sy n="120" d="100"/>
        </p:scale>
        <p:origin x="1710" y="108"/>
      </p:cViewPr>
      <p:guideLst>
        <p:guide orient="horz" pos="1620"/>
        <p:guide pos="3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4/3/2024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Protocol_data_unit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en.wikipedia.org/wiki/Network_layer" TargetMode="Externa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0" dirty="0"/>
              <a:t>Cisco Networking Academy Program</a:t>
            </a:r>
          </a:p>
          <a:p>
            <a:pPr>
              <a:buFontTx/>
              <a:buNone/>
            </a:pPr>
            <a:r>
              <a:rPr lang="en-US" b="0" dirty="0"/>
              <a:t>Introduction to Networks v7.0 (ITN)</a:t>
            </a:r>
          </a:p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8: Network Layer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118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 Characteristics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3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 Characteristics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8.1.1 –  </a:t>
            </a:r>
            <a:r>
              <a:rPr lang="en-US" altLang="en-US" dirty="0"/>
              <a:t>The Network Layer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1901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4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 Characteristics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8.1.2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 </a:t>
            </a:r>
            <a:r>
              <a:rPr lang="en-US" altLang="en-US" dirty="0"/>
              <a:t>IP Encapsulation</a:t>
            </a:r>
            <a:endParaRPr lang="en-US" baseline="0" dirty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5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 Characteristics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8.1.3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 </a:t>
            </a:r>
            <a:r>
              <a:rPr lang="en-US" altLang="en-US" dirty="0"/>
              <a:t>Characteristics of IP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6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 Characteristics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8.1.4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 </a:t>
            </a:r>
            <a:r>
              <a:rPr lang="en-US" altLang="en-US" dirty="0"/>
              <a:t>Connectionless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7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 Characteristics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8.1.5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 </a:t>
            </a:r>
            <a:r>
              <a:rPr lang="en-US" altLang="en-US" dirty="0"/>
              <a:t>Best Effort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8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 Characteristics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8.1.6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altLang="en-US" dirty="0"/>
              <a:t>Media Independent</a:t>
            </a:r>
            <a:endParaRPr lang="en-US" sz="1200" b="0" dirty="0"/>
          </a:p>
          <a:p>
            <a:pPr>
              <a:buFontTx/>
              <a:buNone/>
            </a:pPr>
            <a:r>
              <a:rPr lang="en-US" dirty="0"/>
              <a:t>8.1.7</a:t>
            </a:r>
            <a:r>
              <a:rPr lang="en-US" baseline="0" dirty="0"/>
              <a:t> </a:t>
            </a:r>
            <a:r>
              <a:rPr lang="en-US" sz="1200" dirty="0">
                <a:effectLst/>
              </a:rPr>
              <a:t>Check Your Understanding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</a:rPr>
              <a:t>IP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Characteristics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9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 Characteristics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8.1.6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altLang="en-US" dirty="0"/>
              <a:t>Media Independent</a:t>
            </a:r>
            <a:endParaRPr lang="en-US" sz="1200" b="0" dirty="0"/>
          </a:p>
          <a:p>
            <a:pPr>
              <a:buFontTx/>
              <a:buNone/>
            </a:pPr>
            <a:r>
              <a:rPr lang="en-US" dirty="0"/>
              <a:t>8.1.7</a:t>
            </a:r>
            <a:r>
              <a:rPr lang="en-US" baseline="0" dirty="0"/>
              <a:t> </a:t>
            </a:r>
            <a:r>
              <a:rPr lang="en-US" sz="1200" dirty="0">
                <a:effectLst/>
              </a:rPr>
              <a:t>Check Your Understanding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</a:rPr>
              <a:t>IP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Characteristics</a:t>
            </a:r>
          </a:p>
          <a:p>
            <a:pPr>
              <a:buFontTx/>
              <a:buNone/>
            </a:pPr>
            <a:r>
              <a:rPr lang="en-N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NZ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maximum transmission unit</a:t>
            </a:r>
            <a:r>
              <a:rPr lang="en-N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NZ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MTU</a:t>
            </a:r>
            <a:r>
              <a:rPr lang="en-N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 is the size of the largest </a:t>
            </a:r>
            <a:r>
              <a:rPr lang="en-NZ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3" tooltip="Protocol data unit"/>
              </a:rPr>
              <a:t>protocol data unit</a:t>
            </a:r>
            <a:r>
              <a:rPr lang="en-N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(PDU) that can be communicated in a single </a:t>
            </a:r>
            <a:r>
              <a:rPr lang="en-NZ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4" tooltip="Network layer"/>
              </a:rPr>
              <a:t>network layer</a:t>
            </a:r>
            <a:r>
              <a:rPr lang="en-N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transaction.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2865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8.2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IPv4 Packet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11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8.2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IPv4 Packet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8.2.1 – </a:t>
            </a:r>
            <a:r>
              <a:rPr lang="en-US" altLang="en-US" dirty="0"/>
              <a:t>IPv4 Packet Header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12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8.2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IPv4 Packet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8.2.2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IPv4 Packet Header Fields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13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8.2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IPv4 Packet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8.2.2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IPv4 Packet Header Fields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Differentiated Services: Used to determine the priority of </a:t>
            </a:r>
            <a:r>
              <a:rPr lang="en-US"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each packet.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IPv6 Packets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1813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IPv6 Packets</a:t>
            </a:r>
          </a:p>
          <a:p>
            <a:pPr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8.3.2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 IPv6 Overview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IPv6 Packets</a:t>
            </a:r>
          </a:p>
          <a:p>
            <a:pPr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8.3.3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 IPv4 Packet Header Fields in the IPv6 Packet Header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IPv6 Packets</a:t>
            </a:r>
          </a:p>
          <a:p>
            <a:pPr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8.3.4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IPv6 Packet Header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8.4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How a Host Routes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1813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8.4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How a Host Routes</a:t>
            </a:r>
            <a:endParaRPr lang="en-US" dirty="0"/>
          </a:p>
          <a:p>
            <a:r>
              <a:rPr lang="en-US" dirty="0"/>
              <a:t>8.4.1</a:t>
            </a:r>
            <a:r>
              <a:rPr lang="en-US" baseline="0" dirty="0"/>
              <a:t> – </a:t>
            </a:r>
            <a:r>
              <a:rPr lang="en-US" altLang="en-US" dirty="0"/>
              <a:t>Host Forwarding Decision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8.4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How a Host Routes</a:t>
            </a:r>
            <a:endParaRPr lang="en-US" dirty="0"/>
          </a:p>
          <a:p>
            <a:r>
              <a:rPr lang="en-US" dirty="0"/>
              <a:t>8.4.1</a:t>
            </a:r>
            <a:r>
              <a:rPr lang="en-US" baseline="0" dirty="0"/>
              <a:t> – </a:t>
            </a:r>
            <a:r>
              <a:rPr lang="en-US" altLang="en-US" dirty="0"/>
              <a:t>Host Forwarding Decision (Cont.)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8.4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How a Host Routes</a:t>
            </a:r>
            <a:endParaRPr lang="en-US" dirty="0"/>
          </a:p>
          <a:p>
            <a:r>
              <a:rPr lang="en-US" dirty="0"/>
              <a:t>8.4.2</a:t>
            </a:r>
            <a:r>
              <a:rPr lang="en-US" baseline="0" dirty="0"/>
              <a:t> – </a:t>
            </a:r>
            <a:r>
              <a:rPr lang="en-US" altLang="en-US" dirty="0"/>
              <a:t>Default Gateway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8.4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How a Host Routes</a:t>
            </a:r>
            <a:endParaRPr lang="en-US" dirty="0"/>
          </a:p>
          <a:p>
            <a:r>
              <a:rPr lang="en-US" dirty="0"/>
              <a:t>8.4.3</a:t>
            </a:r>
            <a:r>
              <a:rPr lang="en-US" baseline="0" dirty="0"/>
              <a:t> – </a:t>
            </a:r>
            <a:r>
              <a:rPr lang="en-US" altLang="en-US" dirty="0"/>
              <a:t>A Host Routes to the Default Gateway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8.4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How a Host Routes</a:t>
            </a:r>
            <a:endParaRPr lang="en-US" dirty="0"/>
          </a:p>
          <a:p>
            <a:r>
              <a:rPr lang="en-US" dirty="0"/>
              <a:t>8.4.4</a:t>
            </a:r>
            <a:r>
              <a:rPr lang="en-US" baseline="0" dirty="0"/>
              <a:t> – </a:t>
            </a:r>
            <a:r>
              <a:rPr lang="en-US" altLang="en-US" dirty="0"/>
              <a:t>Host Routing Tables</a:t>
            </a:r>
          </a:p>
          <a:p>
            <a:pPr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8.4.5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dirty="0">
                <a:effectLst/>
              </a:rPr>
              <a:t>– Check Your Understanding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How a Host Routes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8.5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Routing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1813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8.5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Routing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8.5.1 – </a:t>
            </a:r>
            <a:r>
              <a:rPr lang="en-US" altLang="en-US" dirty="0"/>
              <a:t>Router Packet Forwarding Decision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8.5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Routing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8.5.2 – </a:t>
            </a:r>
            <a:r>
              <a:rPr lang="en-US" altLang="en-US" dirty="0"/>
              <a:t>IP Router Routing 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8.5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Routing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8.5.3 – </a:t>
            </a:r>
            <a:r>
              <a:rPr lang="en-US" altLang="en-US" sz="1200" dirty="0"/>
              <a:t>Static Routing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8.5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Routing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8.5.4 – </a:t>
            </a:r>
            <a:r>
              <a:rPr lang="en-US" altLang="en-US" sz="1200" dirty="0"/>
              <a:t>Dynamic Routing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8.5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Routing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8.5.6 – </a:t>
            </a:r>
            <a:r>
              <a:rPr lang="en-US" altLang="en-US" dirty="0"/>
              <a:t>Introduction to an IPv4 Routing Table</a:t>
            </a:r>
            <a:endParaRPr lang="en-US" dirty="0">
              <a:latin typeface="Arial" charset="0"/>
            </a:endParaRPr>
          </a:p>
          <a:p>
            <a:pPr marL="0" marR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 charset="0"/>
              </a:rPr>
              <a:t>8.5.7 – </a:t>
            </a:r>
            <a:r>
              <a:rPr lang="en-US" sz="1200" dirty="0">
                <a:effectLst/>
              </a:rPr>
              <a:t>Check Your Understanding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Routing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 dirty="0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 dirty="0">
                <a:sym typeface="Arial" pitchFamily="34" charset="0"/>
              </a:rPr>
              <a:t>Second level</a:t>
            </a:r>
          </a:p>
          <a:p>
            <a:pPr lvl="2"/>
            <a:r>
              <a:rPr lang="en-US" dirty="0">
                <a:sym typeface="Arial" pitchFamily="34" charset="0"/>
              </a:rPr>
              <a:t>Third level</a:t>
            </a:r>
          </a:p>
          <a:p>
            <a:pPr lvl="3"/>
            <a:r>
              <a:rPr lang="en-US" dirty="0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 dirty="0">
                <a:sym typeface="Arial" pitchFamily="34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6" name="Group 4"/>
          <p:cNvGrpSpPr>
            <a:grpSpLocks noChangeAspect="1"/>
          </p:cNvGrpSpPr>
          <p:nvPr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291366" y="2125682"/>
            <a:ext cx="7237590" cy="1270941"/>
          </a:xfrm>
        </p:spPr>
        <p:txBody>
          <a:bodyPr/>
          <a:lstStyle/>
          <a:p>
            <a:r>
              <a:rPr lang="en-US" sz="46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8: Network Layer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Networks v7.0 (ITN)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38986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8.1 Network Layer Characteristics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3"/>
            <a:ext cx="5270088" cy="789880"/>
          </a:xfrm>
        </p:spPr>
        <p:txBody>
          <a:bodyPr/>
          <a:lstStyle/>
          <a:p>
            <a:r>
              <a:rPr lang="en-US" altLang="en-US" sz="1600" dirty="0"/>
              <a:t>Network Layer Characteristics</a:t>
            </a:r>
            <a:br>
              <a:rPr lang="en-US" altLang="en-US" dirty="0"/>
            </a:br>
            <a:r>
              <a:rPr lang="en-US" altLang="en-US" dirty="0"/>
              <a:t>The Network Layer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18753" y="834570"/>
            <a:ext cx="5151336" cy="317699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Provides services to allow end devices to exchange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IP version 4 (IPv4) and IP version 6 (IPv6) are the principle network layer communication protocols.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 network layer performs four basic operations: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Addressing end devices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Encapsulation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Routing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De-encapsulation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1862" y="100234"/>
            <a:ext cx="3067269" cy="201651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088" y="2355550"/>
            <a:ext cx="3230819" cy="245814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42478232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Network Layer Characteristics</a:t>
            </a:r>
            <a:br>
              <a:rPr lang="en-US" altLang="en-US" dirty="0"/>
            </a:br>
            <a:r>
              <a:rPr lang="en-US" altLang="en-US" dirty="0"/>
              <a:t>IP Encapsulation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24609" y="905949"/>
            <a:ext cx="3700139" cy="376437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IP encapsulates the transport layer segment.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IP can use either an IPv4 or IPv6 packet and not impact the layer 4 segment.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IP packet will be examined by all layer 3 devices as it traverses the network.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 IP addressing does not change from source to destination.</a:t>
            </a:r>
          </a:p>
          <a:p>
            <a:pPr marL="0" indent="0">
              <a:buNone/>
            </a:pPr>
            <a:r>
              <a:rPr lang="en-US" sz="1600" b="1" dirty="0"/>
              <a:t>Note: </a:t>
            </a:r>
            <a:r>
              <a:rPr lang="en-US" sz="1600" dirty="0"/>
              <a:t>NAT will change addressing, but will be discussed in a later module.</a:t>
            </a:r>
          </a:p>
          <a:p>
            <a:pPr lvl="1"/>
            <a:endParaRPr lang="en-US" dirty="0">
              <a:effectLst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4747" y="905949"/>
            <a:ext cx="5126909" cy="290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212767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Network Layer Characteristics</a:t>
            </a:r>
            <a:br>
              <a:rPr lang="en-US" altLang="en-US" dirty="0"/>
            </a:br>
            <a:r>
              <a:rPr lang="en-US" altLang="en-US" dirty="0" err="1"/>
              <a:t>Characteristics</a:t>
            </a:r>
            <a:r>
              <a:rPr lang="en-US" altLang="en-US" dirty="0"/>
              <a:t> of IP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24608" y="894073"/>
            <a:ext cx="9019391" cy="194745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IP is meant to have low overhead and may be described as:</a:t>
            </a:r>
          </a:p>
          <a:p>
            <a:pPr lvl="1"/>
            <a:r>
              <a:rPr lang="en-US" sz="1800" dirty="0"/>
              <a:t>Connectionless </a:t>
            </a:r>
          </a:p>
          <a:p>
            <a:pPr lvl="1"/>
            <a:r>
              <a:rPr lang="en-US" sz="1800" dirty="0"/>
              <a:t>Best Effort</a:t>
            </a:r>
          </a:p>
          <a:p>
            <a:pPr lvl="1"/>
            <a:r>
              <a:rPr lang="en-US" sz="1800" dirty="0"/>
              <a:t>Media Independent</a:t>
            </a:r>
          </a:p>
        </p:txBody>
      </p:sp>
    </p:spTree>
    <p:extLst>
      <p:ext uri="{BB962C8B-B14F-4D97-AF65-F5344CB8AC3E}">
        <p14:creationId xmlns:p14="http://schemas.microsoft.com/office/powerpoint/2010/main" val="3220549253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Network Layer Characteristics</a:t>
            </a:r>
            <a:br>
              <a:rPr lang="en-US" altLang="en-US" dirty="0"/>
            </a:br>
            <a:r>
              <a:rPr lang="en-US" altLang="en-US" dirty="0"/>
              <a:t>Connectionless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00858" y="858446"/>
            <a:ext cx="8853286" cy="2110086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IP is Connectionless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IP does not establish a connection with the destination before sending the packet.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There is no control information needed (synchronizations, acknowledgments, etc.).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 destination will receive the packet when it arrives, but no pre-notifications are sent by IP.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If there is a need for connection-oriented traffic, then another protocol will handle this (typically TCP at the transport layer).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823" y="3028034"/>
            <a:ext cx="5884353" cy="1731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744275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Network Layer Characteristics</a:t>
            </a:r>
            <a:br>
              <a:rPr lang="en-US" altLang="en-US" dirty="0"/>
            </a:br>
            <a:r>
              <a:rPr lang="en-US" altLang="en-US" dirty="0"/>
              <a:t>Best Effort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00858" y="858446"/>
            <a:ext cx="3773052" cy="2849664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IP is Best Effort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IP will not guarantee delivery of the packet.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IP has reduced overhead since there is no mechanism to resend data that is not received.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IP does not expect acknowledgments.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IP does not know if the other device is operational or if it received the packet.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0503" y="858446"/>
            <a:ext cx="4831504" cy="284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267657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Network Layer Characteristics</a:t>
            </a:r>
            <a:br>
              <a:rPr lang="en-US" altLang="en-US" dirty="0"/>
            </a:br>
            <a:r>
              <a:rPr lang="en-US" altLang="en-US" dirty="0"/>
              <a:t>Media Independent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00858" y="798945"/>
            <a:ext cx="4028689" cy="385171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IP is unreliable:  </a:t>
            </a:r>
          </a:p>
          <a:p>
            <a:pPr lvl="1"/>
            <a:r>
              <a:rPr lang="en-US" sz="1500" dirty="0"/>
              <a:t>It cannot manage or fix undelivered or corrupt packets.</a:t>
            </a:r>
          </a:p>
          <a:p>
            <a:pPr lvl="1"/>
            <a:r>
              <a:rPr lang="en-US" sz="1500" dirty="0"/>
              <a:t>IP cannot retransmit after an error.</a:t>
            </a:r>
          </a:p>
          <a:p>
            <a:pPr lvl="1"/>
            <a:r>
              <a:rPr lang="en-US" sz="1500" dirty="0"/>
              <a:t>IP cannot realign out of sequence packets.</a:t>
            </a:r>
          </a:p>
          <a:p>
            <a:pPr lvl="1"/>
            <a:r>
              <a:rPr lang="en-US" sz="1500" dirty="0"/>
              <a:t>IP must rely on other protocols for these functions.</a:t>
            </a:r>
          </a:p>
          <a:p>
            <a:pPr marL="0" indent="0">
              <a:buNone/>
            </a:pPr>
            <a:r>
              <a:rPr lang="en-US" dirty="0"/>
              <a:t>IP is media Independent:</a:t>
            </a:r>
          </a:p>
          <a:p>
            <a:pPr lvl="1"/>
            <a:r>
              <a:rPr lang="en-US" sz="1500" dirty="0"/>
              <a:t>IP does not concern itself with the type of frame required at the data link layer or the media type at the physical layer.</a:t>
            </a:r>
          </a:p>
          <a:p>
            <a:pPr lvl="1"/>
            <a:r>
              <a:rPr lang="en-US" sz="1500" dirty="0"/>
              <a:t>IP can be sent over any media type: copper, fiber, or wireless.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199" y="1104038"/>
            <a:ext cx="4774017" cy="317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615737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Network Layer Characteristics</a:t>
            </a:r>
            <a:br>
              <a:rPr lang="en-US" altLang="en-US" dirty="0"/>
            </a:br>
            <a:r>
              <a:rPr lang="en-US" altLang="en-US" dirty="0"/>
              <a:t>Media Independent (Contd.)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00858" y="858445"/>
            <a:ext cx="4028689" cy="3792213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The network layer will establish the Maximum Transmission Unit (MTU).</a:t>
            </a:r>
          </a:p>
          <a:p>
            <a:pPr lvl="1"/>
            <a:r>
              <a:rPr lang="en-US" sz="1600" dirty="0"/>
              <a:t>Network layer receives this from control information sent by the data link layer.</a:t>
            </a:r>
          </a:p>
          <a:p>
            <a:pPr lvl="1"/>
            <a:r>
              <a:rPr lang="en-US" sz="1600" dirty="0"/>
              <a:t>The network then establishes the MTU size.</a:t>
            </a:r>
          </a:p>
          <a:p>
            <a:pPr marL="0" indent="0">
              <a:buNone/>
            </a:pPr>
            <a:r>
              <a:rPr lang="en-US" sz="1600" dirty="0"/>
              <a:t>Fragmentation is when Layer 3 splits the IPv4 packet into smaller units.</a:t>
            </a:r>
          </a:p>
          <a:p>
            <a:pPr lvl="1"/>
            <a:r>
              <a:rPr lang="en-US" sz="1600" dirty="0"/>
              <a:t>Fragmenting causes latency.</a:t>
            </a:r>
          </a:p>
          <a:p>
            <a:pPr lvl="1"/>
            <a:r>
              <a:rPr lang="en-US" sz="1600" dirty="0"/>
              <a:t>IPv6 does not fragment packets.</a:t>
            </a:r>
          </a:p>
          <a:p>
            <a:pPr lvl="1"/>
            <a:r>
              <a:rPr lang="en-US" sz="1600" dirty="0"/>
              <a:t>Example: Router goes from Ethernet to a slow WAN with a smaller MTU</a:t>
            </a:r>
          </a:p>
          <a:p>
            <a:pPr lvl="1"/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199" y="1104038"/>
            <a:ext cx="4774017" cy="317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308752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8.2 IPv4 Packet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8337446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IPv4 Packet</a:t>
            </a:r>
            <a:br>
              <a:rPr lang="en-US" altLang="en-US" dirty="0"/>
            </a:br>
            <a:r>
              <a:rPr lang="en-US" altLang="en-US" dirty="0"/>
              <a:t>IPv4 Packet Header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246742" y="798946"/>
            <a:ext cx="8184025" cy="3497284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1600" dirty="0"/>
              <a:t>IPv4 is the primary communication protocol for the network layer.</a:t>
            </a:r>
          </a:p>
          <a:p>
            <a:pPr marL="0" indent="0">
              <a:buNone/>
            </a:pPr>
            <a:r>
              <a:rPr lang="en-US" altLang="en-US" sz="1600" dirty="0"/>
              <a:t>The network header has many purposes:</a:t>
            </a:r>
          </a:p>
          <a:p>
            <a:pPr lvl="1"/>
            <a:r>
              <a:rPr lang="en-US" altLang="en-US" sz="1600" dirty="0"/>
              <a:t>It ensures the packet is sent in the correct direction (to the destination).</a:t>
            </a:r>
          </a:p>
          <a:p>
            <a:pPr lvl="1"/>
            <a:r>
              <a:rPr lang="en-US" altLang="en-US" sz="1600" dirty="0"/>
              <a:t>It contains information for network layer processing in various fields.</a:t>
            </a:r>
          </a:p>
          <a:p>
            <a:pPr lvl="1"/>
            <a:r>
              <a:rPr lang="en-US" altLang="en-US" sz="1600" dirty="0"/>
              <a:t>The information in the header is used by all layer 3 devices that handle the packet</a:t>
            </a:r>
          </a:p>
          <a:p>
            <a:pPr lvl="1"/>
            <a:endParaRPr lang="en-US" altLang="en-US" sz="1600" dirty="0"/>
          </a:p>
          <a:p>
            <a:pPr marL="0" indent="0">
              <a:buNone/>
            </a:pPr>
            <a:r>
              <a:rPr lang="en-US" altLang="ja-JP" sz="1600" dirty="0"/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223303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143999" cy="731520"/>
          </a:xfrm>
        </p:spPr>
        <p:txBody>
          <a:bodyPr/>
          <a:lstStyle/>
          <a:p>
            <a:r>
              <a:rPr lang="en-US" altLang="en-US" sz="1600" dirty="0"/>
              <a:t>IPv4 Packet</a:t>
            </a:r>
            <a:br>
              <a:rPr lang="en-US" altLang="en-US" dirty="0"/>
            </a:br>
            <a:r>
              <a:rPr lang="en-US" altLang="en-US" dirty="0"/>
              <a:t>IPv4 Packet Header Fields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09728" y="792335"/>
            <a:ext cx="4690872" cy="2883553"/>
          </a:xfrm>
        </p:spPr>
        <p:txBody>
          <a:bodyPr/>
          <a:lstStyle/>
          <a:p>
            <a:pPr marL="0" indent="0">
              <a:buNone/>
            </a:pPr>
            <a:r>
              <a:rPr lang="en-US" altLang="ja-JP" sz="1600" dirty="0"/>
              <a:t>The IPv4 network header characteristics:</a:t>
            </a:r>
          </a:p>
          <a:p>
            <a:pPr lvl="1"/>
            <a:r>
              <a:rPr lang="en-US" altLang="ja-JP" sz="1600" dirty="0"/>
              <a:t>It is in binary.</a:t>
            </a:r>
          </a:p>
          <a:p>
            <a:pPr lvl="1"/>
            <a:r>
              <a:rPr lang="en-US" altLang="ja-JP" sz="1600" dirty="0"/>
              <a:t>Contains several fields of information</a:t>
            </a:r>
          </a:p>
          <a:p>
            <a:pPr lvl="1"/>
            <a:r>
              <a:rPr lang="en-US" altLang="ja-JP" sz="1600" dirty="0"/>
              <a:t>Diagram is read from left to right, 4 bytes per line</a:t>
            </a:r>
          </a:p>
          <a:p>
            <a:pPr lvl="1"/>
            <a:r>
              <a:rPr lang="en-US" altLang="ja-JP" sz="1600" dirty="0"/>
              <a:t>The two most important fields are the source and destination.</a:t>
            </a:r>
          </a:p>
          <a:p>
            <a:pPr marL="0" indent="0">
              <a:buNone/>
            </a:pPr>
            <a:endParaRPr lang="en-US" altLang="ja-JP" sz="1600" dirty="0"/>
          </a:p>
          <a:p>
            <a:pPr marL="0" indent="0">
              <a:buNone/>
            </a:pPr>
            <a:r>
              <a:rPr lang="en-US" altLang="ja-JP" sz="1600" dirty="0"/>
              <a:t>Protocols may have one or more functions.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2313" y="841248"/>
            <a:ext cx="4251960" cy="4080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03112685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143999" cy="731520"/>
          </a:xfrm>
        </p:spPr>
        <p:txBody>
          <a:bodyPr/>
          <a:lstStyle/>
          <a:p>
            <a:r>
              <a:rPr lang="en-US" altLang="en-US" sz="1600" dirty="0"/>
              <a:t>IPv4 Packet</a:t>
            </a:r>
            <a:br>
              <a:rPr lang="en-US" altLang="en-US" dirty="0"/>
            </a:br>
            <a:r>
              <a:rPr lang="en-US" altLang="en-US" dirty="0"/>
              <a:t>IPv4 Packet Header Fields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55448" y="792335"/>
            <a:ext cx="8723376" cy="542689"/>
          </a:xfrm>
        </p:spPr>
        <p:txBody>
          <a:bodyPr/>
          <a:lstStyle/>
          <a:p>
            <a:pPr marL="0" indent="0">
              <a:buNone/>
            </a:pPr>
            <a:r>
              <a:rPr lang="en-US" altLang="ja-JP" sz="1600" dirty="0"/>
              <a:t>Significant fields in the IPv4 header:</a:t>
            </a:r>
            <a:endParaRPr lang="en-US" altLang="ja-JP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451830"/>
              </p:ext>
            </p:extLst>
          </p:nvPr>
        </p:nvGraphicFramePr>
        <p:xfrm>
          <a:off x="164592" y="1417319"/>
          <a:ext cx="8750808" cy="28346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9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1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9993">
                <a:tc>
                  <a:txBody>
                    <a:bodyPr/>
                    <a:lstStyle/>
                    <a:p>
                      <a:r>
                        <a:rPr lang="en-US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752">
                <a:tc>
                  <a:txBody>
                    <a:bodyPr/>
                    <a:lstStyle/>
                    <a:p>
                      <a:r>
                        <a:rPr lang="en-US" b="1" dirty="0"/>
                        <a:t>Version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This</a:t>
                      </a:r>
                      <a:r>
                        <a:rPr lang="en-US" baseline="0" dirty="0"/>
                        <a:t> will be for v4, as opposed to v6, a 4 bit field= 0100 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071">
                <a:tc>
                  <a:txBody>
                    <a:bodyPr/>
                    <a:lstStyle/>
                    <a:p>
                      <a:r>
                        <a:rPr lang="en-US" b="1" dirty="0"/>
                        <a:t>Differentiated Services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 for </a:t>
                      </a:r>
                      <a:r>
                        <a:rPr lang="en-US" dirty="0" err="1"/>
                        <a:t>QoS</a:t>
                      </a:r>
                      <a:r>
                        <a:rPr lang="en-US" baseline="0" dirty="0"/>
                        <a:t>: </a:t>
                      </a:r>
                      <a:r>
                        <a:rPr lang="en-US" baseline="0" dirty="0" err="1"/>
                        <a:t>DiffServ</a:t>
                      </a:r>
                      <a:r>
                        <a:rPr lang="en-US" baseline="0" dirty="0"/>
                        <a:t> – DS field or the older </a:t>
                      </a:r>
                      <a:r>
                        <a:rPr lang="en-US" baseline="0" dirty="0" err="1"/>
                        <a:t>IntServ</a:t>
                      </a:r>
                      <a:r>
                        <a:rPr lang="en-US" baseline="0" dirty="0"/>
                        <a:t> – </a:t>
                      </a:r>
                      <a:r>
                        <a:rPr lang="en-US" baseline="0" dirty="0" err="1"/>
                        <a:t>ToS</a:t>
                      </a:r>
                      <a:r>
                        <a:rPr lang="en-US" baseline="0" dirty="0"/>
                        <a:t> or Type of Service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716">
                <a:tc>
                  <a:txBody>
                    <a:bodyPr/>
                    <a:lstStyle/>
                    <a:p>
                      <a:r>
                        <a:rPr lang="en-US" b="1" dirty="0"/>
                        <a:t>Header Checksum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Detect corruption in the IPv4 header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068">
                <a:tc>
                  <a:txBody>
                    <a:bodyPr/>
                    <a:lstStyle/>
                    <a:p>
                      <a:r>
                        <a:rPr lang="en-US" b="1" dirty="0"/>
                        <a:t>Time to Live (TTL)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Layer 3 hop count. When it becomes zero the router</a:t>
                      </a:r>
                      <a:r>
                        <a:rPr lang="en-US" baseline="0" dirty="0"/>
                        <a:t> will discard the packet.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909">
                <a:tc>
                  <a:txBody>
                    <a:bodyPr/>
                    <a:lstStyle/>
                    <a:p>
                      <a:r>
                        <a:rPr lang="en-US" b="1" dirty="0"/>
                        <a:t>Protocol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I.D.s next level</a:t>
                      </a:r>
                      <a:r>
                        <a:rPr lang="en-US" baseline="0" dirty="0"/>
                        <a:t> protocol: ICMP, TCP, UDP, etc.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066">
                <a:tc>
                  <a:txBody>
                    <a:bodyPr/>
                    <a:lstStyle/>
                    <a:p>
                      <a:r>
                        <a:rPr lang="en-US" b="1" dirty="0"/>
                        <a:t>Source IPv4 Address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 bit source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066">
                <a:tc>
                  <a:txBody>
                    <a:bodyPr/>
                    <a:lstStyle/>
                    <a:p>
                      <a:r>
                        <a:rPr lang="en-US" b="1" dirty="0"/>
                        <a:t>Destination IPV4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 bit destination</a:t>
                      </a:r>
                      <a:r>
                        <a:rPr lang="en-US" baseline="0" dirty="0"/>
                        <a:t> address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698414312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8.3 IPv6 Packets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8985433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IPv6 Packets</a:t>
            </a:r>
            <a:br>
              <a:rPr lang="en-US" altLang="en-US" dirty="0"/>
            </a:br>
            <a:r>
              <a:rPr lang="en-US" altLang="en-US" dirty="0"/>
              <a:t>IPv6 Overview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6"/>
            <a:ext cx="3997630" cy="384121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IPv6 was developed by Internet Engineering Task Force (IETF).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IPv6 overcomes the limitations of IPv4.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Improvements that IPv6 provides: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b="1" dirty="0"/>
              <a:t>Increased address space </a:t>
            </a:r>
            <a:r>
              <a:rPr lang="en-US" sz="1500" dirty="0"/>
              <a:t>– based on 128 bit address, not 32 bits</a:t>
            </a:r>
            <a:endParaRPr lang="fr-FR" sz="15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b="1" dirty="0"/>
              <a:t>Improved packet handling </a:t>
            </a:r>
            <a:r>
              <a:rPr lang="en-US" sz="1500" dirty="0"/>
              <a:t>– simplified header with fewer fields</a:t>
            </a:r>
            <a:endParaRPr lang="en-US" sz="1500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b="1" dirty="0"/>
              <a:t>Eliminates the need for NAT </a:t>
            </a:r>
            <a:r>
              <a:rPr lang="en-US" sz="1500" dirty="0"/>
              <a:t>– since there is a huge amount of addressing, there is no need to use private addressing internally and be mapped to a shared public address</a:t>
            </a:r>
            <a:endParaRPr lang="en-CA" altLang="en-US" sz="1500" dirty="0"/>
          </a:p>
          <a:p>
            <a:pPr lvl="1"/>
            <a:endParaRPr lang="en-CA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7004" y="804672"/>
            <a:ext cx="4886995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1630264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IPv6 Packets</a:t>
            </a:r>
            <a:br>
              <a:rPr lang="en-US" altLang="en-US" dirty="0"/>
            </a:br>
            <a:r>
              <a:rPr lang="en-US" altLang="en-US" dirty="0"/>
              <a:t>IPv4 Packet Header Fields in the IPv6 Packet Header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7"/>
            <a:ext cx="3359855" cy="373308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 IPv6 header is simplified, but not smaller.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 header is fixed at 40 Bytes or octets long.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Several IPv4 fields were removed to improve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Some IPv4 fields were removed to improve performance:</a:t>
            </a:r>
          </a:p>
          <a:p>
            <a:pPr lvl="1"/>
            <a:r>
              <a:rPr lang="en-US" sz="1600" dirty="0"/>
              <a:t>Flag</a:t>
            </a:r>
          </a:p>
          <a:p>
            <a:pPr lvl="1"/>
            <a:r>
              <a:rPr lang="en-US" sz="1600" dirty="0"/>
              <a:t>Fragment Offset</a:t>
            </a:r>
          </a:p>
          <a:p>
            <a:pPr lvl="1"/>
            <a:r>
              <a:rPr lang="en-US" sz="1600" dirty="0"/>
              <a:t>Header Checksum</a:t>
            </a:r>
          </a:p>
          <a:p>
            <a:pPr lvl="1"/>
            <a:endParaRPr lang="en-CA" alt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7245" y="969264"/>
            <a:ext cx="5526755" cy="3579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2725155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IPv6 Packets</a:t>
            </a:r>
            <a:br>
              <a:rPr lang="en-US" altLang="en-US" dirty="0"/>
            </a:br>
            <a:r>
              <a:rPr lang="en-US" altLang="en-US" dirty="0"/>
              <a:t>IPv6 Packet Header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7"/>
            <a:ext cx="8243186" cy="457933"/>
          </a:xfrm>
        </p:spPr>
        <p:txBody>
          <a:bodyPr/>
          <a:lstStyle/>
          <a:p>
            <a:pPr marL="0" indent="0">
              <a:buNone/>
            </a:pPr>
            <a:r>
              <a:rPr lang="en-US" altLang="ja-JP" sz="1600" dirty="0"/>
              <a:t>Significant fields in the IPv4 header:</a:t>
            </a:r>
          </a:p>
          <a:p>
            <a:pPr lvl="1"/>
            <a:endParaRPr lang="en-CA" alt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482612"/>
              </p:ext>
            </p:extLst>
          </p:nvPr>
        </p:nvGraphicFramePr>
        <p:xfrm>
          <a:off x="219456" y="1449174"/>
          <a:ext cx="8750808" cy="33666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9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1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9993">
                <a:tc>
                  <a:txBody>
                    <a:bodyPr/>
                    <a:lstStyle/>
                    <a:p>
                      <a:r>
                        <a:rPr lang="en-US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752">
                <a:tc>
                  <a:txBody>
                    <a:bodyPr/>
                    <a:lstStyle/>
                    <a:p>
                      <a:r>
                        <a:rPr lang="en-US" b="1" dirty="0"/>
                        <a:t>Version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This</a:t>
                      </a:r>
                      <a:r>
                        <a:rPr lang="en-US" baseline="0" dirty="0"/>
                        <a:t> will be for v6, as opposed to v4, a 4 bit field= 0110 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071">
                <a:tc>
                  <a:txBody>
                    <a:bodyPr/>
                    <a:lstStyle/>
                    <a:p>
                      <a:r>
                        <a:rPr lang="en-US" b="1" dirty="0"/>
                        <a:t>Traffic Class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 for </a:t>
                      </a:r>
                      <a:r>
                        <a:rPr lang="en-US" dirty="0" err="1"/>
                        <a:t>QoS</a:t>
                      </a:r>
                      <a:r>
                        <a:rPr lang="en-US" baseline="0" dirty="0"/>
                        <a:t>: Equivalent to </a:t>
                      </a:r>
                      <a:r>
                        <a:rPr lang="en-US" baseline="0" dirty="0" err="1"/>
                        <a:t>DiffServ</a:t>
                      </a:r>
                      <a:r>
                        <a:rPr lang="en-US" baseline="0" dirty="0"/>
                        <a:t> – DS field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716">
                <a:tc>
                  <a:txBody>
                    <a:bodyPr/>
                    <a:lstStyle/>
                    <a:p>
                      <a:r>
                        <a:rPr lang="en-US" b="1" dirty="0"/>
                        <a:t>Flow Label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/>
                        <a:t>Informs device to handle identical flow labels the same way, </a:t>
                      </a:r>
                      <a:r>
                        <a:rPr lang="en-US" dirty="0"/>
                        <a:t>20 bit field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068">
                <a:tc>
                  <a:txBody>
                    <a:bodyPr/>
                    <a:lstStyle/>
                    <a:p>
                      <a:r>
                        <a:rPr lang="en-US" b="1" dirty="0"/>
                        <a:t>Payload Length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This 16-bit field indicates the length of the data portion or payload of the IPv6 packet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909">
                <a:tc>
                  <a:txBody>
                    <a:bodyPr/>
                    <a:lstStyle/>
                    <a:p>
                      <a:r>
                        <a:rPr lang="en-US" b="1" dirty="0"/>
                        <a:t>Next Header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I.D.s next level</a:t>
                      </a:r>
                      <a:r>
                        <a:rPr lang="en-US" baseline="0" dirty="0"/>
                        <a:t> protocol: ICMP, TCP, UDP, etc.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909">
                <a:tc>
                  <a:txBody>
                    <a:bodyPr/>
                    <a:lstStyle/>
                    <a:p>
                      <a:r>
                        <a:rPr lang="en-US" b="1" dirty="0"/>
                        <a:t>Hop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Replaces</a:t>
                      </a:r>
                      <a:r>
                        <a:rPr lang="en-US" baseline="0" dirty="0"/>
                        <a:t> TTL field </a:t>
                      </a:r>
                      <a:r>
                        <a:rPr lang="en-US" dirty="0"/>
                        <a:t>Layer 3 hop 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6066">
                <a:tc>
                  <a:txBody>
                    <a:bodyPr/>
                    <a:lstStyle/>
                    <a:p>
                      <a:r>
                        <a:rPr lang="en-US" b="1" dirty="0"/>
                        <a:t>Source IPv4 Address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 bit source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066">
                <a:tc>
                  <a:txBody>
                    <a:bodyPr/>
                    <a:lstStyle/>
                    <a:p>
                      <a:r>
                        <a:rPr lang="en-US" b="1" dirty="0"/>
                        <a:t>Destination IPV4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 bit destination</a:t>
                      </a:r>
                      <a:r>
                        <a:rPr lang="en-US" baseline="0" dirty="0"/>
                        <a:t> address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0041384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8.4 How a Host Routes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9772822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144000" cy="685800"/>
          </a:xfrm>
        </p:spPr>
        <p:txBody>
          <a:bodyPr/>
          <a:lstStyle/>
          <a:p>
            <a:r>
              <a:rPr lang="en-US" altLang="en-US" sz="1600" dirty="0"/>
              <a:t>How a Host Routes</a:t>
            </a:r>
            <a:br>
              <a:rPr lang="en-US" altLang="en-US" sz="1600" dirty="0"/>
            </a:br>
            <a:r>
              <a:rPr lang="en-US" altLang="en-US" dirty="0"/>
              <a:t>Host Forwarding Decision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728" y="711504"/>
            <a:ext cx="8516566" cy="225082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Packets are always created at the source.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Each host devices creates their own routing table.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A host can send packets to the following:</a:t>
            </a:r>
          </a:p>
          <a:p>
            <a:pPr lvl="1"/>
            <a:r>
              <a:rPr lang="en-US" sz="1700" dirty="0"/>
              <a:t>Itself – 127.0.0.1 (IPv4), ::1 (IPv6)</a:t>
            </a:r>
          </a:p>
          <a:p>
            <a:pPr lvl="1"/>
            <a:r>
              <a:rPr lang="en-US" sz="1700" dirty="0"/>
              <a:t>Local Hosts – destination is on the same LAN</a:t>
            </a:r>
          </a:p>
          <a:p>
            <a:pPr lvl="1"/>
            <a:r>
              <a:rPr lang="en-US" sz="1700" dirty="0"/>
              <a:t>Remote Hosts – devices are not on the same LAN 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1070" y="3072057"/>
            <a:ext cx="4799457" cy="1922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0830764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144000" cy="685800"/>
          </a:xfrm>
        </p:spPr>
        <p:txBody>
          <a:bodyPr/>
          <a:lstStyle/>
          <a:p>
            <a:r>
              <a:rPr lang="en-US" altLang="en-US" sz="1600" dirty="0"/>
              <a:t>How a Host Routes</a:t>
            </a:r>
            <a:br>
              <a:rPr lang="en-US" altLang="en-US" sz="1600" dirty="0"/>
            </a:br>
            <a:r>
              <a:rPr lang="en-US" altLang="en-US" dirty="0"/>
              <a:t>Host Forwarding Decision (Cont.)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728" y="711504"/>
            <a:ext cx="8915400" cy="253046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The Source device determines whether the destination is local or remote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Method of determination: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IPv4 – Source uses its own IP address and Subnet mask, along with the destination IP address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IPv6 – Source uses the network address and prefix advertised by the local router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/>
              <a:t>Local traffic is dumped out the host interface to be handled by an intermediary device.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/>
              <a:t>Remote traffic is forwarded directly to the default gateway on the LAN.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003" y="3329608"/>
            <a:ext cx="4296537" cy="154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0649388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57551"/>
          </a:xfrm>
        </p:spPr>
        <p:txBody>
          <a:bodyPr/>
          <a:lstStyle/>
          <a:p>
            <a:r>
              <a:rPr lang="en-US" altLang="en-US" sz="1600" dirty="0"/>
              <a:t>How a Host Routes</a:t>
            </a:r>
            <a:br>
              <a:rPr lang="en-US" altLang="en-US" sz="1600" dirty="0"/>
            </a:br>
            <a:r>
              <a:rPr lang="en-US" altLang="en-US" dirty="0"/>
              <a:t>Default Gateway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5760" y="821052"/>
            <a:ext cx="8535435" cy="3376044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A router or layer 3 switch can be a default-gateway.</a:t>
            </a:r>
          </a:p>
          <a:p>
            <a:pPr marL="0" indent="0">
              <a:buNone/>
            </a:pPr>
            <a:r>
              <a:rPr lang="en-US" sz="1800" dirty="0"/>
              <a:t>Features of a default gateway (DGW):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dirty="0"/>
              <a:t>It must have an IP address in the same range as the rest of the LAN.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dirty="0"/>
              <a:t>It can accept data from the LAN and is capable of forwarding traffic off of the LAN.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dirty="0"/>
              <a:t>It can route to other networks.</a:t>
            </a:r>
          </a:p>
          <a:p>
            <a:pPr marL="0" indent="0">
              <a:buNone/>
            </a:pPr>
            <a:r>
              <a:rPr lang="en-US" sz="1800" dirty="0"/>
              <a:t>If a device has no default gateway or a bad default gateway, its traffic will not be able to leave the LAN.</a:t>
            </a:r>
          </a:p>
          <a:p>
            <a:pPr lvl="1"/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4121643246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57551"/>
          </a:xfrm>
        </p:spPr>
        <p:txBody>
          <a:bodyPr/>
          <a:lstStyle/>
          <a:p>
            <a:r>
              <a:rPr lang="en-US" altLang="en-US" sz="1600" dirty="0"/>
              <a:t>How a Host Routes</a:t>
            </a:r>
            <a:br>
              <a:rPr lang="en-US" altLang="en-US" sz="1600" dirty="0"/>
            </a:br>
            <a:r>
              <a:rPr lang="en-US" altLang="en-US" dirty="0"/>
              <a:t>A Host Routes to the Default Gateway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6115" y="821051"/>
            <a:ext cx="4115747" cy="379449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The host will know the default gateway (DGW) either statically or through DHCP in IPv4.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IPv6 sends the DGW through a router solicitation (RS) or can be configured manually.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 A DGW is static route which will be a last resort route in the routing table.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All device on the LAN will need the DGW of the router if they intend to send traffic remotely.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870" y="1501170"/>
            <a:ext cx="4765834" cy="2229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5191498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57551"/>
          </a:xfrm>
        </p:spPr>
        <p:txBody>
          <a:bodyPr/>
          <a:lstStyle/>
          <a:p>
            <a:r>
              <a:rPr lang="en-US" altLang="en-US" sz="1600" dirty="0"/>
              <a:t>How a Host Routes </a:t>
            </a:r>
            <a:br>
              <a:rPr lang="en-US" altLang="en-US" sz="1600" dirty="0"/>
            </a:br>
            <a:r>
              <a:rPr lang="en-US" altLang="en-US" dirty="0"/>
              <a:t>Host Routing Tables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6115" y="821051"/>
            <a:ext cx="2819110" cy="379449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700" dirty="0"/>
              <a:t>On Windows, route print or </a:t>
            </a:r>
            <a:r>
              <a:rPr lang="en-US" sz="1700" dirty="0" err="1"/>
              <a:t>netstat</a:t>
            </a:r>
            <a:r>
              <a:rPr lang="en-US" sz="1700" dirty="0"/>
              <a:t>  -r to display the PC routing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/>
              <a:t>Three sections displayed by these two commands:</a:t>
            </a:r>
          </a:p>
          <a:p>
            <a:pPr lvl="1"/>
            <a:r>
              <a:rPr lang="en-US" sz="1600" dirty="0"/>
              <a:t>Interface List – all potential interfaces and MAC addressing</a:t>
            </a:r>
          </a:p>
          <a:p>
            <a:pPr lvl="1"/>
            <a:r>
              <a:rPr lang="en-US" sz="1600" dirty="0"/>
              <a:t>IPv4 Routing Table</a:t>
            </a:r>
          </a:p>
          <a:p>
            <a:pPr lvl="1"/>
            <a:r>
              <a:rPr lang="en-US" sz="1600" dirty="0"/>
              <a:t>IPv6 Routing Table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864" y="932688"/>
            <a:ext cx="5485829" cy="3738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8614824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8.5 Introduction to Routing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20016951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Introduction to Routing</a:t>
            </a:r>
            <a:br>
              <a:rPr lang="en-US" altLang="en-US" dirty="0"/>
            </a:br>
            <a:r>
              <a:rPr lang="en-US" altLang="en-US" dirty="0"/>
              <a:t>Router Packet Forwarding Decision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73255" y="822098"/>
            <a:ext cx="8807116" cy="53896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happens when the router receives the frame from the host device?</a:t>
            </a:r>
            <a:endParaRPr lang="en-CA" altLang="en-US" dirty="0"/>
          </a:p>
          <a:p>
            <a:pPr lvl="1"/>
            <a:endParaRPr lang="en-CA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255" y="1361067"/>
            <a:ext cx="5439072" cy="3316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1411" y="2162150"/>
            <a:ext cx="2983832" cy="1877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8408560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Introduction to Routing</a:t>
            </a:r>
            <a:br>
              <a:rPr lang="en-US" altLang="en-US" dirty="0"/>
            </a:br>
            <a:r>
              <a:rPr lang="en-US" altLang="en-US" dirty="0"/>
              <a:t>IP Router Routing Table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290286" y="798943"/>
            <a:ext cx="8853715" cy="242294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There three types of routes in a router’s routing table: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b="1" dirty="0"/>
              <a:t>Directly Connected </a:t>
            </a:r>
            <a:r>
              <a:rPr lang="en-US" altLang="en-US" dirty="0"/>
              <a:t>– These routes are automatically added by the router, provided the interface is active and has addressing.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b="1" dirty="0"/>
              <a:t>Remote</a:t>
            </a:r>
            <a:r>
              <a:rPr lang="en-US" altLang="en-US" dirty="0"/>
              <a:t> – These are the routes the router does not have a direct connection and may be learned: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/>
              <a:t>Manually – with a static route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/>
              <a:t>Dynamically – by using a routing protocol to have the routers share their information with each other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b="1" dirty="0"/>
              <a:t>Default Route </a:t>
            </a:r>
            <a:r>
              <a:rPr lang="en-US" altLang="en-US" dirty="0"/>
              <a:t>– this forwards all traffic to a specific direction when there is not a match in the routing table </a:t>
            </a:r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8543" y="3221887"/>
            <a:ext cx="5351646" cy="152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1866069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41393"/>
            <a:ext cx="3080083" cy="757551"/>
          </a:xfrm>
        </p:spPr>
        <p:txBody>
          <a:bodyPr/>
          <a:lstStyle/>
          <a:p>
            <a:r>
              <a:rPr lang="en-US" altLang="en-US" sz="1600" dirty="0"/>
              <a:t>Introduction to Routing</a:t>
            </a:r>
            <a:br>
              <a:rPr lang="en-US" altLang="en-US" dirty="0"/>
            </a:br>
            <a:r>
              <a:rPr lang="en-US" altLang="en-US" sz="2400" dirty="0"/>
              <a:t>Static Routing</a:t>
            </a:r>
            <a:endParaRPr lang="en-CA" alt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065" y="798945"/>
            <a:ext cx="3846044" cy="3066474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Static Route Characteristics: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Must be configured manually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Must be adjusted manually by the administrator when there is a change in the topology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Good for small non-redundant networks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Often used in conjunction with a dynamic routing protocol for configuring a default route</a:t>
            </a:r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109" y="228982"/>
            <a:ext cx="5007756" cy="238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109" y="2687848"/>
            <a:ext cx="5007757" cy="2117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5251992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41393"/>
            <a:ext cx="3080083" cy="757551"/>
          </a:xfrm>
        </p:spPr>
        <p:txBody>
          <a:bodyPr/>
          <a:lstStyle/>
          <a:p>
            <a:r>
              <a:rPr lang="en-US" altLang="en-US" sz="1600" dirty="0"/>
              <a:t>Introduction to Routing</a:t>
            </a:r>
            <a:br>
              <a:rPr lang="en-US" altLang="en-US" sz="1600" dirty="0"/>
            </a:br>
            <a:r>
              <a:rPr lang="en-US" altLang="en-US" dirty="0"/>
              <a:t>Dynamic Routing</a:t>
            </a:r>
            <a:endParaRPr lang="en-CA" alt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065" y="798945"/>
            <a:ext cx="3846044" cy="2962564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Dynamic Routes Automatically: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Discover remote networks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Maintain up-to-date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Choose the best path to the destination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Find new best paths when there is a topology change</a:t>
            </a:r>
          </a:p>
          <a:p>
            <a:pPr marL="0" indent="0">
              <a:buNone/>
            </a:pPr>
            <a:r>
              <a:rPr lang="en-US" sz="1600" dirty="0"/>
              <a:t>Dynamic routing can also share static default routes with the other routers.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109" y="358055"/>
            <a:ext cx="5007757" cy="1928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109" y="2312213"/>
            <a:ext cx="4644736" cy="2470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7906835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Introduction to Routing</a:t>
            </a:r>
            <a:br>
              <a:rPr lang="en-US" altLang="en-US" dirty="0"/>
            </a:br>
            <a:r>
              <a:rPr lang="en-US" altLang="en-US" dirty="0"/>
              <a:t>Introduction to an IPv4 Routing Table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35082" y="817311"/>
            <a:ext cx="3979718" cy="3723515"/>
          </a:xfrm>
        </p:spPr>
        <p:txBody>
          <a:bodyPr/>
          <a:lstStyle/>
          <a:p>
            <a:pPr marL="0" indent="0">
              <a:buNone/>
            </a:pPr>
            <a:r>
              <a:rPr lang="en-CA" altLang="en-US" dirty="0"/>
              <a:t>The </a:t>
            </a:r>
            <a:r>
              <a:rPr lang="en-US" b="1" dirty="0"/>
              <a:t>show ip route </a:t>
            </a:r>
            <a:r>
              <a:rPr lang="en-US" dirty="0"/>
              <a:t>command shows the following route sources:</a:t>
            </a:r>
          </a:p>
          <a:p>
            <a:pPr lvl="1"/>
            <a:r>
              <a:rPr lang="en-US" b="1" dirty="0"/>
              <a:t>L</a:t>
            </a:r>
            <a:r>
              <a:rPr lang="en-US" dirty="0"/>
              <a:t> - Directly connected local interface IP address</a:t>
            </a:r>
          </a:p>
          <a:p>
            <a:pPr lvl="1"/>
            <a:r>
              <a:rPr lang="en-US" b="1" dirty="0"/>
              <a:t>C</a:t>
            </a:r>
            <a:r>
              <a:rPr lang="en-US" dirty="0"/>
              <a:t> – Directly connected network</a:t>
            </a:r>
          </a:p>
          <a:p>
            <a:pPr lvl="1"/>
            <a:r>
              <a:rPr lang="en-US" b="1" dirty="0"/>
              <a:t>S</a:t>
            </a:r>
            <a:r>
              <a:rPr lang="en-US" dirty="0"/>
              <a:t> – Static route was manually configured by an administrator</a:t>
            </a:r>
          </a:p>
          <a:p>
            <a:pPr lvl="1"/>
            <a:r>
              <a:rPr lang="en-US" b="1" dirty="0"/>
              <a:t>O</a:t>
            </a:r>
            <a:r>
              <a:rPr lang="en-US" dirty="0"/>
              <a:t> –  OSPF</a:t>
            </a:r>
          </a:p>
          <a:p>
            <a:pPr lvl="1"/>
            <a:r>
              <a:rPr lang="en-US" b="1" dirty="0"/>
              <a:t>D</a:t>
            </a:r>
            <a:r>
              <a:rPr lang="en-US" dirty="0"/>
              <a:t> – EIGRP</a:t>
            </a:r>
          </a:p>
          <a:p>
            <a:pPr marL="0" indent="0">
              <a:buNone/>
            </a:pPr>
            <a:r>
              <a:rPr lang="en-CA" altLang="en-US" dirty="0"/>
              <a:t>This command shows types of routes:</a:t>
            </a:r>
          </a:p>
          <a:p>
            <a:pPr lvl="1"/>
            <a:r>
              <a:rPr lang="en-CA" altLang="en-US" dirty="0"/>
              <a:t>Directly Connected – C and L</a:t>
            </a:r>
          </a:p>
          <a:p>
            <a:pPr lvl="1"/>
            <a:r>
              <a:rPr lang="en-CA" altLang="en-US" dirty="0"/>
              <a:t>Remote Routes – O, D, etc.</a:t>
            </a:r>
          </a:p>
          <a:p>
            <a:pPr lvl="1"/>
            <a:r>
              <a:rPr lang="en-CA" altLang="en-US" dirty="0"/>
              <a:t>Default Routes – S* 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9491" y="817312"/>
            <a:ext cx="4904509" cy="3900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3737095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1918512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7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Default Theme" id="{A3178FD6-045E-43BB-9FF9-79BDC55288A1}" vid="{B3635A64-254C-4D4D-B1C2-6197525273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21065</TotalTime>
  <Words>2146</Words>
  <Application>Microsoft Office PowerPoint</Application>
  <PresentationFormat>On-screen Show (16:9)</PresentationFormat>
  <Paragraphs>306</Paragraphs>
  <Slides>30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CiscoSans ExtraLight</vt:lpstr>
      <vt:lpstr>Wingdings</vt:lpstr>
      <vt:lpstr>Default Theme</vt:lpstr>
      <vt:lpstr>Module 8: Network Layer</vt:lpstr>
      <vt:lpstr>8.1 Network Layer Characteristics</vt:lpstr>
      <vt:lpstr>Network Layer Characteristics The Network Layer</vt:lpstr>
      <vt:lpstr>Network Layer Characteristics IP Encapsulation</vt:lpstr>
      <vt:lpstr>Network Layer Characteristics Characteristics of IP</vt:lpstr>
      <vt:lpstr>Network Layer Characteristics Connectionless</vt:lpstr>
      <vt:lpstr>Network Layer Characteristics Best Effort</vt:lpstr>
      <vt:lpstr>Network Layer Characteristics Media Independent</vt:lpstr>
      <vt:lpstr>Network Layer Characteristics Media Independent (Contd.)</vt:lpstr>
      <vt:lpstr>8.2 IPv4 Packet</vt:lpstr>
      <vt:lpstr>IPv4 Packet IPv4 Packet Header</vt:lpstr>
      <vt:lpstr>IPv4 Packet IPv4 Packet Header Fields</vt:lpstr>
      <vt:lpstr>IPv4 Packet IPv4 Packet Header Fields</vt:lpstr>
      <vt:lpstr>8.3 IPv6 Packets</vt:lpstr>
      <vt:lpstr>IPv6 Packets IPv6 Overview</vt:lpstr>
      <vt:lpstr>IPv6 Packets IPv4 Packet Header Fields in the IPv6 Packet Header</vt:lpstr>
      <vt:lpstr>IPv6 Packets IPv6 Packet Header</vt:lpstr>
      <vt:lpstr>8.4 How a Host Routes</vt:lpstr>
      <vt:lpstr>How a Host Routes Host Forwarding Decision</vt:lpstr>
      <vt:lpstr>How a Host Routes Host Forwarding Decision (Cont.)</vt:lpstr>
      <vt:lpstr>How a Host Routes Default Gateway</vt:lpstr>
      <vt:lpstr>How a Host Routes A Host Routes to the Default Gateway</vt:lpstr>
      <vt:lpstr>How a Host Routes  Host Routing Tables</vt:lpstr>
      <vt:lpstr>8.5 Introduction to Routing</vt:lpstr>
      <vt:lpstr>Introduction to Routing Router Packet Forwarding Decision</vt:lpstr>
      <vt:lpstr>Introduction to Routing IP Router Routing Table</vt:lpstr>
      <vt:lpstr>Introduction to Routing Static Routing</vt:lpstr>
      <vt:lpstr>Introduction to Routing Dynamic Routing</vt:lpstr>
      <vt:lpstr>Introduction to Routing Introduction to an IPv4 Routing Table</vt:lpstr>
      <vt:lpstr>PowerPoint Presentation</vt:lpstr>
    </vt:vector>
  </TitlesOfParts>
  <Company>Cisco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bvachon@cisco.com</dc:creator>
  <cp:lastModifiedBy>Hamish Smith</cp:lastModifiedBy>
  <cp:revision>1035</cp:revision>
  <dcterms:created xsi:type="dcterms:W3CDTF">2016-08-22T22:27:36Z</dcterms:created>
  <dcterms:modified xsi:type="dcterms:W3CDTF">2024-04-02T19:59:46Z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