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9"/>
  </p:notesMasterIdLst>
  <p:sldIdLst>
    <p:sldId id="876" r:id="rId2"/>
    <p:sldId id="860" r:id="rId3"/>
    <p:sldId id="759" r:id="rId4"/>
    <p:sldId id="1054" r:id="rId5"/>
    <p:sldId id="1107" r:id="rId6"/>
    <p:sldId id="1108" r:id="rId7"/>
    <p:sldId id="1128" r:id="rId8"/>
    <p:sldId id="1109" r:id="rId9"/>
    <p:sldId id="1123" r:id="rId10"/>
    <p:sldId id="1056" r:id="rId11"/>
    <p:sldId id="1097" r:id="rId12"/>
    <p:sldId id="1110" r:id="rId13"/>
    <p:sldId id="1111" r:id="rId14"/>
    <p:sldId id="1112" r:id="rId15"/>
    <p:sldId id="1113" r:id="rId16"/>
    <p:sldId id="1114" r:id="rId17"/>
    <p:sldId id="1124" r:id="rId18"/>
    <p:sldId id="1103" r:id="rId19"/>
    <p:sldId id="1115" r:id="rId20"/>
    <p:sldId id="1116" r:id="rId21"/>
    <p:sldId id="1130" r:id="rId22"/>
    <p:sldId id="1117" r:id="rId23"/>
    <p:sldId id="1126" r:id="rId24"/>
    <p:sldId id="1127" r:id="rId25"/>
    <p:sldId id="1125" r:id="rId26"/>
    <p:sldId id="1104" r:id="rId27"/>
    <p:sldId id="1118" r:id="rId28"/>
    <p:sldId id="1119" r:id="rId29"/>
    <p:sldId id="1120" r:id="rId30"/>
    <p:sldId id="1121" r:id="rId31"/>
    <p:sldId id="1129" r:id="rId32"/>
    <p:sldId id="1122" r:id="rId33"/>
    <p:sldId id="957" r:id="rId34"/>
    <p:sldId id="958" r:id="rId35"/>
    <p:sldId id="1131" r:id="rId36"/>
    <p:sldId id="874" r:id="rId37"/>
    <p:sldId id="291" r:id="rId38"/>
  </p:sldIdLst>
  <p:sldSz cx="9144000" cy="5143500" type="screen16x9"/>
  <p:notesSz cx="6858000" cy="9144000"/>
  <p:custDataLst>
    <p:tags r:id="rId4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xmlns="">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15"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81" autoAdjust="0"/>
    <p:restoredTop sz="75109" autoAdjust="0"/>
  </p:normalViewPr>
  <p:slideViewPr>
    <p:cSldViewPr snapToGrid="0" showGuides="1">
      <p:cViewPr varScale="1">
        <p:scale>
          <a:sx n="121" d="100"/>
          <a:sy n="121" d="100"/>
        </p:scale>
        <p:origin x="-1284"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21-Dec-20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7: Ethernet Switching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Ethernet Switching</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7.1 Ethernet frames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24407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7.1.6 – Lab – Use Wireshark to Examine Ethernet Frames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10608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7.2 - Ethernet MAC Address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7.2.1 – MAC Address and Hexadecimal</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7.2.2 – Ethernet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09915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7.2.3 – Frame Processing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117020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7.2.4 – Unicast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527404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7.2.5 - Broadcast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77119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7.2.6 - Multicast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914186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7.2.7 – Lab – View Network Device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178587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7.3 - The MAC Address Table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7.3.1 - Switch Fundamentals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8393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00580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7.3.3 - Filtering Frames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05110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7.3.4 – Video – MAC Address Tables on Connected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070880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7.3.5 – Video – Sending the Frame to the Default Gateway</a:t>
            </a:r>
          </a:p>
          <a:p>
            <a:r>
              <a:rPr lang="en-US" dirty="0"/>
              <a:t>7.3.6 – Activity – Switch It!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66784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7.3.7 – Lab – View the Switch MAC Address Table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450690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7.4  - Switch Speeds and Forwarding Methods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7.4.1 – Frame Forwarding Methods on Cisco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7.4.2 – Cut-Through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301104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7.4.3 – Memory Buffering on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119728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304328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195261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7.4.5 – Auto-MDIX</a:t>
            </a:r>
          </a:p>
          <a:p>
            <a:r>
              <a:rPr lang="en-US" dirty="0"/>
              <a:t>7.4.6 – Check Your Understanding – Switch Speeds and Forwarding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268746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Switchig</a:t>
            </a:r>
          </a:p>
        </p:txBody>
      </p:sp>
    </p:spTree>
    <p:extLst>
      <p:ext uri="{BB962C8B-B14F-4D97-AF65-F5344CB8AC3E}">
        <p14:creationId xmlns:p14="http://schemas.microsoft.com/office/powerpoint/2010/main" val="14768241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Switching</a:t>
            </a:r>
          </a:p>
        </p:txBody>
      </p:sp>
    </p:spTree>
    <p:extLst>
      <p:ext uri="{BB962C8B-B14F-4D97-AF65-F5344CB8AC3E}">
        <p14:creationId xmlns:p14="http://schemas.microsoft.com/office/powerpoint/2010/main" val="3258257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Ethernet Switching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xmlns=""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Ethernet Switching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Explain how Ethernet works in a switched network</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altLang="en-US" sz="16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xmlns=""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509016"/>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xmlns="" val="2579019526"/>
                    </a:ext>
                  </a:extLst>
                </a:gridCol>
                <a:gridCol w="4780544">
                  <a:extLst>
                    <a:ext uri="{9D8B030D-6E8A-4147-A177-3AD203B41FA5}">
                      <a16:colId xmlns:a16="http://schemas.microsoft.com/office/drawing/2014/main" xmlns="" val="1764220437"/>
                    </a:ext>
                  </a:extLst>
                </a:gridCol>
              </a:tblGrid>
              <a:tr h="40321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xmlns="" val="742401779"/>
                  </a:ext>
                </a:extLst>
              </a:tr>
              <a:tr h="567532">
                <a:tc>
                  <a:txBody>
                    <a:bodyPr/>
                    <a:lstStyle/>
                    <a:p>
                      <a:pPr fontAlgn="ctr"/>
                      <a:r>
                        <a:rPr lang="en-US" b="1" dirty="0">
                          <a:solidFill>
                            <a:schemeClr val="bg1"/>
                          </a:solidFill>
                          <a:effectLst/>
                        </a:rPr>
                        <a:t>Ethernet Frame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the Ethernet sublayers are related to the frame fields.</a:t>
                      </a:r>
                    </a:p>
                  </a:txBody>
                  <a:tcPr marL="47625" marR="47625" marT="47625" marB="47625" anchor="ctr"/>
                </a:tc>
                <a:extLst>
                  <a:ext uri="{0D108BD9-81ED-4DB2-BD59-A6C34878D82A}">
                    <a16:rowId xmlns:a16="http://schemas.microsoft.com/office/drawing/2014/main" xmlns="" val="3228802595"/>
                  </a:ext>
                </a:extLst>
              </a:tr>
              <a:tr h="403210">
                <a:tc>
                  <a:txBody>
                    <a:bodyPr/>
                    <a:lstStyle/>
                    <a:p>
                      <a:pPr fontAlgn="ctr"/>
                      <a:r>
                        <a:rPr lang="en-US" b="1" dirty="0">
                          <a:solidFill>
                            <a:schemeClr val="bg1"/>
                          </a:solidFill>
                          <a:effectLst/>
                        </a:rPr>
                        <a:t>Ethernet MAC Address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Ethernet MAC address.</a:t>
                      </a:r>
                    </a:p>
                  </a:txBody>
                  <a:tcPr marL="47625" marR="47625" marT="47625" marB="47625" anchor="ctr"/>
                </a:tc>
                <a:extLst>
                  <a:ext uri="{0D108BD9-81ED-4DB2-BD59-A6C34878D82A}">
                    <a16:rowId xmlns:a16="http://schemas.microsoft.com/office/drawing/2014/main" xmlns="" val="3134809945"/>
                  </a:ext>
                </a:extLst>
              </a:tr>
              <a:tr h="567532">
                <a:tc>
                  <a:txBody>
                    <a:bodyPr/>
                    <a:lstStyle/>
                    <a:p>
                      <a:pPr fontAlgn="ctr"/>
                      <a:r>
                        <a:rPr lang="en-US" b="1" dirty="0">
                          <a:solidFill>
                            <a:schemeClr val="bg1"/>
                          </a:solidFill>
                          <a:effectLst/>
                        </a:rPr>
                        <a:t>The MAC Address Table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a switch builds its MAC address table and forwards frames.</a:t>
                      </a:r>
                    </a:p>
                  </a:txBody>
                  <a:tcPr marL="47625" marR="47625" marT="47625" marB="47625" anchor="ctr"/>
                </a:tc>
                <a:extLst>
                  <a:ext uri="{0D108BD9-81ED-4DB2-BD59-A6C34878D82A}">
                    <a16:rowId xmlns:a16="http://schemas.microsoft.com/office/drawing/2014/main" xmlns="" val="1935925893"/>
                  </a:ext>
                </a:extLst>
              </a:tr>
              <a:tr h="567532">
                <a:tc>
                  <a:txBody>
                    <a:bodyPr/>
                    <a:lstStyle/>
                    <a:p>
                      <a:pPr fontAlgn="ctr"/>
                      <a:r>
                        <a:rPr lang="en-US" b="1" dirty="0">
                          <a:solidFill>
                            <a:schemeClr val="bg1"/>
                          </a:solidFill>
                          <a:effectLst/>
                        </a:rPr>
                        <a:t>Switch Speeds and Forwarding Methods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switch forwarding methods and port settings available on Layer 2 switch ports.</a:t>
                      </a:r>
                    </a:p>
                  </a:txBody>
                  <a:tcPr marL="47625" marR="47625" marT="47625" marB="47625" anchor="ctr"/>
                </a:tc>
                <a:extLst>
                  <a:ext uri="{0D108BD9-81ED-4DB2-BD59-A6C34878D82A}">
                    <a16:rowId xmlns:a16="http://schemas.microsoft.com/office/drawing/2014/main" xmlns=""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Ethernet Frames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Ethernet Encapsulation</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xmlns=""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Data Link Sublayers</a:t>
            </a:r>
          </a:p>
        </p:txBody>
      </p:sp>
      <p:sp>
        <p:nvSpPr>
          <p:cNvPr id="5" name="TextBox 4">
            <a:extLst>
              <a:ext uri="{FF2B5EF4-FFF2-40B4-BE49-F238E27FC236}">
                <a16:creationId xmlns:a16="http://schemas.microsoft.com/office/drawing/2014/main" xmlns=""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xmlns=""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MAC Sublayer</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MAC Sublayer</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xmlns=""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Ethernet Frame Fields</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xmlns=""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Lab – Use Wireshark to Examine Ethernet Frames</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474662" y="731837"/>
            <a:ext cx="8280057" cy="3689897"/>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Examine the Header Fields in an Ethernet II Frame</a:t>
            </a:r>
          </a:p>
          <a:p>
            <a:pPr marL="342900" indent="-342900" algn="l">
              <a:buFont typeface="Arial" panose="020B0604020202020204" pitchFamily="34" charset="0"/>
              <a:buChar char="•"/>
            </a:pPr>
            <a:r>
              <a:rPr lang="en-US" dirty="0">
                <a:solidFill>
                  <a:srgbClr val="000000"/>
                </a:solidFill>
              </a:rPr>
              <a:t>Part 2: Use Wireshark to Capture and Analyze Ethernet Frames</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Ethernet MAC Address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MAC Address and Hexadecimal</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947738"/>
            <a:ext cx="8280057" cy="3073946"/>
          </a:xfrm>
        </p:spPr>
        <p:txBody>
          <a:bodyPr/>
          <a:lstStyle/>
          <a:p>
            <a:pPr marL="285750" indent="-285750" algn="l">
              <a:buFont typeface="Arial" panose="020B0604020202020204" pitchFamily="34" charset="0"/>
              <a:buChar char="•"/>
            </a:pPr>
            <a:r>
              <a:rPr lang="en-US" sz="1600" dirty="0">
                <a:solidFill>
                  <a:srgbClr val="000000"/>
                </a:solidFill>
              </a:rPr>
              <a:t>An Ethernet MAC address consists of a 48-bit binary value, expressed using 12 hexadecimal values.</a:t>
            </a:r>
          </a:p>
          <a:p>
            <a:pPr marL="285750" indent="-285750" algn="l">
              <a:buFont typeface="Arial" panose="020B0604020202020204" pitchFamily="34" charset="0"/>
              <a:buChar char="•"/>
            </a:pPr>
            <a:r>
              <a:rPr lang="en-US" sz="1600" dirty="0">
                <a:solidFill>
                  <a:srgbClr val="000000"/>
                </a:solidFill>
              </a:rPr>
              <a:t>Given that 8 bits (one byte) is a common binary grouping, binary 00000000 to 11111111 can be represented in hexadecimal as the range 00 to FF,</a:t>
            </a:r>
          </a:p>
          <a:p>
            <a:pPr marL="285750" indent="-285750" algn="l">
              <a:buFont typeface="Arial" panose="020B0604020202020204" pitchFamily="34" charset="0"/>
              <a:buChar char="•"/>
            </a:pPr>
            <a:r>
              <a:rPr lang="en-US" sz="1600" dirty="0">
                <a:solidFill>
                  <a:srgbClr val="000000"/>
                </a:solidFill>
              </a:rPr>
              <a:t>When using hexadecimal, leading zeroes are always displayed to complete the 8-bit representation. For example the binary value 0000 1010 is represented in hexadecimal as 0A.</a:t>
            </a:r>
          </a:p>
          <a:p>
            <a:pPr marL="285750" indent="-285750" algn="l">
              <a:buFont typeface="Arial" panose="020B0604020202020204" pitchFamily="34" charset="0"/>
              <a:buChar char="•"/>
            </a:pPr>
            <a:r>
              <a:rPr lang="en-US" sz="1600" dirty="0">
                <a:solidFill>
                  <a:srgbClr val="000000"/>
                </a:solidFill>
              </a:rPr>
              <a:t>Hexadecimal numbers are often represented by the value preceded by </a:t>
            </a:r>
            <a:r>
              <a:rPr lang="en-US" sz="1600" b="1" dirty="0">
                <a:solidFill>
                  <a:srgbClr val="000000"/>
                </a:solidFill>
              </a:rPr>
              <a:t>0x</a:t>
            </a:r>
            <a:r>
              <a:rPr lang="en-US" sz="1600" dirty="0">
                <a:solidFill>
                  <a:srgbClr val="000000"/>
                </a:solidFill>
              </a:rPr>
              <a:t> (e.g., 0x73) to distinguish between decimal and hexadecimal values in documentation.</a:t>
            </a:r>
          </a:p>
          <a:p>
            <a:pPr marL="285750" indent="-285750" algn="l">
              <a:buFont typeface="Arial" panose="020B0604020202020204" pitchFamily="34" charset="0"/>
              <a:buChar char="•"/>
            </a:pPr>
            <a:r>
              <a:rPr lang="en-US" sz="1600" dirty="0">
                <a:solidFill>
                  <a:srgbClr val="000000"/>
                </a:solidFill>
              </a:rPr>
              <a:t>Hexadecimal may also be represented by a subscript 16, or the hex number followed by an H (e.g.,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Ethernet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679622"/>
            <a:ext cx="8280057" cy="2458214"/>
          </a:xfrm>
        </p:spPr>
        <p:txBody>
          <a:bodyPr/>
          <a:lstStyle/>
          <a:p>
            <a:pPr marL="285750" indent="-285750" algn="l">
              <a:buFont typeface="Arial" panose="020B0604020202020204" pitchFamily="34" charset="0"/>
              <a:buChar char="•"/>
            </a:pPr>
            <a:r>
              <a:rPr lang="en-US" sz="1500" dirty="0">
                <a:solidFill>
                  <a:srgbClr val="000000"/>
                </a:solidFill>
              </a:rPr>
              <a:t>In an Ethernet LAN, every network device is connected to the same, shared media. MAC addressing provides a method for device identification at the data link layer of the OSI model.</a:t>
            </a:r>
          </a:p>
          <a:p>
            <a:pPr marL="285750" indent="-285750" algn="l">
              <a:buFont typeface="Arial" panose="020B0604020202020204" pitchFamily="34" charset="0"/>
              <a:buChar char="•"/>
            </a:pPr>
            <a:r>
              <a:rPr lang="en-US" sz="1500" dirty="0">
                <a:solidFill>
                  <a:srgbClr val="000000"/>
                </a:solidFill>
              </a:rPr>
              <a:t>An Ethernet MAC address is a 48-bit address expressed using 12 hexadecimal digits. Because a byte equals 8 bits, we can also say that a MAC address is 6 bytes in length.</a:t>
            </a:r>
          </a:p>
          <a:p>
            <a:pPr marL="285750" indent="-285750" algn="l">
              <a:buFont typeface="Arial" panose="020B0604020202020204" pitchFamily="34" charset="0"/>
              <a:buChar char="•"/>
            </a:pPr>
            <a:r>
              <a:rPr lang="en-US" sz="1500" dirty="0">
                <a:solidFill>
                  <a:srgbClr val="000000"/>
                </a:solidFill>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p>
          <a:p>
            <a:pPr marL="285750" indent="-285750" algn="l">
              <a:buFont typeface="Arial" panose="020B0604020202020204" pitchFamily="34" charset="0"/>
              <a:buChar char="•"/>
            </a:pPr>
            <a:r>
              <a:rPr lang="en-US" sz="1500" dirty="0">
                <a:solidFill>
                  <a:srgbClr val="000000"/>
                </a:solidFill>
              </a:rPr>
              <a:t>An Ethernet MAC address consists of a 6 hexadecimal vendor OUI code followed by a 6 hexadecimal vendor-assigned value.</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xmlns="" id="{E3B936E3-E1CB-5C42-9445-442FA726A951}"/>
              </a:ext>
            </a:extLst>
          </p:cNvPr>
          <p:cNvPicPr>
            <a:picLocks noChangeAspect="1"/>
          </p:cNvPicPr>
          <p:nvPr/>
        </p:nvPicPr>
        <p:blipFill>
          <a:blip r:embed="rId3"/>
          <a:stretch>
            <a:fillRect/>
          </a:stretch>
        </p:blipFill>
        <p:spPr>
          <a:xfrm>
            <a:off x="1075489" y="3289769"/>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Frame Processing</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38125" y="763736"/>
            <a:ext cx="5211206" cy="3657998"/>
          </a:xfrm>
        </p:spPr>
        <p:txBody>
          <a:bodyPr/>
          <a:lstStyle/>
          <a:p>
            <a:pPr marL="285750" indent="-285750" algn="l">
              <a:buFont typeface="Arial" panose="020B0604020202020204" pitchFamily="34" charset="0"/>
              <a:buChar char="•"/>
            </a:pPr>
            <a:r>
              <a:rPr lang="en-US" sz="1400" dirty="0">
                <a:solidFill>
                  <a:srgbClr val="000000"/>
                </a:solidFill>
              </a:rPr>
              <a:t>When a device is forwarding a message to an Ethernet network, the Ethernet header include a Source MAC address and a Destination MAC address.</a:t>
            </a:r>
          </a:p>
          <a:p>
            <a:pPr marL="285750" indent="-285750" algn="l">
              <a:buFont typeface="Arial" panose="020B0604020202020204" pitchFamily="34" charset="0"/>
              <a:buChar char="•"/>
            </a:pPr>
            <a:r>
              <a:rPr lang="en-US" sz="14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73085" lvl="1" indent="0">
              <a:buNone/>
            </a:pPr>
            <a:r>
              <a:rPr lang="en-US" sz="1200" b="1" dirty="0">
                <a:solidFill>
                  <a:srgbClr val="000000"/>
                </a:solidFill>
              </a:rPr>
              <a:t>Note:</a:t>
            </a:r>
            <a:r>
              <a:rPr lang="en-US" sz="1200" dirty="0">
                <a:solidFill>
                  <a:srgbClr val="000000"/>
                </a:solidFill>
              </a:rPr>
              <a:t> Ethernet NICs will also accept frames if the destination MAC address is a broadcast or a multicast group of which the host is a member.</a:t>
            </a:r>
          </a:p>
          <a:p>
            <a:pPr marL="285750" indent="-285750" algn="l">
              <a:buFont typeface="Arial" panose="020B0604020202020204" pitchFamily="34" charset="0"/>
              <a:buChar char="•"/>
            </a:pPr>
            <a:r>
              <a:rPr lang="en-US" sz="1400" dirty="0">
                <a:solidFill>
                  <a:srgbClr val="000000"/>
                </a:solidFill>
              </a:rPr>
              <a:t>Any device that is the source or destination of an Ethernet frame, will have an Ethernet NIC and therefore, a MAC address. This includes workstations, servers, printers, mobile devices, and routers.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xmlns=""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Unicast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77984" y="763736"/>
            <a:ext cx="3894760" cy="3618545"/>
          </a:xfrm>
        </p:spPr>
        <p:txBody>
          <a:bodyPr/>
          <a:lstStyle/>
          <a:p>
            <a:pPr marL="0" indent="0" algn="l"/>
            <a:r>
              <a:rPr lang="en-US" sz="1600" dirty="0">
                <a:solidFill>
                  <a:srgbClr val="000000"/>
                </a:solidFill>
              </a:rPr>
              <a:t>In Ethernet, different MAC addresses are used for Layer 2 unicast, broadcast, and multicast communications.</a:t>
            </a:r>
          </a:p>
          <a:p>
            <a:pPr marL="342900" indent="-342900" algn="l">
              <a:buFont typeface="Arial" panose="020B0604020202020204" pitchFamily="34" charset="0"/>
              <a:buChar char="•"/>
            </a:pPr>
            <a:r>
              <a:rPr lang="en-US" sz="1400" dirty="0">
                <a:solidFill>
                  <a:srgbClr val="000000"/>
                </a:solidFill>
              </a:rPr>
              <a:t>A unicast MAC address is the unique address that is used when a frame is sent from a single transmitting device to a single destination device.</a:t>
            </a:r>
          </a:p>
          <a:p>
            <a:pPr marL="342900" indent="-342900" algn="l">
              <a:buFont typeface="Arial" panose="020B0604020202020204" pitchFamily="34" charset="0"/>
              <a:buChar char="•"/>
            </a:pPr>
            <a:r>
              <a:rPr lang="en-US" sz="1400" dirty="0">
                <a:solidFill>
                  <a:srgbClr val="000000"/>
                </a:solidFill>
              </a:rPr>
              <a:t>The process that a source host uses to determine the destination MAC address associated with an IPv4 address is known as Address Resolution Protocol (ARP). The process that a source host uses to determine the destination MAC address associated with an IPv6 address is known as Neighbor Discovery (ND).</a:t>
            </a:r>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The source MAC address must always be a unicast.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xmlns=""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Broadcast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4488452" cy="3657998"/>
          </a:xfrm>
        </p:spPr>
        <p:txBody>
          <a:bodyPr/>
          <a:lstStyle/>
          <a:p>
            <a:pPr marL="0" indent="0" algn="l"/>
            <a:r>
              <a:rPr lang="en-US" sz="1500" dirty="0">
                <a:solidFill>
                  <a:srgbClr val="000000"/>
                </a:solidFill>
              </a:rPr>
              <a:t>An Ethernet broadcast frame is received and processed by every device on the Ethernet LAN. The features of an Ethernet broadcast are as follows:</a:t>
            </a:r>
          </a:p>
          <a:p>
            <a:pPr marL="285750" indent="-285750" algn="l">
              <a:buFont typeface="Arial" panose="020B0604020202020204" pitchFamily="34" charset="0"/>
              <a:buChar char="•"/>
            </a:pPr>
            <a:r>
              <a:rPr lang="en-US" sz="1500" dirty="0">
                <a:solidFill>
                  <a:srgbClr val="000000"/>
                </a:solidFill>
              </a:rPr>
              <a:t>It has a destination MAC address of FF-FF-FF-FF-FF-FF in hexadecimal (48 ones in binary).</a:t>
            </a:r>
          </a:p>
          <a:p>
            <a:pPr marL="285750" indent="-285750" algn="l">
              <a:buFont typeface="Arial" panose="020B0604020202020204" pitchFamily="34" charset="0"/>
              <a:buChar char="•"/>
            </a:pPr>
            <a:r>
              <a:rPr lang="en-US" sz="1500" dirty="0">
                <a:solidFill>
                  <a:srgbClr val="000000"/>
                </a:solidFill>
              </a:rPr>
              <a:t>It is flooded out all Ethernet switch ports except the incoming port. It is not forwarded by a router.</a:t>
            </a:r>
          </a:p>
          <a:p>
            <a:pPr marL="285750" indent="-285750" algn="l">
              <a:buFont typeface="Arial" panose="020B0604020202020204" pitchFamily="34" charset="0"/>
              <a:buChar char="•"/>
            </a:pPr>
            <a:r>
              <a:rPr lang="en-US" sz="1500" dirty="0">
                <a:solidFill>
                  <a:srgbClr val="000000"/>
                </a:solidFill>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xmlns=""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Multicast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133350" y="763735"/>
            <a:ext cx="5038725" cy="3836839"/>
          </a:xfrm>
        </p:spPr>
        <p:txBody>
          <a:bodyPr/>
          <a:lstStyle/>
          <a:p>
            <a:pPr marL="0" indent="0" algn="l"/>
            <a:r>
              <a:rPr lang="en-US" sz="1200" dirty="0">
                <a:solidFill>
                  <a:srgbClr val="000000"/>
                </a:solidFill>
              </a:rPr>
              <a:t>An Ethernet multicast frame is received and processed by a group of devices that belong to the same multicast group. </a:t>
            </a:r>
          </a:p>
          <a:p>
            <a:pPr marL="285750" indent="-285750" algn="l">
              <a:buFont typeface="Arial" panose="020B0604020202020204" pitchFamily="34" charset="0"/>
              <a:buChar char="•"/>
            </a:pPr>
            <a:r>
              <a:rPr lang="en-US" sz="1300" dirty="0">
                <a:solidFill>
                  <a:srgbClr val="000000"/>
                </a:solidFill>
              </a:rPr>
              <a:t>There is a destination MAC address of 01-00-5E when the encapsulated data is an IPv4 multicast packet and a destination MAC address of 33-33 when the encapsulated data is an IPv6 multicast packet.</a:t>
            </a:r>
          </a:p>
          <a:p>
            <a:pPr marL="285750" indent="-285750" algn="l">
              <a:buFont typeface="Arial" panose="020B0604020202020204" pitchFamily="34" charset="0"/>
              <a:buChar char="•"/>
            </a:pPr>
            <a:r>
              <a:rPr lang="en-US" sz="1300" dirty="0">
                <a:solidFill>
                  <a:srgbClr val="000000"/>
                </a:solidFill>
              </a:rPr>
              <a:t>There are other reserved multicast destination MAC addresses for when the encapsulated data is not IP, such as Spanning Tree Protocol (STP).</a:t>
            </a:r>
          </a:p>
          <a:p>
            <a:pPr marL="285750" indent="-285750" algn="l">
              <a:buFont typeface="Arial" panose="020B0604020202020204" pitchFamily="34" charset="0"/>
              <a:buChar char="•"/>
            </a:pPr>
            <a:r>
              <a:rPr lang="en-US" sz="1300" dirty="0">
                <a:solidFill>
                  <a:srgbClr val="000000"/>
                </a:solidFill>
              </a:rPr>
              <a:t>It is flooded out all Ethernet switch ports except the incoming port, unless the switch is configured for multicast snooping. It is not forwarded by a router, unless the router is configured to route multicast packets.</a:t>
            </a:r>
          </a:p>
          <a:p>
            <a:pPr marL="285750" indent="-285750" algn="l">
              <a:buFont typeface="Arial" panose="020B0604020202020204" pitchFamily="34" charset="0"/>
              <a:buChar char="•"/>
            </a:pPr>
            <a:r>
              <a:rPr lang="en-US" sz="1300" dirty="0">
                <a:solidFill>
                  <a:srgbClr val="000000"/>
                </a:solidFill>
              </a:rPr>
              <a:t>Because multicast addresses represent a group of addresses (sometimes called a host group), they can only be used as the destination of a packet. The source will always be a unicast address.</a:t>
            </a:r>
          </a:p>
          <a:p>
            <a:pPr marL="285750" indent="-285750" algn="l">
              <a:buFont typeface="Arial" panose="020B0604020202020204" pitchFamily="34" charset="0"/>
              <a:buChar char="•"/>
            </a:pPr>
            <a:r>
              <a:rPr lang="en-US" sz="1300" dirty="0">
                <a:solidFill>
                  <a:srgbClr val="000000"/>
                </a:solidFill>
              </a:rPr>
              <a:t>As with the unicast and broadcast addresses, the multicast IP address requires a corresponding multicast MAC address.</a:t>
            </a:r>
          </a:p>
        </p:txBody>
      </p:sp>
      <p:pic>
        <p:nvPicPr>
          <p:cNvPr id="5" name="Picture 4">
            <a:extLst>
              <a:ext uri="{FF2B5EF4-FFF2-40B4-BE49-F238E27FC236}">
                <a16:creationId xmlns:a16="http://schemas.microsoft.com/office/drawing/2014/main" xmlns=""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Lab – View Network Device MAC Addresses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24406" y="837649"/>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Set Up the Topology and Initialize Devices</a:t>
            </a:r>
          </a:p>
          <a:p>
            <a:pPr marL="342900" indent="-342900" algn="l">
              <a:buFont typeface="Arial" panose="020B0604020202020204" pitchFamily="34" charset="0"/>
              <a:buChar char="•"/>
            </a:pPr>
            <a:r>
              <a:rPr lang="en-US" dirty="0">
                <a:solidFill>
                  <a:srgbClr val="000000"/>
                </a:solidFill>
              </a:rPr>
              <a:t>Part 2: Configure Devices and Verify Connectivity</a:t>
            </a:r>
          </a:p>
          <a:p>
            <a:pPr marL="342900" indent="-342900" algn="l">
              <a:buFont typeface="Arial" panose="020B0604020202020204" pitchFamily="34" charset="0"/>
              <a:buChar char="•"/>
            </a:pPr>
            <a:r>
              <a:rPr lang="en-US" dirty="0">
                <a:solidFill>
                  <a:srgbClr val="000000"/>
                </a:solidFill>
              </a:rPr>
              <a:t>Part 3: Display, Describe, and Analyze Ethernet MAC Addresses</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The MAC Address Table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Fundamentals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342900" indent="-342900" algn="l">
              <a:buFont typeface="Arial" panose="020B0604020202020204" pitchFamily="34" charset="0"/>
              <a:buChar char="•"/>
            </a:pPr>
            <a:r>
              <a:rPr lang="en-US" sz="1600" dirty="0">
                <a:solidFill>
                  <a:srgbClr val="000000"/>
                </a:solidFill>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marL="342900" indent="-342900" algn="l">
              <a:buFont typeface="Arial" panose="020B0604020202020204" pitchFamily="34" charset="0"/>
              <a:buChar char="•"/>
            </a:pPr>
            <a:r>
              <a:rPr lang="en-US" sz="1600" dirty="0">
                <a:solidFill>
                  <a:srgbClr val="000000"/>
                </a:solidFill>
              </a:rPr>
              <a:t>An Ethernet switch examines its MAC address table to make a forwarding decision for each frame, unlike legacy Ethernet hubs that repeat bits out all ports except the incoming port. </a:t>
            </a:r>
          </a:p>
          <a:p>
            <a:pPr marL="342900" indent="-342900" algn="l">
              <a:buFont typeface="Arial" panose="020B0604020202020204" pitchFamily="34" charset="0"/>
              <a:buChar char="•"/>
            </a:pPr>
            <a:r>
              <a:rPr lang="en-US" sz="1600" dirty="0">
                <a:solidFill>
                  <a:srgbClr val="000000"/>
                </a:solidFill>
              </a:rPr>
              <a:t>When a switch is turned on, the MAC address table is empty</a:t>
            </a:r>
            <a:endParaRPr lang="en-US" sz="14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MAC address table is sometimes referred to as a content addressable memory (CAM)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Learning and Forwarding</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Examine the Source MAC Address (Learn)</a:t>
            </a:r>
            <a:endParaRPr lang="en-US" sz="1600" dirty="0">
              <a:solidFill>
                <a:srgbClr val="000000"/>
              </a:solidFill>
            </a:endParaRPr>
          </a:p>
          <a:p>
            <a:pPr marL="0" indent="0" algn="l"/>
            <a:r>
              <a:rPr lang="en-US" sz="1600" dirty="0">
                <a:solidFill>
                  <a:srgbClr val="000000"/>
                </a:solidFill>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source MAC address does exist in the table but on a different port, the switch treats this as a new entry. The entry is replaced using the same MAC address but with the more current port number.</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Learning and Forwarding (Contd.)</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Find the Destination MAC Address (Forward)</a:t>
            </a:r>
            <a:endParaRPr lang="en-US" sz="1600" dirty="0">
              <a:solidFill>
                <a:srgbClr val="000000"/>
              </a:solidFill>
            </a:endParaRPr>
          </a:p>
          <a:p>
            <a:pPr marL="0" indent="0" algn="l"/>
            <a:r>
              <a:rPr lang="en-US" sz="1600" dirty="0">
                <a:solidFill>
                  <a:srgbClr val="000000"/>
                </a:solidFill>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destination MAC address is a broadcast or a multicast, the frame is also flooded out all ports except the incoming port.</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Filtering Frames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1180567"/>
          </a:xfrm>
        </p:spPr>
        <p:txBody>
          <a:bodyPr/>
          <a:lstStyle/>
          <a:p>
            <a:pPr marL="0" indent="0" algn="l"/>
            <a:r>
              <a:rPr lang="en-US" sz="1600" dirty="0">
                <a:solidFill>
                  <a:srgbClr val="000000"/>
                </a:solidFill>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p>
        </p:txBody>
      </p:sp>
      <p:pic>
        <p:nvPicPr>
          <p:cNvPr id="5" name="Picture 4">
            <a:extLst>
              <a:ext uri="{FF2B5EF4-FFF2-40B4-BE49-F238E27FC236}">
                <a16:creationId xmlns:a16="http://schemas.microsoft.com/office/drawing/2014/main" xmlns=""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Video – MAC Address Tables on Connected Switches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914651"/>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How switches build MAC address tables</a:t>
            </a:r>
          </a:p>
          <a:p>
            <a:pPr marL="342900" indent="-342900" algn="l">
              <a:buFont typeface="Arial" panose="020B0604020202020204" pitchFamily="34" charset="0"/>
              <a:buChar char="•"/>
            </a:pPr>
            <a:r>
              <a:rPr lang="en-US" dirty="0">
                <a:solidFill>
                  <a:srgbClr val="000000"/>
                </a:solidFill>
              </a:rPr>
              <a:t>How switches forward frames base on the content of their MAC address tables</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Video – Sending the Frame to the Default Gateway</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1034777"/>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What a switch does when the destination AMC address is not listed in the switch’s MAC address table.</a:t>
            </a:r>
          </a:p>
          <a:p>
            <a:pPr marL="342900" indent="-342900" algn="l">
              <a:buFont typeface="Arial" panose="020B0604020202020204" pitchFamily="34" charset="0"/>
              <a:buChar char="•"/>
            </a:pPr>
            <a:r>
              <a:rPr lang="en-US" dirty="0">
                <a:solidFill>
                  <a:srgbClr val="000000"/>
                </a:solidFill>
              </a:rPr>
              <a:t>What a switch does when the source AMC address is not listed in the switch’s MAC address table</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Lab – View the Switch MAC Address Table</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953152"/>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and Configure the Network</a:t>
            </a:r>
          </a:p>
          <a:p>
            <a:pPr marL="342900" indent="-342900" algn="l">
              <a:buFont typeface="Arial" panose="020B0604020202020204" pitchFamily="34" charset="0"/>
              <a:buChar char="•"/>
            </a:pPr>
            <a:r>
              <a:rPr lang="en-US" dirty="0">
                <a:solidFill>
                  <a:srgbClr val="000000"/>
                </a:solidFill>
              </a:rPr>
              <a:t>Part 2: Examine the Switch MAC Address Table</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Switch Speeds and Forwarding Methods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Frame Forwarding Methods on Cisco Switches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31006" y="763736"/>
            <a:ext cx="8787866" cy="3657998"/>
          </a:xfrm>
        </p:spPr>
        <p:txBody>
          <a:bodyPr/>
          <a:lstStyle/>
          <a:p>
            <a:pPr marL="0" indent="0" algn="l"/>
            <a:r>
              <a:rPr lang="en-US" sz="1500" dirty="0">
                <a:solidFill>
                  <a:srgbClr val="000000"/>
                </a:solidFill>
              </a:rPr>
              <a:t>Switches use one of the following forwarding methods for switching data between network ports:</a:t>
            </a:r>
          </a:p>
          <a:p>
            <a:pPr marL="285750" indent="-285750" algn="l">
              <a:buFont typeface="Arial" panose="020B0604020202020204" pitchFamily="34" charset="0"/>
              <a:buChar char="•"/>
            </a:pPr>
            <a:r>
              <a:rPr lang="en-US" sz="1500" b="1" dirty="0">
                <a:solidFill>
                  <a:srgbClr val="000000"/>
                </a:solidFill>
              </a:rPr>
              <a:t>Store-and-forward switching</a:t>
            </a:r>
            <a:r>
              <a:rPr lang="en-US" sz="1500" dirty="0">
                <a:solidFill>
                  <a:srgbClr val="000000"/>
                </a:solidFill>
              </a:rPr>
              <a:t> - This frame forwarding method receives the entire frame and computes the CRC. If the CRC is valid, the switch looks up the destination address, which determines the outgoing interface. Then the frame is forwarded out of the correct port.</a:t>
            </a:r>
          </a:p>
          <a:p>
            <a:pPr marL="285750" indent="-285750" algn="l">
              <a:buFont typeface="Arial" panose="020B0604020202020204" pitchFamily="34" charset="0"/>
              <a:buChar char="•"/>
            </a:pPr>
            <a:r>
              <a:rPr lang="en-US" sz="1500" b="1" dirty="0">
                <a:solidFill>
                  <a:srgbClr val="000000"/>
                </a:solidFill>
              </a:rPr>
              <a:t>Cut-through switching</a:t>
            </a:r>
            <a:r>
              <a:rPr lang="en-US" sz="1500" dirty="0">
                <a:solidFill>
                  <a:srgbClr val="000000"/>
                </a:solidFill>
              </a:rPr>
              <a:t> - This frame forwarding method forwards the frame before it is entirely received. At a minimum, the destination address of the frame must be read before the frame can be forwarded.</a:t>
            </a:r>
          </a:p>
          <a:p>
            <a:pPr marL="0" indent="0" algn="l"/>
            <a:endParaRPr lang="en-US" sz="1500" dirty="0">
              <a:solidFill>
                <a:srgbClr val="000000"/>
              </a:solidFill>
            </a:endParaRPr>
          </a:p>
          <a:p>
            <a:pPr marL="285750" indent="-285750" algn="l">
              <a:buFont typeface="Arial" panose="020B0604020202020204" pitchFamily="34" charset="0"/>
              <a:buChar char="•"/>
            </a:pPr>
            <a:r>
              <a:rPr lang="en-US" sz="1500" dirty="0">
                <a:solidFill>
                  <a:srgbClr val="000000"/>
                </a:solidFill>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p>
          <a:p>
            <a:pPr marL="285750" indent="-285750" algn="l">
              <a:buFont typeface="Arial" panose="020B0604020202020204" pitchFamily="34" charset="0"/>
              <a:buChar char="•"/>
            </a:pPr>
            <a:r>
              <a:rPr lang="en-US" sz="1500" dirty="0">
                <a:solidFill>
                  <a:srgbClr val="000000"/>
                </a:solidFill>
              </a:rPr>
              <a:t>Store-and-forward switching is required for quality of service (QoS) analysis on converged networks where frame classification for traffic prioritization is necessary. For example, voice over IP (VoIP) data streams need to have priority over web-browsing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Cut-Through Switching</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p>
          <a:p>
            <a:pPr marL="0" indent="0" algn="l"/>
            <a:r>
              <a:rPr lang="en-US" sz="1600" dirty="0">
                <a:solidFill>
                  <a:srgbClr val="000000"/>
                </a:solidFill>
              </a:rPr>
              <a:t>There are two variants of cut-through switching:</a:t>
            </a:r>
          </a:p>
          <a:p>
            <a:pPr lvl="1">
              <a:buFont typeface="Arial" panose="020B0604020202020204" pitchFamily="34" charset="0"/>
              <a:buChar char="•"/>
            </a:pPr>
            <a:r>
              <a:rPr lang="en-US" sz="1500" b="1" dirty="0">
                <a:solidFill>
                  <a:srgbClr val="000000"/>
                </a:solidFill>
              </a:rPr>
              <a:t>Fast-forward switching -</a:t>
            </a:r>
            <a:r>
              <a:rPr lang="en-US" sz="1500" dirty="0">
                <a:solidFill>
                  <a:srgbClr val="000000"/>
                </a:solidFill>
              </a:rPr>
              <a:t> Offers the lowest level of latency by immediately forwarding a packet after reading the destination address.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p>
          <a:p>
            <a:pPr lvl="1">
              <a:buFont typeface="Arial" panose="020B0604020202020204" pitchFamily="34" charset="0"/>
              <a:buChar char="•"/>
            </a:pPr>
            <a:r>
              <a:rPr lang="en-US" sz="1500" b="1" dirty="0">
                <a:solidFill>
                  <a:srgbClr val="000000"/>
                </a:solidFill>
              </a:rPr>
              <a:t>Fragment-free switching -</a:t>
            </a:r>
            <a:r>
              <a:rPr lang="en-US" sz="1500" dirty="0">
                <a:solidFill>
                  <a:srgbClr val="000000"/>
                </a:solidFill>
              </a:rPr>
              <a:t> A compromise between the high latency and high integrity of store-and-forward switching and the low latency and reduced integrity of fast-forward switching, the switch stores and performs an error check on the first 64 bytes of the frame before forwarding. Because most network errors and collisions occur during the first 64 bytes, this ensures that a collision has not occurred before forwarding the frame.</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Memory Buffering on Switches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500519"/>
          </a:xfrm>
        </p:spPr>
        <p:txBody>
          <a:bodyPr/>
          <a:lstStyle/>
          <a:p>
            <a:pPr marL="0" indent="0" algn="l"/>
            <a:r>
              <a:rPr lang="en-US" sz="1400" dirty="0">
                <a:solidFill>
                  <a:srgbClr val="000000"/>
                </a:solidFill>
              </a:rPr>
              <a:t>An Ethernet switch may use a buffering technique to store frames before forwarding them or when the destination port is busy because of congestion.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p>
        </p:txBody>
      </p:sp>
      <p:graphicFrame>
        <p:nvGraphicFramePr>
          <p:cNvPr id="2" name="Table 1">
            <a:extLst>
              <a:ext uri="{FF2B5EF4-FFF2-40B4-BE49-F238E27FC236}">
                <a16:creationId xmlns:a16="http://schemas.microsoft.com/office/drawing/2014/main" xmlns="" id="{0138F2A8-C500-184D-877E-6BADCD4F07C5}"/>
              </a:ext>
            </a:extLst>
          </p:cNvPr>
          <p:cNvGraphicFramePr>
            <a:graphicFrameLocks noGrp="1"/>
          </p:cNvGraphicFramePr>
          <p:nvPr>
            <p:extLst>
              <p:ext uri="{D42A27DB-BD31-4B8C-83A1-F6EECF244321}">
                <p14:modId xmlns:p14="http://schemas.microsoft.com/office/powerpoint/2010/main" val="2923982016"/>
              </p:ext>
            </p:extLst>
          </p:nvPr>
        </p:nvGraphicFramePr>
        <p:xfrm>
          <a:off x="761441" y="1306225"/>
          <a:ext cx="7706498" cy="257302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xmlns="" val="2223784943"/>
                    </a:ext>
                  </a:extLst>
                </a:gridCol>
                <a:gridCol w="6144869">
                  <a:extLst>
                    <a:ext uri="{9D8B030D-6E8A-4147-A177-3AD203B41FA5}">
                      <a16:colId xmlns:a16="http://schemas.microsoft.com/office/drawing/2014/main" xmlns="" val="80051659"/>
                    </a:ext>
                  </a:extLst>
                </a:gridCol>
              </a:tblGrid>
              <a:tr h="370840">
                <a:tc>
                  <a:txBody>
                    <a:bodyPr/>
                    <a:lstStyle/>
                    <a:p>
                      <a:pPr algn="l" fontAlgn="ctr"/>
                      <a:r>
                        <a:rPr lang="en-US" sz="1200" dirty="0">
                          <a:effectLst/>
                        </a:rPr>
                        <a:t>Method</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xmlns="" val="902563454"/>
                  </a:ext>
                </a:extLst>
              </a:tr>
              <a:tr h="370840">
                <a:tc>
                  <a:txBody>
                    <a:bodyPr/>
                    <a:lstStyle/>
                    <a:p>
                      <a:pPr fontAlgn="ctr"/>
                      <a:r>
                        <a:rPr lang="en-US" sz="1200" b="1" dirty="0">
                          <a:effectLst/>
                        </a:rPr>
                        <a:t>Port-based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Frames are stored in queues that are linked to specific incoming and outgoing ports.</a:t>
                      </a:r>
                    </a:p>
                    <a:p>
                      <a:pPr fontAlgn="ctr">
                        <a:buFont typeface="Arial" panose="020B0604020202020204" pitchFamily="34" charset="0"/>
                        <a:buChar char="•"/>
                      </a:pPr>
                      <a:r>
                        <a:rPr lang="en-US" sz="1200" b="0" dirty="0">
                          <a:effectLst/>
                        </a:rPr>
                        <a:t>A frame is transmitted to the outgoing port only when all the frames ahead in the queue have been successfully transmitted.</a:t>
                      </a:r>
                    </a:p>
                    <a:p>
                      <a:pPr fontAlgn="ctr">
                        <a:buFont typeface="Arial" panose="020B0604020202020204" pitchFamily="34" charset="0"/>
                        <a:buChar char="•"/>
                      </a:pPr>
                      <a:r>
                        <a:rPr lang="en-US" sz="1200" b="0" dirty="0">
                          <a:effectLst/>
                        </a:rPr>
                        <a:t>It is possible for a single frame to delay the transmission of all the frames in memory because of a busy destination port.</a:t>
                      </a:r>
                    </a:p>
                    <a:p>
                      <a:pPr fontAlgn="ctr">
                        <a:buFont typeface="Arial" panose="020B0604020202020204" pitchFamily="34" charset="0"/>
                        <a:buChar char="•"/>
                      </a:pPr>
                      <a:r>
                        <a:rPr lang="en-US" sz="1200" b="0" dirty="0">
                          <a:effectLst/>
                        </a:rPr>
                        <a:t>This delay occurs even if the other frames could be transmitted to open destination ports.</a:t>
                      </a:r>
                    </a:p>
                  </a:txBody>
                  <a:tcPr marL="47625" marR="47625" marT="47625" marB="47625" anchor="ctr"/>
                </a:tc>
                <a:extLst>
                  <a:ext uri="{0D108BD9-81ED-4DB2-BD59-A6C34878D82A}">
                    <a16:rowId xmlns:a16="http://schemas.microsoft.com/office/drawing/2014/main" xmlns="" val="4000291324"/>
                  </a:ext>
                </a:extLst>
              </a:tr>
              <a:tr h="370840">
                <a:tc>
                  <a:txBody>
                    <a:bodyPr/>
                    <a:lstStyle/>
                    <a:p>
                      <a:pPr fontAlgn="ctr"/>
                      <a:r>
                        <a:rPr lang="en-US" sz="1200" b="1" dirty="0">
                          <a:effectLst/>
                        </a:rPr>
                        <a:t>Shared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Deposits all frames into a common memory buffer shared by all switch ports and the amount of buffer memory required by a port is dynamically allocated.</a:t>
                      </a:r>
                    </a:p>
                    <a:p>
                      <a:pPr fontAlgn="ctr">
                        <a:buFont typeface="Arial" panose="020B0604020202020204" pitchFamily="34" charset="0"/>
                        <a:buChar char="•"/>
                      </a:pPr>
                      <a:r>
                        <a:rPr lang="en-US" sz="1200" b="0" dirty="0">
                          <a:effectLst/>
                        </a:rPr>
                        <a:t>The frames in the buffer are dynamically linked to the destination port enabling a packet to be received on one port and then transmitted on another port, without moving it to a different queue.</a:t>
                      </a:r>
                    </a:p>
                  </a:txBody>
                  <a:tcPr marL="47625" marR="47625" marT="47625" marB="47625" anchor="ctr"/>
                </a:tc>
                <a:extLst>
                  <a:ext uri="{0D108BD9-81ED-4DB2-BD59-A6C34878D82A}">
                    <a16:rowId xmlns:a16="http://schemas.microsoft.com/office/drawing/2014/main" xmlns=""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Duplex and Speed Settings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1600" dirty="0">
              <a:solidFill>
                <a:srgbClr val="000000"/>
              </a:solidFill>
            </a:endParaRPr>
          </a:p>
          <a:p>
            <a:pPr marL="0" indent="0" algn="l"/>
            <a:r>
              <a:rPr lang="en-US" sz="1600" dirty="0">
                <a:solidFill>
                  <a:srgbClr val="000000"/>
                </a:solidFill>
              </a:rPr>
              <a:t>There are two types of duplex settings used for communications on an Ethernet network:</a:t>
            </a:r>
          </a:p>
          <a:p>
            <a:pPr marL="358835" lvl="1" indent="-285750">
              <a:buFont typeface="Arial" panose="020B0604020202020204" pitchFamily="34" charset="0"/>
              <a:buChar char="•"/>
            </a:pPr>
            <a:r>
              <a:rPr lang="en-US" sz="1600" b="1" dirty="0">
                <a:solidFill>
                  <a:srgbClr val="000000"/>
                </a:solidFill>
              </a:rPr>
              <a:t>Full-duplex</a:t>
            </a:r>
            <a:r>
              <a:rPr lang="en-US" sz="1600" dirty="0">
                <a:solidFill>
                  <a:srgbClr val="000000"/>
                </a:solidFill>
              </a:rPr>
              <a:t> - Both ends of the connection can send and receive simultaneously.</a:t>
            </a:r>
          </a:p>
          <a:p>
            <a:pPr marL="358835" lvl="1" indent="-285750">
              <a:buFont typeface="Arial" panose="020B0604020202020204" pitchFamily="34" charset="0"/>
              <a:buChar char="•"/>
            </a:pPr>
            <a:r>
              <a:rPr lang="en-US" sz="1600" b="1" dirty="0">
                <a:solidFill>
                  <a:srgbClr val="000000"/>
                </a:solidFill>
              </a:rPr>
              <a:t>Half-duplex</a:t>
            </a:r>
            <a:r>
              <a:rPr lang="en-US" sz="1600" dirty="0">
                <a:solidFill>
                  <a:srgbClr val="000000"/>
                </a:solidFill>
              </a:rPr>
              <a:t> - Only one end of the connection can send at a time.</a:t>
            </a:r>
          </a:p>
          <a:p>
            <a:pPr marL="0" indent="0" algn="l"/>
            <a:endParaRPr lang="en-US" sz="1600" dirty="0">
              <a:solidFill>
                <a:srgbClr val="000000"/>
              </a:solidFill>
            </a:endParaRPr>
          </a:p>
          <a:p>
            <a:pPr marL="0" indent="0" algn="l"/>
            <a:r>
              <a:rPr lang="en-US" sz="1600"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Gigabit Ethernet ports only operate in full-duplex.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Duplex and Speed Settings</a:t>
            </a:r>
          </a:p>
        </p:txBody>
      </p:sp>
      <p:sp>
        <p:nvSpPr>
          <p:cNvPr id="5" name="Content Placeholder 4">
            <a:extLst>
              <a:ext uri="{FF2B5EF4-FFF2-40B4-BE49-F238E27FC236}">
                <a16:creationId xmlns:a16="http://schemas.microsoft.com/office/drawing/2014/main" xmlns="" id="{EAF5B935-3345-4044-9B1C-FFAA3841A95F}"/>
              </a:ext>
            </a:extLst>
          </p:cNvPr>
          <p:cNvSpPr>
            <a:spLocks noGrp="1"/>
          </p:cNvSpPr>
          <p:nvPr>
            <p:ph idx="1"/>
          </p:nvPr>
        </p:nvSpPr>
        <p:spPr>
          <a:xfrm>
            <a:off x="474662" y="763736"/>
            <a:ext cx="8280057" cy="2140258"/>
          </a:xfrm>
        </p:spPr>
        <p:txBody>
          <a:bodyPr/>
          <a:lstStyle/>
          <a:p>
            <a:pPr marL="342900" indent="-342900" algn="l">
              <a:buFont typeface="Arial" panose="020B0604020202020204" pitchFamily="34" charset="0"/>
              <a:buChar char="•"/>
            </a:pPr>
            <a:r>
              <a:rPr lang="en-US" sz="1600" dirty="0">
                <a:solidFill>
                  <a:srgbClr val="000000"/>
                </a:solidFill>
              </a:rPr>
              <a:t>Duplex mismatch is one of the most common causes of performance issues on 10/100 Mbps Ethernet links. It occurs when one port on the link operates at half-duplex while the other port operates at full-duplex.</a:t>
            </a:r>
          </a:p>
          <a:p>
            <a:pPr marL="342900" indent="-342900" algn="l">
              <a:buFont typeface="Arial" panose="020B0604020202020204" pitchFamily="34" charset="0"/>
              <a:buChar char="•"/>
            </a:pPr>
            <a:r>
              <a:rPr lang="en-US" sz="1600" dirty="0">
                <a:solidFill>
                  <a:srgbClr val="000000"/>
                </a:solidFill>
              </a:rPr>
              <a:t>This can occur when one or both ports on a link are reset, and the autonegotiation process does not result in both link partners having the same configuration. </a:t>
            </a:r>
          </a:p>
          <a:p>
            <a:pPr marL="342900" indent="-342900" algn="l">
              <a:buFont typeface="Arial" panose="020B0604020202020204" pitchFamily="34" charset="0"/>
              <a:buChar char="•"/>
            </a:pPr>
            <a:r>
              <a:rPr lang="en-US" sz="1600"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xmlns="" id="{E391F5F5-84B2-074A-ADD6-27895E0506BE}"/>
              </a:ext>
            </a:extLst>
          </p:cNvPr>
          <p:cNvPicPr>
            <a:picLocks noChangeAspect="1"/>
          </p:cNvPicPr>
          <p:nvPr/>
        </p:nvPicPr>
        <p:blipFill>
          <a:blip r:embed="rId3"/>
          <a:stretch>
            <a:fillRect/>
          </a:stretch>
        </p:blipFill>
        <p:spPr>
          <a:xfrm>
            <a:off x="1210704" y="2989719"/>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Auto-MDIX</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1600" b="1" dirty="0">
                <a:solidFill>
                  <a:srgbClr val="000000"/>
                </a:solidFill>
              </a:rPr>
              <a:t>Note</a:t>
            </a:r>
            <a:r>
              <a:rPr lang="en-US" sz="1600" dirty="0">
                <a:solidFill>
                  <a:srgbClr val="000000"/>
                </a:solidFill>
              </a:rPr>
              <a:t>: A direct connection between a router and a host requires a cross-over connection.</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285750" indent="-285750" algn="l">
              <a:buFont typeface="Arial" panose="020B0604020202020204" pitchFamily="34" charset="0"/>
              <a:buChar char="•"/>
            </a:pPr>
            <a:r>
              <a:rPr lang="en-US" sz="16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285750" indent="-285750" algn="l">
              <a:buFont typeface="Arial" panose="020B0604020202020204" pitchFamily="34" charset="0"/>
              <a:buChar char="•"/>
            </a:pPr>
            <a:r>
              <a:rPr lang="en-US" sz="1600" dirty="0">
                <a:solidFill>
                  <a:srgbClr val="000000"/>
                </a:solidFill>
              </a:rPr>
              <a:t>Auto-MDIX can be re-enabled using the </a:t>
            </a:r>
            <a:r>
              <a:rPr lang="en-US" sz="1600" b="1" dirty="0">
                <a:solidFill>
                  <a:srgbClr val="000000"/>
                </a:solidFill>
              </a:rPr>
              <a:t>mdix auto</a:t>
            </a:r>
            <a:r>
              <a:rPr lang="en-US" sz="1600" dirty="0">
                <a:solidFill>
                  <a:srgbClr val="000000"/>
                </a:solidFill>
              </a:rPr>
              <a:t> interface configuration command.</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xmlns=""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Ethernet operates in the data link layer and the physical layer. Ethernet standards define both the Layer 2 protocols and the Layer 1 technologies. </a:t>
            </a:r>
          </a:p>
          <a:p>
            <a:pPr>
              <a:spcBef>
                <a:spcPts val="0"/>
              </a:spcBef>
              <a:spcAft>
                <a:spcPts val="0"/>
              </a:spcAft>
              <a:buFont typeface="Arial" panose="020B0604020202020204" pitchFamily="34" charset="0"/>
              <a:buChar char="•"/>
            </a:pPr>
            <a:r>
              <a:rPr lang="en-US" sz="1600" dirty="0"/>
              <a:t>Ethernet uses the LLC and MAC sublayers of the data link layer to operate. </a:t>
            </a:r>
          </a:p>
          <a:p>
            <a:pPr>
              <a:spcBef>
                <a:spcPts val="0"/>
              </a:spcBef>
              <a:spcAft>
                <a:spcPts val="0"/>
              </a:spcAft>
              <a:buFont typeface="Arial" panose="020B0604020202020204" pitchFamily="34" charset="0"/>
              <a:buChar char="•"/>
            </a:pPr>
            <a:r>
              <a:rPr lang="en-US" sz="1600" dirty="0"/>
              <a:t>The Ethernet frame fields are: preamble and start frame delimiter, destination MAC address, source MAC address, EtherType, data, and FCS.</a:t>
            </a:r>
          </a:p>
          <a:p>
            <a:pPr>
              <a:spcBef>
                <a:spcPts val="0"/>
              </a:spcBef>
              <a:spcAft>
                <a:spcPts val="0"/>
              </a:spcAft>
              <a:buFont typeface="Arial" panose="020B0604020202020204" pitchFamily="34" charset="0"/>
              <a:buChar char="•"/>
            </a:pPr>
            <a:r>
              <a:rPr lang="en-US" sz="1600" dirty="0"/>
              <a:t>MAC addressing provides a method for device identification at the data link layer of the OSI model. </a:t>
            </a:r>
          </a:p>
          <a:p>
            <a:pPr>
              <a:spcBef>
                <a:spcPts val="0"/>
              </a:spcBef>
              <a:spcAft>
                <a:spcPts val="0"/>
              </a:spcAft>
              <a:buFont typeface="Arial" panose="020B0604020202020204" pitchFamily="34" charset="0"/>
              <a:buChar char="•"/>
            </a:pPr>
            <a:r>
              <a:rPr lang="en-US" sz="1600" dirty="0"/>
              <a:t>An Ethernet MAC address is a 48-bit address expressed using 12 hexadecimal digits, or 6 bytes. </a:t>
            </a:r>
          </a:p>
          <a:p>
            <a:pPr>
              <a:spcBef>
                <a:spcPts val="0"/>
              </a:spcBef>
              <a:spcAft>
                <a:spcPts val="0"/>
              </a:spcAft>
              <a:buFont typeface="Arial" panose="020B0604020202020204" pitchFamily="34" charset="0"/>
              <a:buChar char="•"/>
            </a:pPr>
            <a:r>
              <a:rPr lang="en-US" sz="1600" dirty="0"/>
              <a:t>When a device is forwarding a message to an Ethernet network, the Ethernet header includes the source and destination MAC addresses. In Ethernet, different MAC addresses are used for Layer 2 unicast, broadcast, and multicast communications.</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(Contd.)</a:t>
            </a:r>
          </a:p>
        </p:txBody>
      </p:sp>
      <p:sp>
        <p:nvSpPr>
          <p:cNvPr id="3" name="Content Placeholder 2">
            <a:extLst>
              <a:ext uri="{FF2B5EF4-FFF2-40B4-BE49-F238E27FC236}">
                <a16:creationId xmlns:a16="http://schemas.microsoft.com/office/drawing/2014/main" xmlns=""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Layer 2 Ethernet switch makes its forwarding decisions based solely on the Layer 2 Ethernet MAC addresses. </a:t>
            </a:r>
          </a:p>
          <a:p>
            <a:pPr>
              <a:spcBef>
                <a:spcPts val="0"/>
              </a:spcBef>
              <a:spcAft>
                <a:spcPts val="0"/>
              </a:spcAft>
              <a:buFont typeface="Arial" panose="020B0604020202020204" pitchFamily="34" charset="0"/>
              <a:buChar char="•"/>
            </a:pPr>
            <a:r>
              <a:rPr lang="en-US" sz="1600" dirty="0"/>
              <a:t>The switch dynamically builds the MAC address table by examining the source MAC address of the frames received on a port. </a:t>
            </a:r>
          </a:p>
          <a:p>
            <a:pPr>
              <a:spcBef>
                <a:spcPts val="0"/>
              </a:spcBef>
              <a:spcAft>
                <a:spcPts val="0"/>
              </a:spcAft>
              <a:buFont typeface="Arial" panose="020B0604020202020204" pitchFamily="34" charset="0"/>
              <a:buChar char="•"/>
            </a:pPr>
            <a:r>
              <a:rPr lang="en-US" sz="1600" dirty="0"/>
              <a:t>The switch forwards frames by searching for a match between the destination MAC address in the frame and an entry in the MAC address table. </a:t>
            </a:r>
          </a:p>
          <a:p>
            <a:pPr>
              <a:spcBef>
                <a:spcPts val="0"/>
              </a:spcBef>
              <a:spcAft>
                <a:spcPts val="0"/>
              </a:spcAft>
              <a:buFont typeface="Arial" panose="020B0604020202020204" pitchFamily="34" charset="0"/>
              <a:buChar char="•"/>
            </a:pPr>
            <a:r>
              <a:rPr lang="en-US" sz="1600" dirty="0"/>
              <a:t>Switches use one of the following forwarding methods for switching data between network ports: store-and-forward switching or cut-through switching. Two variants of cut-through switching are fast-forward and fragment-free. </a:t>
            </a:r>
          </a:p>
          <a:p>
            <a:pPr>
              <a:spcBef>
                <a:spcPts val="0"/>
              </a:spcBef>
              <a:spcAft>
                <a:spcPts val="0"/>
              </a:spcAft>
              <a:buFont typeface="Arial" panose="020B0604020202020204" pitchFamily="34" charset="0"/>
              <a:buChar char="•"/>
            </a:pPr>
            <a:r>
              <a:rPr lang="en-US" sz="1600" dirty="0"/>
              <a:t>Two methods of memory buffering are port-based memory and shared memory. </a:t>
            </a:r>
          </a:p>
          <a:p>
            <a:pPr>
              <a:spcBef>
                <a:spcPts val="0"/>
              </a:spcBef>
              <a:spcAft>
                <a:spcPts val="0"/>
              </a:spcAft>
              <a:buFont typeface="Arial" panose="020B0604020202020204" pitchFamily="34" charset="0"/>
              <a:buChar char="•"/>
            </a:pPr>
            <a:r>
              <a:rPr lang="en-US" sz="1600" dirty="0"/>
              <a:t>There are two types of duplex settings used for communications on an Ethernet network: full-duplex and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7: Ethernet Switching</a:t>
            </a:r>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xmlns="" id="{C3353614-7F17-DC4C-A95A-616BC6DF8431}"/>
              </a:ext>
            </a:extLst>
          </p:cNvPr>
          <p:cNvSpPr>
            <a:spLocks noGrp="1"/>
          </p:cNvSpPr>
          <p:nvPr>
            <p:ph idx="1"/>
          </p:nvPr>
        </p:nvSpPr>
        <p:spPr/>
        <p:txBody>
          <a:bodyPr/>
          <a:lstStyle/>
          <a:p>
            <a:pPr>
              <a:buFont typeface="Arial" panose="020B0604020202020204" pitchFamily="34" charset="0"/>
              <a:buChar char="•"/>
            </a:pPr>
            <a:r>
              <a:rPr lang="en-US" sz="1600" dirty="0"/>
              <a:t>Store-and-Forward Switching</a:t>
            </a:r>
          </a:p>
          <a:p>
            <a:pPr>
              <a:buFont typeface="Arial" panose="020B0604020202020204" pitchFamily="34" charset="0"/>
              <a:buChar char="•"/>
            </a:pPr>
            <a:r>
              <a:rPr lang="en-US" sz="1600" dirty="0"/>
              <a:t>Cut-through Switching</a:t>
            </a:r>
          </a:p>
          <a:p>
            <a:pPr>
              <a:buFont typeface="Arial" panose="020B0604020202020204" pitchFamily="34" charset="0"/>
              <a:buChar char="•"/>
            </a:pPr>
            <a:r>
              <a:rPr lang="en-US" sz="1600" dirty="0"/>
              <a:t>Fast-Forward Switching</a:t>
            </a:r>
          </a:p>
          <a:p>
            <a:pPr>
              <a:buFont typeface="Arial" panose="020B0604020202020204" pitchFamily="34" charset="0"/>
              <a:buChar char="•"/>
            </a:pPr>
            <a:r>
              <a:rPr lang="en-US" sz="1600" dirty="0"/>
              <a:t>Fragment-free Switching</a:t>
            </a:r>
          </a:p>
          <a:p>
            <a:pPr>
              <a:buFont typeface="Arial" panose="020B0604020202020204" pitchFamily="34" charset="0"/>
              <a:buChar char="•"/>
            </a:pPr>
            <a:r>
              <a:rPr lang="en-US" sz="1600" dirty="0"/>
              <a:t>OUI (Organizationally Unique Identifier)</a:t>
            </a:r>
          </a:p>
          <a:p>
            <a:pPr>
              <a:buFont typeface="Arial" panose="020B0604020202020204" pitchFamily="34" charset="0"/>
              <a:buChar char="•"/>
            </a:pPr>
            <a:r>
              <a:rPr lang="en-US" sz="1600" dirty="0"/>
              <a:t>ARP (Address Resolution Protocol)</a:t>
            </a:r>
          </a:p>
          <a:p>
            <a:pPr>
              <a:buFont typeface="Arial" panose="020B0604020202020204" pitchFamily="34" charset="0"/>
              <a:buChar char="•"/>
            </a:pPr>
            <a:r>
              <a:rPr lang="en-US" sz="1600" dirty="0"/>
              <a:t>ND (Neighbor Discovery)</a:t>
            </a:r>
          </a:p>
          <a:p>
            <a:pPr>
              <a:buFont typeface="Arial" panose="020B0604020202020204" pitchFamily="34" charset="0"/>
              <a:buChar char="•"/>
            </a:pPr>
            <a:r>
              <a:rPr lang="en-US" sz="1600" dirty="0"/>
              <a:t>Port-based memory</a:t>
            </a:r>
          </a:p>
          <a:p>
            <a:pPr>
              <a:buFont typeface="Arial" panose="020B0604020202020204" pitchFamily="34" charset="0"/>
              <a:buChar char="•"/>
            </a:pPr>
            <a:r>
              <a:rPr lang="en-US" sz="1600" dirty="0"/>
              <a:t>Shared memory</a:t>
            </a:r>
          </a:p>
          <a:p>
            <a:pPr>
              <a:buFont typeface="Arial" panose="020B0604020202020204" pitchFamily="34" charset="0"/>
              <a:buChar char="•"/>
            </a:pPr>
            <a:r>
              <a:rPr lang="en-US" sz="1600" dirty="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7721</TotalTime>
  <Words>3402</Words>
  <Application>Microsoft Office PowerPoint</Application>
  <PresentationFormat>On-screen Show (16:9)</PresentationFormat>
  <Paragraphs>340</Paragraphs>
  <Slides>37</Slides>
  <Notes>37</Notes>
  <HiddenSlides>1</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Default Theme</vt:lpstr>
      <vt:lpstr>Module 7: Ethernet Switching</vt:lpstr>
      <vt:lpstr>Module Objectives</vt:lpstr>
      <vt:lpstr>7.1 Ethernet Frames</vt:lpstr>
      <vt:lpstr>Ethernet Frames Ethernet Encapsulation</vt:lpstr>
      <vt:lpstr>Ethernet Frames Data Link Sublayers</vt:lpstr>
      <vt:lpstr>Ethernet Frames MAC Sublayer</vt:lpstr>
      <vt:lpstr>Ethernet Frames MAC Sublayer</vt:lpstr>
      <vt:lpstr>Ethernet Frames Ethernet Frame Fields</vt:lpstr>
      <vt:lpstr>Ethernet Frames Lab – Use Wireshark to Examine Ethernet Frames</vt:lpstr>
      <vt:lpstr>7.2 Ethernet MAC Address</vt:lpstr>
      <vt:lpstr>Ethernet MAC Addresses MAC Address and Hexadecimal</vt:lpstr>
      <vt:lpstr>Ethernet MAC Addresses Ethernet MAC Address</vt:lpstr>
      <vt:lpstr>Ethernet MAC Addresses Frame Processing</vt:lpstr>
      <vt:lpstr>Ethernet MAC Addresses Unicast MAC Address</vt:lpstr>
      <vt:lpstr>Ethernet MAC Addresses Broadcast MAC Address</vt:lpstr>
      <vt:lpstr>Ethernet MAC Addresses Multicast MAC Address</vt:lpstr>
      <vt:lpstr>Ethernet MAC Addresses Lab – View Network Device MAC Addresses</vt:lpstr>
      <vt:lpstr>7.3 The MAC Address Table</vt:lpstr>
      <vt:lpstr>The MAC Address Table Switch Fundamentals</vt:lpstr>
      <vt:lpstr>The MAC Address Table Switch Learning and Forwarding</vt:lpstr>
      <vt:lpstr>The MAC Address Table Switch Learning and Forwarding (Contd.)</vt:lpstr>
      <vt:lpstr>The MAC Address Table Filtering Frames</vt:lpstr>
      <vt:lpstr>The MAC Address Table Video – MAC Address Tables on Connected Switches</vt:lpstr>
      <vt:lpstr>The MAC Address Table Video – Sending the Frame to the Default Gateway</vt:lpstr>
      <vt:lpstr>The MAC Address Table Lab – View the Switch MAC Address Table</vt:lpstr>
      <vt:lpstr>7.4 Switch Speeds and Forwarding Methods</vt:lpstr>
      <vt:lpstr>Switch Speeds and Forwarding Methods Frame Forwarding Methods on Cisco Switches</vt:lpstr>
      <vt:lpstr>Switch Speeds and Forwarding Methods Cut-Through Switching</vt:lpstr>
      <vt:lpstr>Switch Speeds and Forwarding Methods Memory Buffering on Switches</vt:lpstr>
      <vt:lpstr>Switch Speeds and Forwarding Methods Duplex and Speed Settings</vt:lpstr>
      <vt:lpstr>Switch Speeds and Forwarding Methods Duplex and Speed Settings</vt:lpstr>
      <vt:lpstr>Switch Speeds and Forwarding Methods Auto-MDIX</vt:lpstr>
      <vt:lpstr>7.5 Module Practice and Quiz</vt:lpstr>
      <vt:lpstr>Module Practice and Quiz What did I learn in this module?</vt:lpstr>
      <vt:lpstr>Module Practice and Quiz What did I learn in this module? (Contd.)</vt:lpstr>
      <vt:lpstr>Module 7: Ethernet Switching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222</cp:revision>
  <dcterms:created xsi:type="dcterms:W3CDTF">2019-10-18T06:21:22Z</dcterms:created>
  <dcterms:modified xsi:type="dcterms:W3CDTF">2020-12-21T02:59:02Z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