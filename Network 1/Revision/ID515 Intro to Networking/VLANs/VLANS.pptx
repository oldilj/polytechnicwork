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13"/>
  </p:notesMasterIdLst>
  <p:sldIdLst>
    <p:sldId id="876" r:id="rId2"/>
    <p:sldId id="628" r:id="rId3"/>
    <p:sldId id="926" r:id="rId4"/>
    <p:sldId id="1070" r:id="rId5"/>
    <p:sldId id="1071" r:id="rId6"/>
    <p:sldId id="886" r:id="rId7"/>
    <p:sldId id="1074" r:id="rId8"/>
    <p:sldId id="1075" r:id="rId9"/>
    <p:sldId id="1076" r:id="rId10"/>
    <p:sldId id="1139" r:id="rId11"/>
    <p:sldId id="1140" r:id="rId12"/>
  </p:sldIdLst>
  <p:sldSz cx="9144000" cy="5143500" type="screen16x9"/>
  <p:notesSz cx="6858000" cy="9144000"/>
  <p:custDataLst>
    <p:tags r:id="rId14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35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85B"/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13" autoAdjust="0"/>
    <p:restoredTop sz="84965" autoAdjust="0"/>
  </p:normalViewPr>
  <p:slideViewPr>
    <p:cSldViewPr snapToGrid="0" showGuides="1">
      <p:cViewPr varScale="1">
        <p:scale>
          <a:sx n="107" d="100"/>
          <a:sy n="107" d="100"/>
        </p:scale>
        <p:origin x="1500" y="96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5/14/2024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Switching, Routing, and Wireless Essentials v7.0 (SRWE)</a:t>
            </a:r>
          </a:p>
          <a:p>
            <a:pPr>
              <a:buFontTx/>
              <a:buNone/>
            </a:pPr>
            <a:r>
              <a:rPr lang="en-US" sz="1200" b="0" dirty="0"/>
              <a:t>Module 3: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3.1 – Overview</a:t>
            </a:r>
            <a:r>
              <a:rPr lang="en-US" sz="1200" b="0" baseline="0" dirty="0"/>
              <a:t> of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3.1.1 –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en-US" dirty="0"/>
              <a:t>VLAN Definitions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3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3.1 – Overview</a:t>
            </a:r>
            <a:r>
              <a:rPr lang="en-US" sz="1200" b="0" baseline="0" dirty="0"/>
              <a:t> of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3.1.2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</a:t>
            </a:r>
            <a:r>
              <a:rPr lang="en-US" altLang="en-US" dirty="0"/>
              <a:t>  Benefits of a VLAN Design</a:t>
            </a:r>
            <a:endParaRPr lang="en-US" baseline="0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4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 in a Multi-Switched Environment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 Networks without VLANs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5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 in a Multi-Switched Environment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3.2.3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Networks with VLANs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3.3.3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VLAN Creation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3.3.4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VLAN Port Assignment Commands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3.3.5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VLAN Port Assignment Example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3.3.9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Change VLAN Port Membership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3.3.10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Delete VLANs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3.3.11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Syntax Checker – VLAN Configuration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dirty="0"/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91366" y="2125682"/>
            <a:ext cx="7237590" cy="1270941"/>
          </a:xfrm>
        </p:spPr>
        <p:txBody>
          <a:bodyPr/>
          <a:lstStyle/>
          <a:p>
            <a:r>
              <a:rPr lang="en-US" sz="4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  <a:endParaRPr lang="en-US" sz="46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4210545" cy="789880"/>
          </a:xfrm>
        </p:spPr>
        <p:txBody>
          <a:bodyPr/>
          <a:lstStyle/>
          <a:p>
            <a:r>
              <a:rPr lang="en-US" altLang="en-US" sz="1600" dirty="0"/>
              <a:t>Overview of VLANs</a:t>
            </a:r>
            <a:br>
              <a:rPr lang="en-US" altLang="en-US" dirty="0"/>
            </a:br>
            <a:r>
              <a:rPr lang="en-US" altLang="en-US" dirty="0"/>
              <a:t>VLAN Definitions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10546" y="605969"/>
            <a:ext cx="4767079" cy="4112335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VLANs are logical connections with other similar devices.</a:t>
            </a:r>
          </a:p>
          <a:p>
            <a:pPr marL="0" indent="0">
              <a:buNone/>
            </a:pPr>
            <a:r>
              <a:rPr lang="en-US" sz="1600" dirty="0"/>
              <a:t>Placing devices into various VLANs have the following characteristics: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Provides segmentation of the various groups of devices on the same switches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Provide organization that is more manageable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/>
              <a:t>Broadcasts, multicasts and unicasts are isolated in the individual VLAN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/>
              <a:t>Each VLAN will have its own unique range of IP addressing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/>
              <a:t>Smaller broadcast domains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71" y="1326642"/>
            <a:ext cx="4033875" cy="250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247823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4030162" cy="690127"/>
          </a:xfrm>
        </p:spPr>
        <p:txBody>
          <a:bodyPr/>
          <a:lstStyle/>
          <a:p>
            <a:r>
              <a:rPr lang="en-US" altLang="en-US" sz="1600" dirty="0"/>
              <a:t>Overview of VLANs</a:t>
            </a:r>
            <a:br>
              <a:rPr lang="en-US" altLang="en-US" dirty="0"/>
            </a:br>
            <a:r>
              <a:rPr lang="en-US" altLang="en-US" dirty="0"/>
              <a:t>Benefits of a VLAN Design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0" y="1273183"/>
            <a:ext cx="3761591" cy="458613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Benefits of using VLANs are as follows: </a:t>
            </a:r>
            <a:endParaRPr lang="en-US" dirty="0">
              <a:effectLst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737953"/>
              </p:ext>
            </p:extLst>
          </p:nvPr>
        </p:nvGraphicFramePr>
        <p:xfrm>
          <a:off x="448056" y="2029967"/>
          <a:ext cx="8046720" cy="279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5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590">
                <a:tc>
                  <a:txBody>
                    <a:bodyPr/>
                    <a:lstStyle/>
                    <a:p>
                      <a:r>
                        <a:rPr lang="en-US" dirty="0"/>
                        <a:t>Benefits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69">
                <a:tc>
                  <a:txBody>
                    <a:bodyPr/>
                    <a:lstStyle/>
                    <a:p>
                      <a:r>
                        <a:rPr lang="en-US" dirty="0"/>
                        <a:t>Smaller Broadcast</a:t>
                      </a:r>
                      <a:r>
                        <a:rPr lang="en-US" baseline="0" dirty="0"/>
                        <a:t> Domains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Dividing</a:t>
                      </a:r>
                      <a:r>
                        <a:rPr lang="en-US" baseline="0" dirty="0"/>
                        <a:t> the LAN reduces the number of broadcast domains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lang="en-US" dirty="0"/>
                        <a:t>Improved</a:t>
                      </a:r>
                      <a:r>
                        <a:rPr lang="en-US" baseline="0" dirty="0"/>
                        <a:t> Security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users</a:t>
                      </a:r>
                      <a:r>
                        <a:rPr lang="en-US" baseline="0" dirty="0"/>
                        <a:t> in the same VLAN can communicate together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lang="en-US" dirty="0"/>
                        <a:t>Improved IT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VLANs can group devices with similar requirements, e.g. faculty vs.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590">
                <a:tc>
                  <a:txBody>
                    <a:bodyPr/>
                    <a:lstStyle/>
                    <a:p>
                      <a:r>
                        <a:rPr lang="en-US" dirty="0"/>
                        <a:t>Reduced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</a:t>
                      </a:r>
                      <a:r>
                        <a:rPr lang="en-US" baseline="0" dirty="0"/>
                        <a:t> switch can support multiple groups or VLANs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lang="en-US" dirty="0"/>
                        <a:t>Better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 broadcast domains</a:t>
                      </a:r>
                      <a:r>
                        <a:rPr lang="en-US" baseline="0" dirty="0"/>
                        <a:t> reduce traffic, improving bandwidth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604">
                <a:tc>
                  <a:txBody>
                    <a:bodyPr/>
                    <a:lstStyle/>
                    <a:p>
                      <a:r>
                        <a:rPr lang="en-US" dirty="0"/>
                        <a:t>Simpler</a:t>
                      </a:r>
                      <a:r>
                        <a:rPr lang="en-US" baseline="0" dirty="0"/>
                        <a:t> Management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Similar groups will need similar applications</a:t>
                      </a:r>
                      <a:r>
                        <a:rPr lang="en-US" baseline="0" dirty="0"/>
                        <a:t> and other network resources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311" y="73152"/>
            <a:ext cx="4030162" cy="1819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921276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9011652" cy="757551"/>
          </a:xfrm>
        </p:spPr>
        <p:txBody>
          <a:bodyPr/>
          <a:lstStyle/>
          <a:p>
            <a:r>
              <a:rPr lang="en-US" altLang="en-US" sz="1600" dirty="0"/>
              <a:t>VLANs in a Multi-Switched Environment</a:t>
            </a:r>
            <a:br>
              <a:rPr lang="en-US" altLang="en-US" dirty="0"/>
            </a:br>
            <a:r>
              <a:rPr lang="en-US" altLang="en-US" dirty="0"/>
              <a:t>Networks without VLANs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61256" y="856343"/>
            <a:ext cx="8526128" cy="755889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Without VLANs, all devices connected to the switches will receive all unicast, multicast, and broadcast traffic.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985" y="1923401"/>
            <a:ext cx="4637831" cy="2785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3112685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3"/>
            <a:ext cx="4688113" cy="829464"/>
          </a:xfrm>
        </p:spPr>
        <p:txBody>
          <a:bodyPr/>
          <a:lstStyle/>
          <a:p>
            <a:r>
              <a:rPr lang="en-US" altLang="en-US" sz="1600" dirty="0"/>
              <a:t>VLANs in a Multi-Switched Environment</a:t>
            </a:r>
            <a:br>
              <a:rPr lang="en-US" altLang="en-US" dirty="0"/>
            </a:br>
            <a:r>
              <a:rPr lang="en-US" altLang="en-US" dirty="0"/>
              <a:t>Networks with VLANs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03200" y="986971"/>
            <a:ext cx="8712199" cy="768677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With VLANs, unicast, multicast, and broadcast traffic is confined to a VLAN. Without a Layer 3 device to connect the VLANs, devices in different VLANs cannot communicate.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89" y="1709928"/>
            <a:ext cx="5231599" cy="2932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414468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3.3 VLAN Configuration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98543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4553711" cy="757551"/>
          </a:xfrm>
        </p:spPr>
        <p:txBody>
          <a:bodyPr/>
          <a:lstStyle/>
          <a:p>
            <a:r>
              <a:rPr lang="en-US" altLang="en-US" sz="1600" dirty="0"/>
              <a:t>VLAN Configuration</a:t>
            </a:r>
            <a:br>
              <a:rPr lang="en-US" altLang="en-US" dirty="0"/>
            </a:br>
            <a:r>
              <a:rPr lang="en-US" altLang="en-US" dirty="0"/>
              <a:t>VLAN Creation Example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61788" y="1401347"/>
            <a:ext cx="4416684" cy="193926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If the Student PC is going to be in VLAN 20, we will create the VLAN first and then name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If you do not name it, the Cisco IOS will give it a default name of vlan and the four digit number of the VLAN. E.g. vlan0020 for VLAN 20.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636462"/>
              </p:ext>
            </p:extLst>
          </p:nvPr>
        </p:nvGraphicFramePr>
        <p:xfrm>
          <a:off x="4791360" y="2667380"/>
          <a:ext cx="389543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Configure terminal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S1(config)#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vlan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S1(config-vlan)#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 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S1(config-vlan)#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8" y="109727"/>
            <a:ext cx="4533448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272515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VLAN Configuration</a:t>
            </a:r>
            <a:br>
              <a:rPr lang="en-US" altLang="en-US" dirty="0"/>
            </a:br>
            <a:r>
              <a:rPr lang="en-US" altLang="en-US" dirty="0"/>
              <a:t>VLAN Port Assignment Commands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76260" y="896522"/>
            <a:ext cx="8583692" cy="596998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Once the VLAN is created, we can then assign it to the correct interfaces.</a:t>
            </a:r>
          </a:p>
          <a:p>
            <a:pPr lvl="1"/>
            <a:endParaRPr lang="en-CA" alt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011380"/>
              </p:ext>
            </p:extLst>
          </p:nvPr>
        </p:nvGraphicFramePr>
        <p:xfrm>
          <a:off x="283464" y="1838198"/>
          <a:ext cx="847648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8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Task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Enter global configuration mode.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/>
                        <a:t>Switch# </a:t>
                      </a:r>
                      <a:r>
                        <a:rPr lang="en-US" b="1" dirty="0"/>
                        <a:t>configure terminal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Enter interface configuration mode.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/>
                        <a:t>Switch(config)# </a:t>
                      </a:r>
                      <a:r>
                        <a:rPr lang="en-US" b="1" dirty="0"/>
                        <a:t>interface </a:t>
                      </a:r>
                      <a:r>
                        <a:rPr lang="en-US" i="1" dirty="0"/>
                        <a:t>interface-id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Set the port to access mode.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/>
                        <a:t>Switch(config-if)# </a:t>
                      </a:r>
                      <a:r>
                        <a:rPr lang="en-US" b="1" dirty="0"/>
                        <a:t>switchport mode access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Assign the port to a VLAN.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/>
                        <a:t>Switch(config-if)# </a:t>
                      </a:r>
                      <a:r>
                        <a:rPr lang="en-US" b="1" dirty="0"/>
                        <a:t>switchport access vlan</a:t>
                      </a:r>
                      <a:r>
                        <a:rPr lang="en-US" dirty="0"/>
                        <a:t> </a:t>
                      </a:r>
                      <a:r>
                        <a:rPr lang="en-US" i="1" dirty="0"/>
                        <a:t>vlan-id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Return to the privileged EXEC mode.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Switch(config-if)# </a:t>
                      </a:r>
                      <a:r>
                        <a:rPr lang="en-US" b="1" dirty="0"/>
                        <a:t>end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04138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VLAN Configuration</a:t>
            </a:r>
            <a:br>
              <a:rPr lang="en-US" altLang="en-US" dirty="0"/>
            </a:br>
            <a:r>
              <a:rPr lang="en-US" altLang="en-US" dirty="0"/>
              <a:t>VLAN Port Assignment Example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4361340" cy="2942054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dirty="0"/>
              <a:t>We can assign the VLAN to the port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800" dirty="0"/>
              <a:t>Once the device is assigned the VLAN, then the end device will need the IP address information for that VLAN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800" dirty="0"/>
              <a:t>Here, Student PC receives 172.17.20.22</a:t>
            </a:r>
            <a:endParaRPr lang="en-CA" altLang="en-US" sz="18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620947"/>
              </p:ext>
            </p:extLst>
          </p:nvPr>
        </p:nvGraphicFramePr>
        <p:xfrm>
          <a:off x="4572000" y="2546550"/>
          <a:ext cx="427577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Configure terminal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S1(config)#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Interface</a:t>
                      </a:r>
                      <a:r>
                        <a:rPr lang="en-US" sz="1600" baseline="0" dirty="0"/>
                        <a:t> fa0/18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S1(config-if)#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Switchport mode</a:t>
                      </a:r>
                      <a:r>
                        <a:rPr lang="en-US" sz="1600" baseline="0" dirty="0"/>
                        <a:t> access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S1(config-if)#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Switchport</a:t>
                      </a:r>
                      <a:r>
                        <a:rPr lang="en-US" sz="1600" baseline="0" dirty="0"/>
                        <a:t> access vlan 20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S1(config-if)#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858" y="146304"/>
            <a:ext cx="3914211" cy="2295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275253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4604517" cy="757551"/>
          </a:xfrm>
        </p:spPr>
        <p:txBody>
          <a:bodyPr/>
          <a:lstStyle/>
          <a:p>
            <a:r>
              <a:rPr lang="en-US" altLang="en-US" sz="1600" dirty="0"/>
              <a:t>VLAN Configuration</a:t>
            </a:r>
            <a:br>
              <a:rPr lang="en-US" altLang="en-US" dirty="0"/>
            </a:br>
            <a:r>
              <a:rPr lang="en-US" altLang="en-US" dirty="0"/>
              <a:t>Change VLAN Port Membership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1589" y="1062680"/>
            <a:ext cx="4361340" cy="2890238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There are a number of ways to change VLAN membership: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1600" dirty="0"/>
              <a:t>re-enter </a:t>
            </a:r>
            <a:r>
              <a:rPr lang="en-US" sz="1600" b="1" dirty="0"/>
              <a:t>switchport access vlan</a:t>
            </a:r>
            <a:r>
              <a:rPr lang="en-US" sz="1600" dirty="0"/>
              <a:t> </a:t>
            </a:r>
            <a:r>
              <a:rPr lang="en-US" sz="1600" i="1" dirty="0"/>
              <a:t>vlan-id </a:t>
            </a:r>
            <a:r>
              <a:rPr lang="en-US" sz="1600" dirty="0"/>
              <a:t>command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 the </a:t>
            </a:r>
            <a:r>
              <a:rPr lang="en-US" sz="1600" b="1" dirty="0"/>
              <a:t>no switchport access vlan </a:t>
            </a:r>
            <a:r>
              <a:rPr lang="en-US" sz="1600" dirty="0"/>
              <a:t>to place interface back in VLAN 1</a:t>
            </a:r>
          </a:p>
          <a:p>
            <a:pPr marL="0" indent="0">
              <a:buNone/>
            </a:pPr>
            <a:r>
              <a:rPr lang="en-US" altLang="en-US" sz="1600" dirty="0"/>
              <a:t>Use the </a:t>
            </a:r>
            <a:r>
              <a:rPr lang="en-US" altLang="en-US" sz="1600" b="1" dirty="0"/>
              <a:t>show vlan brief </a:t>
            </a:r>
            <a:r>
              <a:rPr lang="en-US" altLang="en-US" sz="1600" dirty="0"/>
              <a:t>or the </a:t>
            </a:r>
            <a:r>
              <a:rPr lang="en-US" altLang="en-US" sz="1600" b="1" dirty="0"/>
              <a:t>show interface fa0/18 switchport</a:t>
            </a:r>
            <a:r>
              <a:rPr lang="en-US" altLang="en-US" sz="1600" dirty="0"/>
              <a:t> commands to verify the correct VLAN association.</a:t>
            </a:r>
            <a:endParaRPr lang="en-CA" altLang="en-US" sz="16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526" y="188595"/>
            <a:ext cx="4370509" cy="266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392" y="2962529"/>
            <a:ext cx="3914775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385564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VLAN Configuration</a:t>
            </a:r>
            <a:br>
              <a:rPr lang="en-US" altLang="en-US" dirty="0"/>
            </a:br>
            <a:r>
              <a:rPr lang="en-US" altLang="en-US" dirty="0"/>
              <a:t>Delete VLANs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8672954" cy="2588485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Delete VLANs with the </a:t>
            </a:r>
            <a:r>
              <a:rPr lang="en-US" sz="1600" b="1" dirty="0"/>
              <a:t>no vlan </a:t>
            </a:r>
            <a:r>
              <a:rPr lang="en-US" sz="1600" i="1" dirty="0"/>
              <a:t>vlan-id</a:t>
            </a:r>
            <a:r>
              <a:rPr lang="en-US" sz="1600" u="sng" dirty="0"/>
              <a:t> </a:t>
            </a:r>
            <a:r>
              <a:rPr lang="en-US" sz="1600" dirty="0"/>
              <a:t>command.</a:t>
            </a:r>
          </a:p>
          <a:p>
            <a:pPr marL="0" indent="0">
              <a:buNone/>
            </a:pPr>
            <a:r>
              <a:rPr lang="en-US" sz="1600" b="1" dirty="0"/>
              <a:t>Caution</a:t>
            </a:r>
            <a:r>
              <a:rPr lang="en-US" sz="1600" dirty="0"/>
              <a:t>: Before deleting a VLAN, reassign all member ports to a different VLAN.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1600" dirty="0"/>
              <a:t>Delete all VLANs with the </a:t>
            </a:r>
            <a:r>
              <a:rPr lang="en-CA" altLang="en-US" sz="1600" b="1" dirty="0"/>
              <a:t>delete flash:vlan.dat </a:t>
            </a:r>
            <a:r>
              <a:rPr lang="en-CA" altLang="en-US" sz="1600" dirty="0"/>
              <a:t>or </a:t>
            </a:r>
            <a:r>
              <a:rPr lang="en-CA" altLang="en-US" sz="1600" b="1" dirty="0"/>
              <a:t>delete vlan.dat </a:t>
            </a:r>
            <a:r>
              <a:rPr lang="en-CA" altLang="en-US" sz="1600" dirty="0"/>
              <a:t>commands.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1600" dirty="0"/>
              <a:t>Reload the switch when deleting all VLANs.</a:t>
            </a:r>
          </a:p>
          <a:p>
            <a:pPr marL="0" indent="0">
              <a:buNone/>
            </a:pPr>
            <a:r>
              <a:rPr lang="en-CA" altLang="en-US" sz="1600" b="1" dirty="0"/>
              <a:t>Note</a:t>
            </a:r>
            <a:r>
              <a:rPr lang="en-CA" altLang="en-US" sz="1600" dirty="0"/>
              <a:t>: To restore to factory default – unplug all data cables, erase the startup-configuration and delete the vlan.dat file, then reload the device.</a:t>
            </a:r>
          </a:p>
        </p:txBody>
      </p:sp>
    </p:spTree>
    <p:extLst>
      <p:ext uri="{BB962C8B-B14F-4D97-AF65-F5344CB8AC3E}">
        <p14:creationId xmlns:p14="http://schemas.microsoft.com/office/powerpoint/2010/main" val="2871149739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21035</TotalTime>
  <Words>790</Words>
  <Application>Microsoft Office PowerPoint</Application>
  <PresentationFormat>On-screen Show (16:9)</PresentationFormat>
  <Paragraphs>129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CiscoSans ExtraLight</vt:lpstr>
      <vt:lpstr>Wingdings</vt:lpstr>
      <vt:lpstr>Default Theme</vt:lpstr>
      <vt:lpstr>VLANs</vt:lpstr>
      <vt:lpstr>Overview of VLANs VLAN Definitions</vt:lpstr>
      <vt:lpstr>Overview of VLANs Benefits of a VLAN Design</vt:lpstr>
      <vt:lpstr>VLANs in a Multi-Switched Environment Networks without VLANs</vt:lpstr>
      <vt:lpstr>VLANs in a Multi-Switched Environment Networks with VLANs</vt:lpstr>
      <vt:lpstr>3.3 VLAN Configuration</vt:lpstr>
      <vt:lpstr>VLAN Configuration VLAN Creation Example</vt:lpstr>
      <vt:lpstr>VLAN Configuration VLAN Port Assignment Commands</vt:lpstr>
      <vt:lpstr>VLAN Configuration VLAN Port Assignment Example</vt:lpstr>
      <vt:lpstr>VLAN Configuration Change VLAN Port Membership</vt:lpstr>
      <vt:lpstr>VLAN Configuration Delete VLANs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Michael Holtz</cp:lastModifiedBy>
  <cp:revision>1063</cp:revision>
  <dcterms:created xsi:type="dcterms:W3CDTF">2016-08-22T22:27:36Z</dcterms:created>
  <dcterms:modified xsi:type="dcterms:W3CDTF">2024-05-13T20:26:48Z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