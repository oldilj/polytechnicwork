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7.xml" ContentType="application/vnd.openxmlformats-officedocument.presentationml.tags+xml"/>
  <Override PartName="/ppt/notesSlides/notesSlide22.xml" ContentType="application/vnd.openxmlformats-officedocument.presentationml.notesSlide+xml"/>
  <Override PartName="/ppt/tags/tag8.xml" ContentType="application/vnd.openxmlformats-officedocument.presentationml.tags+xml"/>
  <Override PartName="/ppt/notesSlides/notesSlide23.xml" ContentType="application/vnd.openxmlformats-officedocument.presentationml.notesSlide+xml"/>
  <Override PartName="/ppt/tags/tag9.xml" ContentType="application/vnd.openxmlformats-officedocument.presentationml.tags+xml"/>
  <Override PartName="/ppt/notesSlides/notesSlide24.xml" ContentType="application/vnd.openxmlformats-officedocument.presentationml.notesSlide+xml"/>
  <Override PartName="/ppt/tags/tag10.xml" ContentType="application/vnd.openxmlformats-officedocument.presentationml.tags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7"/>
  </p:notesMasterIdLst>
  <p:sldIdLst>
    <p:sldId id="876" r:id="rId2"/>
    <p:sldId id="860" r:id="rId3"/>
    <p:sldId id="759" r:id="rId4"/>
    <p:sldId id="1054" r:id="rId5"/>
    <p:sldId id="1090" r:id="rId6"/>
    <p:sldId id="1091" r:id="rId7"/>
    <p:sldId id="1092" r:id="rId8"/>
    <p:sldId id="1056" r:id="rId9"/>
    <p:sldId id="1057" r:id="rId10"/>
    <p:sldId id="1093" r:id="rId11"/>
    <p:sldId id="1094" r:id="rId12"/>
    <p:sldId id="1095" r:id="rId13"/>
    <p:sldId id="1096" r:id="rId14"/>
    <p:sldId id="1097" r:id="rId15"/>
    <p:sldId id="1098" r:id="rId16"/>
    <p:sldId id="1099" r:id="rId17"/>
    <p:sldId id="1063" r:id="rId18"/>
    <p:sldId id="1064" r:id="rId19"/>
    <p:sldId id="1100" r:id="rId20"/>
    <p:sldId id="1101" r:id="rId21"/>
    <p:sldId id="1102" r:id="rId22"/>
    <p:sldId id="957" r:id="rId23"/>
    <p:sldId id="958" r:id="rId24"/>
    <p:sldId id="874" r:id="rId25"/>
    <p:sldId id="291" r:id="rId26"/>
  </p:sldIdLst>
  <p:sldSz cx="9144000" cy="5143500" type="screen16x9"/>
  <p:notesSz cx="6858000" cy="9144000"/>
  <p:custDataLst>
    <p:tags r:id="rId28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/>
  </p:cmAuthor>
  <p:cmAuthor id="2" name="Bob Vachon" initials="BV" lastIdx="24" clrIdx="2">
    <p:extLst/>
  </p:cmAuthor>
  <p:cmAuthor id="3" name="Sue Livingston -X (suliving - UNICON INC at Cisco)" initials="SL-(-UIaC" lastIdx="29" clrIdx="3">
    <p:extLst/>
  </p:cmAuthor>
  <p:cmAuthor id="4" name="jagibbon" initials="jmg" lastIdx="8" clrIdx="4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32" autoAdjust="0"/>
    <p:restoredTop sz="77288" autoAdjust="0"/>
  </p:normalViewPr>
  <p:slideViewPr>
    <p:cSldViewPr snapToGrid="0" showGuides="1">
      <p:cViewPr varScale="1">
        <p:scale>
          <a:sx n="125" d="100"/>
          <a:sy n="125" d="100"/>
        </p:scale>
        <p:origin x="-1164" y="-90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21-Dec-20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Cisco Networking Academy Program</a:t>
            </a:r>
          </a:p>
          <a:p>
            <a:r>
              <a:rPr lang="en-US" dirty="0"/>
              <a:t>Introduction to Networks v7.0 (ITN)</a:t>
            </a:r>
          </a:p>
          <a:p>
            <a:r>
              <a:rPr lang="en-US" dirty="0"/>
              <a:t>Module 6: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6.0 - Data Link Layer </a:t>
            </a:r>
            <a:r>
              <a:rPr lang="en-US"/>
              <a:t>- Introduction</a:t>
            </a:r>
            <a:endParaRPr lang="en-US" dirty="0"/>
          </a:p>
          <a:p>
            <a:pPr>
              <a:buFontTx/>
              <a:buNone/>
            </a:pPr>
            <a:r>
              <a:rPr lang="en-GB" dirty="0"/>
              <a:t>6.0.2 – What will I learn to do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6.1 - Purpose of the Data Link Layer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6.1.1 – The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6.1.2 – IEEE 802 LAN/MAN Data Link Sublayers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9283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6.1.3 – Providing Access to Media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137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6.1 – Purpose of the Data Link Layer</a:t>
            </a:r>
          </a:p>
          <a:p>
            <a:r>
              <a:rPr lang="en-US" dirty="0"/>
              <a:t>6.1.4 – Data Link Layer Standards</a:t>
            </a:r>
          </a:p>
          <a:p>
            <a:r>
              <a:rPr lang="en-US" dirty="0"/>
              <a:t>6.1.5 – Check Your Understanding – Purpose of Data Link Layer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459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6.2 - Topologies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6.2.1 – Physical and Logical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125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6.2.2 – WAN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351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6.2.3– Point-to-Point WAN Topology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211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6.2.4 – LAN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9440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6.2.5 – Half and Full Duplex Communication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0157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6.2.6 – Access Control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68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6.2.7 – Contention-Based Access – CSMA/CD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7287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6.2 – Topologies</a:t>
            </a:r>
          </a:p>
          <a:p>
            <a:r>
              <a:rPr lang="en-US" dirty="0"/>
              <a:t>6.2.8 – Contention-Based Access – CSMA/CA</a:t>
            </a:r>
          </a:p>
          <a:p>
            <a:r>
              <a:rPr lang="en-US" dirty="0"/>
              <a:t>6.2.9 – Check Your Understanding - Topologies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764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6 - Data Link Layer</a:t>
            </a:r>
          </a:p>
          <a:p>
            <a:r>
              <a:rPr lang="en-US" dirty="0"/>
              <a:t>6.3 -  Data Link Frame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6.3.1 – The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6.3.2 – Frame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1424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6.3.3 – Layer 2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7210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6.3 – Data Link Frame</a:t>
            </a:r>
          </a:p>
          <a:p>
            <a:r>
              <a:rPr lang="en-US" dirty="0"/>
              <a:t>6.3.4 – LAN and WAN Frames</a:t>
            </a:r>
          </a:p>
          <a:p>
            <a:r>
              <a:rPr lang="en-US" dirty="0"/>
              <a:t>6.3.5 – Check Your Understanding – Data Link Frame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898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6-  Data Link Layer</a:t>
            </a:r>
          </a:p>
          <a:p>
            <a:r>
              <a:rPr lang="en-US" dirty="0"/>
              <a:t>6.4 -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23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6 – Data Link Layer</a:t>
            </a:r>
          </a:p>
          <a:p>
            <a:r>
              <a:rPr lang="en-US" dirty="0"/>
              <a:t>6.4 – Module Practice and Quiz</a:t>
            </a:r>
          </a:p>
          <a:p>
            <a:r>
              <a:rPr lang="en-US" dirty="0"/>
              <a:t>6.4.1 – What did I learn in this module?</a:t>
            </a:r>
          </a:p>
          <a:p>
            <a:r>
              <a:rPr lang="en-US" dirty="0"/>
              <a:t>6.4.2 – Module Quiz – Data Link Layer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 xmlns="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 xmlns="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 xmlns="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6: Data Link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xmlns="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698645"/>
            <a:ext cx="8012573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Data Link Layer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Explain how media access control in the data link layer supports communication across networks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653368"/>
              </p:ext>
            </p:extLst>
          </p:nvPr>
        </p:nvGraphicFramePr>
        <p:xfrm>
          <a:off x="457677" y="2152014"/>
          <a:ext cx="7826240" cy="21923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13120">
                  <a:extLst>
                    <a:ext uri="{9D8B030D-6E8A-4147-A177-3AD203B41FA5}">
                      <a16:colId xmlns:a16="http://schemas.microsoft.com/office/drawing/2014/main" xmlns="" val="1523797708"/>
                    </a:ext>
                  </a:extLst>
                </a:gridCol>
                <a:gridCol w="3913120">
                  <a:extLst>
                    <a:ext uri="{9D8B030D-6E8A-4147-A177-3AD203B41FA5}">
                      <a16:colId xmlns:a16="http://schemas.microsoft.com/office/drawing/2014/main" xmlns="" val="2750207184"/>
                    </a:ext>
                  </a:extLst>
                </a:gridCol>
              </a:tblGrid>
              <a:tr h="2936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874061904"/>
                  </a:ext>
                </a:extLst>
              </a:tr>
              <a:tr h="78363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Purpose of the Data Link Layer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Describe the purpose and function of the data link layer in preparing communication for transmission on specific media.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646858405"/>
                  </a:ext>
                </a:extLst>
              </a:tr>
              <a:tr h="51211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Topologies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Compare the characteristics of media access control methods on WAN and LAN topologies.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35904258"/>
                  </a:ext>
                </a:extLst>
              </a:tr>
              <a:tr h="60292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Data Link Frame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Describe the characteristics and functions of the data link frame.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1119238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244338"/>
            <a:ext cx="7598042" cy="1473462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6.1 Purpose of the Data Link Layer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The Data Link Layer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4140028" cy="30739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Data Link layer is responsible for communications between end-device network interface cards.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allows upper layer protocols to access the physical layer media and encapsulates Layer 3 packets (IPv4 and IPv6) into Layer 2 Frames.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It also performs error detection and rejects corrupts frames.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6A2775E-EEA2-B340-AC65-D029824E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746" y="1046747"/>
            <a:ext cx="3823810" cy="2016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IEEE 802 LAN/MAN Data Link Sublayers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4" y="855419"/>
            <a:ext cx="4305820" cy="3683530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IEEE 802 LAN/MAN standards are specific to the type of network (Ethernet, WLAN, WPAN, etc).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The Data Link Layer consists of two sublayers. </a:t>
            </a:r>
            <a:r>
              <a:rPr lang="en-US" sz="1600" b="1" dirty="0">
                <a:solidFill>
                  <a:srgbClr val="000000"/>
                </a:solidFill>
              </a:rPr>
              <a:t>Logical Link Control (LLC)</a:t>
            </a:r>
            <a:r>
              <a:rPr lang="en-US" sz="1600" dirty="0">
                <a:solidFill>
                  <a:srgbClr val="000000"/>
                </a:solidFill>
              </a:rPr>
              <a:t> and </a:t>
            </a:r>
            <a:r>
              <a:rPr lang="en-US" sz="1600" b="1" dirty="0">
                <a:solidFill>
                  <a:srgbClr val="000000"/>
                </a:solidFill>
              </a:rPr>
              <a:t>Media Access Control (MAC).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LLC sublayer communicates between the networking software at the upper layers and the device hardware at the lower layers.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MAC sublayer is responsible for data encapsulation and media access control.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34482E20-85AC-4A71-B6F1-35D714F52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783" y="855419"/>
            <a:ext cx="4640217" cy="368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3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Providing Access to Media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7913516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Packets exchanged between nodes may experience numerous data link layers and media transitions.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At each hop along the path, a router performs four basic Layer 2 functions: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Accepts a frame from the network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De-encapsulates the frame to expose the encapsulated packet.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Re-encapsulates the packet into a new frame.</a:t>
            </a:r>
          </a:p>
          <a:p>
            <a:pPr marL="415985" lvl="1" indent="-342900"/>
            <a:r>
              <a:rPr lang="en-US" sz="1600" dirty="0">
                <a:solidFill>
                  <a:srgbClr val="000000"/>
                </a:solidFill>
              </a:rPr>
              <a:t>Forwards the new frame on the medium of the next network segment.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27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xmlns="" id="{3E1FC63F-1738-4F20-B656-0C076A42F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8"/>
          </a:xfrm>
        </p:spPr>
        <p:txBody>
          <a:bodyPr/>
          <a:lstStyle/>
          <a:p>
            <a:r>
              <a:rPr lang="en-US" sz="1600" dirty="0"/>
              <a:t>Purpose of the Data Link Layer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Data Link Layer Standards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2" y="855419"/>
            <a:ext cx="3746328" cy="307394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Data link layer protocols are defined by engineering organizations: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Institute for Electrical and Electronic Engineers (IEEE).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Telecommunications Union (ITU).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International Organizations for Standardization (ISO).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American National Standards Institute (ANSI).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81E48A9C-7AC9-4385-99A6-E88DD132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55419"/>
            <a:ext cx="4055062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0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6.2 Topologies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Physical and Logical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 topology of a network is the arrangement and relationship of the network devices and the interconnections between them.</a:t>
            </a:r>
          </a:p>
          <a:p>
            <a:pPr marL="0" indent="0" algn="l"/>
            <a:endParaRPr lang="en-US" sz="18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two types of topologies used when describing networks: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Physical topology </a:t>
            </a:r>
            <a:r>
              <a:rPr lang="en-US" sz="1800" dirty="0">
                <a:solidFill>
                  <a:srgbClr val="000000"/>
                </a:solidFill>
              </a:rPr>
              <a:t>– shows physical connections and how devices are interconnected.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Logical topology </a:t>
            </a:r>
            <a:r>
              <a:rPr lang="en-US" sz="1800" dirty="0">
                <a:solidFill>
                  <a:srgbClr val="000000"/>
                </a:solidFill>
              </a:rPr>
              <a:t>– identifies the virtual connections between devices using device interfaces and IP addressing schemes.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503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WAN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943508"/>
            <a:ext cx="8280400" cy="2804664"/>
          </a:xfrm>
        </p:spPr>
        <p:txBody>
          <a:bodyPr/>
          <a:lstStyle/>
          <a:p>
            <a:pPr marL="0" indent="0" algn="l"/>
            <a:r>
              <a:rPr lang="en-US" sz="1800" dirty="0">
                <a:solidFill>
                  <a:srgbClr val="000000"/>
                </a:solidFill>
              </a:rPr>
              <a:t>There are three common physical WAN topologies: 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Point-to-point</a:t>
            </a:r>
            <a:r>
              <a:rPr lang="en-US" sz="1800" dirty="0">
                <a:solidFill>
                  <a:srgbClr val="000000"/>
                </a:solidFill>
              </a:rPr>
              <a:t> – the simplest and most common WAN topology. Consists of a permanent link between two endpoints.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Hub and spoke </a:t>
            </a:r>
            <a:r>
              <a:rPr lang="en-US" sz="1800" dirty="0">
                <a:solidFill>
                  <a:srgbClr val="000000"/>
                </a:solidFill>
              </a:rPr>
              <a:t>– similar to a star topology where a central site interconnects branch sites through point-to-point links.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Mesh</a:t>
            </a:r>
            <a:r>
              <a:rPr lang="en-US" sz="1800" dirty="0">
                <a:solidFill>
                  <a:srgbClr val="000000"/>
                </a:solidFill>
              </a:rPr>
              <a:t> – provides high availability but requires every end system to be connected to every other end system.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6652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Point-to-Point WAN Topology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15367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Physical point-to-point topologies directly connect two nodes.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nodes may not share the media with other hosts.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Because all frames on the media can only travel to or from the two nodes, Point-to-Point WAN protocols can be very simple.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5238DFB8-7E4C-49CD-931F-4C4AC9613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0" y="2874963"/>
            <a:ext cx="666666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99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LAN Topologies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440" y="826265"/>
            <a:ext cx="4047061" cy="3613533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End devices on LANs are typically interconnected using a star or extended star topology. Star and extended star topologies are easy to install, very scalable and easy to troubleshoot.</a:t>
            </a: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Early Ethernet and Legacy Token Ring technologies provide two additional topologies: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Bus</a:t>
            </a:r>
            <a:r>
              <a:rPr lang="en-US" sz="1600" dirty="0">
                <a:solidFill>
                  <a:srgbClr val="000000"/>
                </a:solidFill>
              </a:rPr>
              <a:t> – All end systems chained together and terminated on each end.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0000"/>
                </a:solidFill>
              </a:rPr>
              <a:t>Ring </a:t>
            </a:r>
            <a:r>
              <a:rPr lang="en-US" sz="1600" dirty="0">
                <a:solidFill>
                  <a:srgbClr val="000000"/>
                </a:solidFill>
              </a:rPr>
              <a:t>– Each end system is connected to its respective neighbors to form a 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FF75D65E-B72F-4095-958C-B321F7C577A5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5501" y="681400"/>
            <a:ext cx="4820059" cy="378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0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xmlns="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Half and Full Duplex Communication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Half-duplex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Only allows one device to send or receive at a time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WLANs and legacy bus topologies with Ethernet hubs.</a:t>
            </a:r>
          </a:p>
          <a:p>
            <a:pPr marL="0" indent="0" algn="l"/>
            <a:endParaRPr lang="en-US" sz="1600" b="1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Full-duplex communication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Allows both devices to simultaneously transmit and receive on a shared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 switches operate in full-duplex mode.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5034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xmlns="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Access Control Methods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Contention-based access</a:t>
            </a:r>
          </a:p>
          <a:p>
            <a:pPr marL="73085" lvl="1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All nodes operating in half-duplex, competing for use of the medium. Examples are: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detection (CSMA/CD) as used on legacy bus-topology Ethernet.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Carrier sense multiple access with collision avoidance (CSMA/CA) as used on Wireless LANs.</a:t>
            </a:r>
          </a:p>
          <a:p>
            <a:pPr marL="146110" lvl="2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Controlled access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Deterministic access where each node has its own time on the medium.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 legacy networks such as Token Ring and ARCNET.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9561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xmlns="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Contention-Based Access – CSMA/CD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49"/>
            <a:ext cx="8280400" cy="3393731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CSMA/CD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legacy Ethernet 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detection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73085" lvl="1" indent="0"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CSMA/CD collision detection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transmitting simultaneously will result in a signal collision on the shared media.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detect the collision.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Devices wait a random period of time and retransmit data.</a:t>
            </a:r>
          </a:p>
          <a:p>
            <a:pPr marL="146110" lvl="2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0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xmlns="" id="{B8166C4A-518E-4846-A274-363AAE5FF01D}"/>
              </a:ext>
            </a:extLst>
          </p:cNvPr>
          <p:cNvSpPr txBox="1">
            <a:spLocks/>
          </p:cNvSpPr>
          <p:nvPr/>
        </p:nvSpPr>
        <p:spPr bwMode="auto">
          <a:xfrm>
            <a:off x="0" y="0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>
            <a:lvl1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en-US" sz="3200" kern="1200">
                <a:solidFill>
                  <a:srgbClr val="004C69"/>
                </a:solidFill>
                <a:latin typeface="+mj-lt"/>
                <a:ea typeface="ＭＳ Ｐゴシック" charset="0"/>
                <a:cs typeface="CiscoSans"/>
              </a:defRPr>
            </a:lvl1pPr>
            <a:lvl2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2pPr>
            <a:lvl3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3pPr>
            <a:lvl4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4pPr>
            <a:lvl5pPr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  <a:cs typeface="CiscoSans" pitchFamily="34" charset="0"/>
              </a:defRPr>
            </a:lvl5pPr>
            <a:lvl6pPr marL="4572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6pPr>
            <a:lvl7pPr marL="9144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7pPr>
            <a:lvl8pPr marL="13716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8pPr>
            <a:lvl9pPr marL="1828800" algn="l" defTabSz="684213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67676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sz="1600" dirty="0"/>
              <a:t>Topologies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Contention-Based Access – CSMA/CA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4003F5F5-7654-47FE-8245-0FE364DE3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800" y="1035050"/>
            <a:ext cx="8280400" cy="3073400"/>
          </a:xfrm>
        </p:spPr>
        <p:txBody>
          <a:bodyPr/>
          <a:lstStyle/>
          <a:p>
            <a:pPr marL="0" indent="0" algn="l"/>
            <a:r>
              <a:rPr lang="en-US" sz="1600" b="1" dirty="0">
                <a:solidFill>
                  <a:srgbClr val="000000"/>
                </a:solidFill>
              </a:rPr>
              <a:t>CSMA/CA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by IEEE 802.11 WLANs.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Operates in half-duplex mode where only one device sends or receives at a time.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Uses a collision avoidance process to govern when a device can send and what happens if multiple devices send at the same time.</a:t>
            </a:r>
          </a:p>
          <a:p>
            <a:pPr marL="73085" lvl="1" indent="0"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b="1" dirty="0">
                <a:solidFill>
                  <a:srgbClr val="000000"/>
                </a:solidFill>
              </a:rPr>
              <a:t>CSMA/CA collision avoidance process</a:t>
            </a:r>
            <a:r>
              <a:rPr lang="en-US" sz="1600" dirty="0">
                <a:solidFill>
                  <a:srgbClr val="000000"/>
                </a:solidFill>
              </a:rPr>
              <a:t>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When transmitting, devices also include the time duration needed for the transmission.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Other devices on the shared medium receive the time duration information and know how long the medium will be unavailable.</a:t>
            </a: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489010" lvl="2" indent="-342900">
              <a:buFont typeface="Arial" panose="020B0604020202020204" pitchFamily="34" charset="0"/>
              <a:buChar char="•"/>
            </a:pPr>
            <a:endParaRPr lang="en-US" sz="2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0" indent="0" algn="l"/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5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6.3 Data Link Frame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The Frame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Data is encapsulated by the data link layer with a header and a trailer to form a frame.</a:t>
            </a:r>
          </a:p>
          <a:p>
            <a:pPr marL="0" indent="0" algn="l"/>
            <a:r>
              <a:rPr lang="en-US" sz="1600" dirty="0">
                <a:solidFill>
                  <a:srgbClr val="000000"/>
                </a:solidFill>
              </a:rPr>
              <a:t>A data link frame has three parts: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Header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Data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Trailer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fields of the header and trailer vary according to data link layer protocol.</a:t>
            </a: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endParaRPr lang="en-US" sz="1600" dirty="0">
              <a:solidFill>
                <a:srgbClr val="000000"/>
              </a:solidFill>
            </a:endParaRPr>
          </a:p>
          <a:p>
            <a:pPr marL="0" lvl="1" indent="0" defTabSz="457105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None/>
            </a:pPr>
            <a:r>
              <a:rPr lang="en-US" sz="1600" dirty="0">
                <a:solidFill>
                  <a:srgbClr val="000000"/>
                </a:solidFill>
              </a:rPr>
              <a:t>The amount of control information carried with in the frame varies according to access control information and logical topology.</a:t>
            </a:r>
          </a:p>
        </p:txBody>
      </p:sp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Frame Fields</a:t>
            </a:r>
          </a:p>
        </p:txBody>
      </p:sp>
      <p:graphicFrame>
        <p:nvGraphicFramePr>
          <p:cNvPr id="6" name="Content Placeholder 6">
            <a:extLst>
              <a:ext uri="{FF2B5EF4-FFF2-40B4-BE49-F238E27FC236}">
                <a16:creationId xmlns:a16="http://schemas.microsoft.com/office/drawing/2014/main" xmlns="" id="{D7B87715-3E1C-4D1E-9428-D7A3628B19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00472035"/>
              </p:ext>
            </p:extLst>
          </p:nvPr>
        </p:nvGraphicFramePr>
        <p:xfrm>
          <a:off x="474662" y="2749860"/>
          <a:ext cx="8237366" cy="1828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1847">
                  <a:extLst>
                    <a:ext uri="{9D8B030D-6E8A-4147-A177-3AD203B41FA5}">
                      <a16:colId xmlns:a16="http://schemas.microsoft.com/office/drawing/2014/main" xmlns="" val="3729139006"/>
                    </a:ext>
                  </a:extLst>
                </a:gridCol>
                <a:gridCol w="5735519">
                  <a:extLst>
                    <a:ext uri="{9D8B030D-6E8A-4147-A177-3AD203B41FA5}">
                      <a16:colId xmlns:a16="http://schemas.microsoft.com/office/drawing/2014/main" xmlns="" val="19889134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100" dirty="0"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8367678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Frame Start and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beginning and end of frame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9654457"/>
                  </a:ext>
                </a:extLst>
              </a:tr>
              <a:tr h="17090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Indicates source and destination nodes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5735172"/>
                  </a:ext>
                </a:extLst>
              </a:tr>
              <a:tr h="201380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encapsulated Layer 3 protocol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4468046"/>
                  </a:ext>
                </a:extLst>
              </a:tr>
              <a:tr h="174195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Identifies flow control services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58107787"/>
                  </a:ext>
                </a:extLst>
              </a:tr>
              <a:tr h="274011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Contains the frame payload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95454272"/>
                  </a:ext>
                </a:extLst>
              </a:tr>
              <a:tr h="18572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Error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Used for determine transmission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6317317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98841DA-AE58-B547-A619-1948729598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925" y="565149"/>
            <a:ext cx="5524833" cy="2012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1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Layer 2 Addresses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1247000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Also referred to as a physical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Contained in the frame header.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Used only for local delivery of a frame on the link.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Updated by each device that forwards the frame.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04C11CB4-FB7A-A44D-8693-5CADB4E74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644" y="2149311"/>
            <a:ext cx="4778709" cy="229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91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Data Link Frame</a:t>
            </a:r>
            <a:r>
              <a:rPr lang="en-US" dirty="0"/>
              <a:t/>
            </a:r>
            <a:br>
              <a:rPr lang="en-US" dirty="0"/>
            </a:br>
            <a:r>
              <a:rPr lang="en-US" sz="2400" dirty="0"/>
              <a:t>LAN and WAN Frames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CC4F0493-B526-DE4A-B220-F79C82C4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71" y="902311"/>
            <a:ext cx="8280057" cy="3505566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logical topology and physical media determine the data link protocol used: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Ethernet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802.11 Wireless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Point-to-Point (PPP)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High-Level Data Link Control (HDLC)</a:t>
            </a:r>
          </a:p>
          <a:p>
            <a:pPr marL="415985" lvl="1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Frame-Relay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r>
              <a:rPr lang="en-US" dirty="0">
                <a:solidFill>
                  <a:srgbClr val="000000"/>
                </a:solidFill>
              </a:rPr>
              <a:t>Each protocol performs media access control for specified logical topologies.</a:t>
            </a: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0" indent="0" algn="l"/>
            <a:endParaRPr lang="en-US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3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6.4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of the OSI model (Layer 2) prepares network data for the physical network. 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layer is responsible for network interface card (NIC) to network interface card communications.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IEEE 802 LAN/MAN data link layer consists of the following two sublayers: LLC and MAC.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two types of topologies used in LAN and WAN networks are physical and logical.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Three common types of physical WAN topologies are: point-to-point, hub and spoke, and mesh. 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Half-duplex communications exchange data in one direction at a time. Full-duplex sends and receives data simultaneously.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In contention-based multi-access networks, all nodes are operating in half-duplex.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Examples of contention-based access methods include: CSMA/CD for bus-topology Ethernet LANs and CSMA/CA for WLANs.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link frame has three basic parts: header, data, and trailer.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Frame fields include: frame start and stop indicator flags, addressing, type, control, data, and error detection.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also known as physical addresses.</a:t>
            </a:r>
          </a:p>
          <a:p>
            <a:pPr marL="115887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Data link addresses are only used for link local delivery of frames.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6: Data Link Layer</a:t>
            </a:r>
            <a:r>
              <a:rPr lang="en-US" dirty="0">
                <a:latin typeface="Arial" charset="0"/>
              </a:rPr>
              <a:t/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xmlns="" id="{F2480B83-AF5E-4A70-B69B-F1E3A8FAC7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178757"/>
              </p:ext>
            </p:extLst>
          </p:nvPr>
        </p:nvGraphicFramePr>
        <p:xfrm>
          <a:off x="99152" y="798513"/>
          <a:ext cx="8898797" cy="39928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472054">
                  <a:extLst>
                    <a:ext uri="{9D8B030D-6E8A-4147-A177-3AD203B41FA5}">
                      <a16:colId xmlns:a16="http://schemas.microsoft.com/office/drawing/2014/main" xmlns="" val="3270854437"/>
                    </a:ext>
                  </a:extLst>
                </a:gridCol>
                <a:gridCol w="4426743">
                  <a:extLst>
                    <a:ext uri="{9D8B030D-6E8A-4147-A177-3AD203B41FA5}">
                      <a16:colId xmlns:a16="http://schemas.microsoft.com/office/drawing/2014/main" xmlns="" val="19886441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Link Control (LLC)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Medial Access Control (MAC)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Institute of Electrical and Electronic Engineers (IEEE)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Telecommunications Union (ITU)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International Organization for Standardization (ISO)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American National Standards Institute (ANSI)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Physical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Logical Topology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Half-duplex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Full-duplex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CSMA/CA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Cyclic Redundancy Check (CRC)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Contention-based access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</a:rPr>
                        <a:t>Controlled access</a:t>
                      </a: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sz="16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xmlns="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8613</TotalTime>
  <Words>1637</Words>
  <Application>Microsoft Office PowerPoint</Application>
  <PresentationFormat>On-screen Show (16:9)</PresentationFormat>
  <Paragraphs>295</Paragraphs>
  <Slides>25</Slides>
  <Notes>25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Default Theme</vt:lpstr>
      <vt:lpstr>Module 6: Data Link Layer</vt:lpstr>
      <vt:lpstr>Module Objectives</vt:lpstr>
      <vt:lpstr>6.1 Purpose of the Data Link Layer</vt:lpstr>
      <vt:lpstr>Purpose of the Data Link Layer The Data Link Layer</vt:lpstr>
      <vt:lpstr>Purpose of the Data Link Layer IEEE 802 LAN/MAN Data Link Sublayers</vt:lpstr>
      <vt:lpstr>Purpose of the Data Link Layer Providing Access to Media</vt:lpstr>
      <vt:lpstr>Purpose of the Data Link Layer Data Link Layer Standards</vt:lpstr>
      <vt:lpstr>6.2 Topologies</vt:lpstr>
      <vt:lpstr>Topologies Physical and Logical Topologies</vt:lpstr>
      <vt:lpstr>Topologies WAN Topologies</vt:lpstr>
      <vt:lpstr>Topologies Point-to-Point WAN Topology</vt:lpstr>
      <vt:lpstr>Topologies LAN Topologies</vt:lpstr>
      <vt:lpstr>PowerPoint Presentation</vt:lpstr>
      <vt:lpstr>PowerPoint Presentation</vt:lpstr>
      <vt:lpstr>PowerPoint Presentation</vt:lpstr>
      <vt:lpstr>PowerPoint Presentation</vt:lpstr>
      <vt:lpstr>6.3 Data Link Frame</vt:lpstr>
      <vt:lpstr>Data Link Frame The Frame</vt:lpstr>
      <vt:lpstr>Data Link Frame Frame Fields</vt:lpstr>
      <vt:lpstr>Data Link Frame Layer 2 Addresses</vt:lpstr>
      <vt:lpstr>Data Link Frame LAN and WAN Frames</vt:lpstr>
      <vt:lpstr>6.4 Module Practice and Quiz</vt:lpstr>
      <vt:lpstr>Module Practice and Quiz What did I learn in this module?</vt:lpstr>
      <vt:lpstr>Module 6: Data Link Layer New Terms and Commands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Michael Holtz</cp:lastModifiedBy>
  <cp:revision>247</cp:revision>
  <dcterms:created xsi:type="dcterms:W3CDTF">2019-10-18T06:21:22Z</dcterms:created>
  <dcterms:modified xsi:type="dcterms:W3CDTF">2020-12-20T21:57:40Z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