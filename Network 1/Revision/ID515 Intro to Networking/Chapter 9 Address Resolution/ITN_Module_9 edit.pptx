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notesSlides/notesSlide22.xml" ContentType="application/vnd.openxmlformats-officedocument.presentationml.notesSlide+xml"/>
  <Override PartName="/ppt/tags/tag8.xml" ContentType="application/vnd.openxmlformats-officedocument.presentationml.tags+xml"/>
  <Override PartName="/ppt/notesSlides/notesSlide23.xml" ContentType="application/vnd.openxmlformats-officedocument.presentationml.notesSlide+xml"/>
  <Override PartName="/ppt/tags/tag9.xml" ContentType="application/vnd.openxmlformats-officedocument.presentationml.tags+xml"/>
  <Override PartName="/ppt/notesSlides/notesSlide24.xml" ContentType="application/vnd.openxmlformats-officedocument.presentationml.notesSlide+xml"/>
  <Override PartName="/ppt/tags/tag10.xml" ContentType="application/vnd.openxmlformats-officedocument.presentationml.tags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7"/>
  </p:notesMasterIdLst>
  <p:sldIdLst>
    <p:sldId id="876" r:id="rId2"/>
    <p:sldId id="860" r:id="rId3"/>
    <p:sldId id="759" r:id="rId4"/>
    <p:sldId id="1054" r:id="rId5"/>
    <p:sldId id="1090" r:id="rId6"/>
    <p:sldId id="1101" r:id="rId7"/>
    <p:sldId id="1056" r:id="rId8"/>
    <p:sldId id="1057" r:id="rId9"/>
    <p:sldId id="1091" r:id="rId10"/>
    <p:sldId id="1092" r:id="rId11"/>
    <p:sldId id="1093" r:id="rId12"/>
    <p:sldId id="1094" r:id="rId13"/>
    <p:sldId id="1095" r:id="rId14"/>
    <p:sldId id="1096" r:id="rId15"/>
    <p:sldId id="1097" r:id="rId16"/>
    <p:sldId id="1102" r:id="rId17"/>
    <p:sldId id="1063" r:id="rId18"/>
    <p:sldId id="1098" r:id="rId19"/>
    <p:sldId id="1099" r:id="rId20"/>
    <p:sldId id="1100" r:id="rId21"/>
    <p:sldId id="1103" r:id="rId22"/>
    <p:sldId id="957" r:id="rId23"/>
    <p:sldId id="958" r:id="rId24"/>
    <p:sldId id="874" r:id="rId25"/>
    <p:sldId id="291" r:id="rId26"/>
  </p:sldIdLst>
  <p:sldSz cx="9144000" cy="5143500" type="screen16x9"/>
  <p:notesSz cx="6858000" cy="9144000"/>
  <p:custDataLst>
    <p:tags r:id="rId2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29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8" autoAdjust="0"/>
    <p:restoredTop sz="77285" autoAdjust="0"/>
  </p:normalViewPr>
  <p:slideViewPr>
    <p:cSldViewPr snapToGrid="0" showGuides="1">
      <p:cViewPr>
        <p:scale>
          <a:sx n="125" d="100"/>
          <a:sy n="125" d="100"/>
        </p:scale>
        <p:origin x="750" y="-54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2/1/2024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 v7.0 (ITN)</a:t>
            </a:r>
          </a:p>
          <a:p>
            <a:pPr>
              <a:buFontTx/>
              <a:buNone/>
            </a:pPr>
            <a:r>
              <a:rPr lang="en-US" sz="1200" b="0" dirty="0"/>
              <a:t>Module 9: Address Resolution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2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9.0.2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9.1 MAC and IP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9.1 – MAC and IP</a:t>
            </a:r>
          </a:p>
          <a:p>
            <a:r>
              <a:rPr lang="en-US" dirty="0"/>
              <a:t>9.1.1 – Destination on Same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9.1 – MAC and IP</a:t>
            </a:r>
          </a:p>
          <a:p>
            <a:r>
              <a:rPr lang="en-US" dirty="0"/>
              <a:t>9.1.2 – Destination on Remote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007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9 – Address Resolution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9.1 – MAC and IP</a:t>
            </a:r>
          </a:p>
          <a:p>
            <a:r>
              <a:rPr lang="en-US" dirty="0"/>
              <a:t>9.1.3 – Packet Tracer Identify MAC and IP Addresses</a:t>
            </a:r>
          </a:p>
          <a:p>
            <a:r>
              <a:rPr lang="en-US" dirty="0"/>
              <a:t>9.1.4 – Check Your Understanding – MAC and IP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238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9.2 ARP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9.2.1 – ARP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125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9.2.2 – ARP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25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9.2.3 –  Video - ARP Request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97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9.2.4 – Video – ARP Operation - ARP Reply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78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9.2.5 – Video - ARP Role in Remote Communications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416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9.2.6– Removing Entries from an ARP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664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9.2.7 – ARP Tables on Networking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97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9.2.8 – ARP Issues – ARP Broadcast and ARP Spoofing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902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9.2.9 – Packet Tracer – Examine the ARP Table</a:t>
            </a:r>
          </a:p>
          <a:p>
            <a:r>
              <a:rPr lang="en-US" dirty="0"/>
              <a:t>9.2.10 – Check Your Understanding - ARP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679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9.3 Copper Cabling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9.3.1 – Video – IPv6 Neighbor Discovery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394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9.3.2 – IPv6 Neighbor Discovery Messages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0659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9.3.3 – IPv6 Neighbor Discovery – Address Resolution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9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9.3.4 – Packet Tracer – IPv6 Neighbor Discovery</a:t>
            </a:r>
          </a:p>
          <a:p>
            <a:r>
              <a:rPr lang="en-US" dirty="0"/>
              <a:t>9.3.5 – Check Your Understanding – Neighbor Discovery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6599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9.4 Module Practice and Quiz</a:t>
            </a:r>
            <a:endParaRPr lang="en-GB" b="0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23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9.4 – Module Practice and Quiz</a:t>
            </a:r>
          </a:p>
          <a:p>
            <a:r>
              <a:rPr lang="en-US" dirty="0"/>
              <a:t>9.4.1 – What did I learn in this module?</a:t>
            </a:r>
          </a:p>
          <a:p>
            <a:r>
              <a:rPr lang="en-US" dirty="0"/>
              <a:t>9.4.2 – Module Quiz – Address Resolution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24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9: Address Resolution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821755"/>
            <a:ext cx="80125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Address Resolution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Explain how ARP and ND enable communication on a network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81861"/>
              </p:ext>
            </p:extLst>
          </p:nvPr>
        </p:nvGraphicFramePr>
        <p:xfrm>
          <a:off x="349704" y="1952562"/>
          <a:ext cx="8444592" cy="15254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3924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5580668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323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769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MAC and IP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Compare the roles of the MAC address and the IP address.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392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ARP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Describe the purpose of ARP.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769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Neighbor Discovery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Describe the operation of IPv6 neighbor discovery.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9.1 MAC and IP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MAC and IP</a:t>
            </a:r>
            <a:br>
              <a:rPr lang="en-US" dirty="0"/>
            </a:br>
            <a:r>
              <a:rPr lang="en-US" sz="2400" dirty="0"/>
              <a:t>Destination on Same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09" y="731838"/>
            <a:ext cx="8532920" cy="2341300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There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0000"/>
                </a:solidFill>
              </a:rPr>
              <a:t>are two primary addresses assigned to a device on an Ethernet LAN: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Layer 2 physical address (the MAC address)</a:t>
            </a:r>
            <a:r>
              <a:rPr lang="en-US" sz="1600" dirty="0">
                <a:solidFill>
                  <a:srgbClr val="000000"/>
                </a:solidFill>
              </a:rPr>
              <a:t> – Used for NIC to NIC communications on the same Ethernet network.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Layer 3 logical address (the IP address)</a:t>
            </a:r>
            <a:r>
              <a:rPr lang="en-US" sz="1600" dirty="0">
                <a:solidFill>
                  <a:srgbClr val="000000"/>
                </a:solidFill>
              </a:rPr>
              <a:t> – Used to send the packet from the source device to the destination device. </a:t>
            </a:r>
          </a:p>
          <a:p>
            <a:pPr marL="73085" lvl="1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Layer 2 addresses are used to deliver frames from one NIC to another NIC on the same network. If a destination IP address is on the same network, the destination MAC address will be that of the destination device.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3295B7-4667-438E-A1A4-0A077F091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157730"/>
            <a:ext cx="4352544" cy="172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MAC and IP</a:t>
            </a:r>
            <a:br>
              <a:rPr lang="en-US" dirty="0"/>
            </a:br>
            <a:r>
              <a:rPr lang="en-US" sz="2400" dirty="0"/>
              <a:t>Destination on Remote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10" y="731837"/>
            <a:ext cx="8448078" cy="1589524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When the destination IP address is on a remote network, the destination MAC address is that of the default gateway.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is used by IPv4 to associate the IPv4 address of a device with the MAC address of the device NIC.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ICMPv6 is used by IPv6 to associate the IPv6 address of a device with the MAC address of the device NIC.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449E9-3366-4B53-A2F7-3D40251C3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48" y="2321361"/>
            <a:ext cx="6481000" cy="247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0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30F6F2-5F50-4815-836B-1D55C67AE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2" y="67935"/>
            <a:ext cx="9068585" cy="731837"/>
          </a:xfrm>
        </p:spPr>
        <p:txBody>
          <a:bodyPr/>
          <a:lstStyle/>
          <a:p>
            <a:r>
              <a:rPr lang="en-US" sz="1600" dirty="0"/>
              <a:t>MAC and IP</a:t>
            </a:r>
            <a:br>
              <a:rPr lang="en-US" dirty="0"/>
            </a:br>
            <a:r>
              <a:rPr lang="en-US" sz="2400" dirty="0"/>
              <a:t>Packet Tracer – Identify MAC and IP Addresses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05AFC9-8905-4194-A13B-BB325537F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1121544"/>
            <a:ext cx="8280057" cy="3073946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0000"/>
                </a:solidFill>
              </a:rPr>
              <a:t>In this Packet Tracer, you will complete the following objectives: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Gather PDU Information for Local Network Communication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Gather PDU Information for Remote Network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9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9.2 ARP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Overview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1"/>
            <a:ext cx="4187253" cy="3039781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A device uses ARP to determine the destination MAC address of a local device when it knows its IPv4 address.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ARP provides two basic functions: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Resolving IPv4 addresses to MAC addresses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Maintaining an ARP table of IPv4 to MAC address mappings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41986A-C605-432D-B527-C5259DB44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915" y="844061"/>
            <a:ext cx="4079662" cy="279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0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Functions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To send a frame, a device will search its ARP table for a destination IPv4 address and a corresponding MAC address.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packet’s destination IPv4 address is on the same network, the device will search the ARP table for the destination IPv4 address.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destination IPv4 address is on a different network, the device will search the ARP table for the IPv4 address of the default gateway.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device locates the IPv4 address, its corresponding MAC address is used as the destination MAC address in the frame. 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there is no ARP table entry is found, then the device sends an ARP request.</a:t>
            </a:r>
          </a:p>
        </p:txBody>
      </p:sp>
    </p:spTree>
    <p:extLst>
      <p:ext uri="{BB962C8B-B14F-4D97-AF65-F5344CB8AC3E}">
        <p14:creationId xmlns:p14="http://schemas.microsoft.com/office/powerpoint/2010/main" val="74089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Video - ARP Request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cover an ARP request for a MAC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20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Video – ARP Operation - ARP Reply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cover an ARP reply in response to an ARP request.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21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Video - ARP Role in Remote Communications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cover how an ARP request will provide a host the MAC address of the default gateway.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03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Removing Entries from an ARP Table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113450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Entries in the ARP table are not permanent and are removed when an ARP cache timer expires after a specified period of time.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duration of the ARP cache timer differs depending on the operating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table entries can also be removed manually by the administrator. 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BE25B2-94B6-5B11-EDAA-E41FE72F3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320" y="2007790"/>
            <a:ext cx="4533900" cy="296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Tables on Networking Devices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73183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arp </a:t>
            </a:r>
            <a:r>
              <a:rPr lang="en-US" sz="1600" dirty="0">
                <a:solidFill>
                  <a:srgbClr val="000000"/>
                </a:solidFill>
              </a:rPr>
              <a:t>command displays the ARP table on a Cisco router.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–a</a:t>
            </a:r>
            <a:r>
              <a:rPr lang="en-US" sz="1600" dirty="0">
                <a:solidFill>
                  <a:srgbClr val="000000"/>
                </a:solidFill>
              </a:rPr>
              <a:t> command displays the ARP table on a Windows 10 PC.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4B50D-6EE1-40FE-8374-1A9F3109A798}"/>
              </a:ext>
            </a:extLst>
          </p:cNvPr>
          <p:cNvSpPr txBox="1"/>
          <p:nvPr/>
        </p:nvSpPr>
        <p:spPr>
          <a:xfrm>
            <a:off x="629914" y="1756301"/>
            <a:ext cx="7715574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CA" sz="12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show ip arp          </a:t>
            </a:r>
            <a:endParaRPr lang="en-US" sz="1200" b="1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Protocol  Address          Age (min)  Hardware Addr   Type   Interface</a:t>
            </a:r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Internet  192.168.10.1            -   a0e0.af0d.e140  ARPA   GigabitEthernet0/0/0</a:t>
            </a:r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2B87D4-C52D-48F9-8660-B3A9C2BB16B8}"/>
              </a:ext>
            </a:extLst>
          </p:cNvPr>
          <p:cNvSpPr txBox="1"/>
          <p:nvPr/>
        </p:nvSpPr>
        <p:spPr>
          <a:xfrm>
            <a:off x="629914" y="3011424"/>
            <a:ext cx="7715574" cy="120032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C:\Users\PC&gt; </a:t>
            </a:r>
            <a:r>
              <a:rPr lang="en-CA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-a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Interface: 192.168.1.124 --- 0x10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     Physical Address      Type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           c8-d7-19-cc-a0-86     dynamic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192.168.1.101         08-3e-0c-f5-f7-77     dynamic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2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Issues – ARP Broadcasting and ARP Spoofing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121098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requests are received and processed by every device on the local network.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Excessive ARP broadcasts can cause some reduction in performance.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replies can be spoofed by a threat actor to perform an ARP poisoning attack.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Enterprise level switches include mitigation techniques to protect against ARP attacks.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B02361-F53B-B29B-A877-C1B4D774D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857" y="2107290"/>
            <a:ext cx="5140643" cy="260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0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E381FF45-3B65-47D1-8A90-CFC6E13DF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3" y="284752"/>
            <a:ext cx="9068585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Packet Tracer – Examine the ARP Table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1873196-5222-45C6-8B28-9A608C212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1149825"/>
            <a:ext cx="8280057" cy="3073946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0000"/>
                </a:solidFill>
              </a:rPr>
              <a:t>In this Packet Tracer, you will complete the following objectives: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Examine an ARP Request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Examine a Switch MAC Address Table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Examine the ARP Process in Remote Communications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56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9.3 IPv6 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br>
              <a:rPr lang="en-US" dirty="0"/>
            </a:br>
            <a:r>
              <a:rPr lang="en-US" sz="2400" dirty="0"/>
              <a:t>Video – IPv6 Neighbor Discovery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390" y="848412"/>
            <a:ext cx="8547329" cy="357332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explain the process of how IPv6 performs address resolution using ICMPv6 neighbor solicitation and neighbor advertisement messages.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22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br>
              <a:rPr lang="en-US" dirty="0"/>
            </a:br>
            <a:r>
              <a:rPr lang="en-US" sz="2400" dirty="0"/>
              <a:t>IPv6 Neighbor Discovery Messages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IPv6 Neighbor Discovery (ND) protocol provides: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Address resolution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Router discovery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Redirection services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ICMPv6 Neighbor Solicitation (NS) and Neighbor Advertisement (NA) messages are used for device-to-device messaging such as address resolution.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ICMTPv6 Router Solicitation (RS) and Router Advertisement (RA) messages are used for messaging between devices and routers for router discovery.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ICMPv6 redirect messages are used by routers for better next-hop selection.</a:t>
            </a:r>
          </a:p>
        </p:txBody>
      </p:sp>
    </p:spTree>
    <p:extLst>
      <p:ext uri="{BB962C8B-B14F-4D97-AF65-F5344CB8AC3E}">
        <p14:creationId xmlns:p14="http://schemas.microsoft.com/office/powerpoint/2010/main" val="372190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br>
              <a:rPr lang="en-US" dirty="0"/>
            </a:br>
            <a:r>
              <a:rPr lang="en-US" sz="2400" dirty="0"/>
              <a:t>IPv6 Neighbor Discovery – Address Resolution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730" y="774975"/>
            <a:ext cx="3773496" cy="272869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IPv6 devices use ND to resolve the MAC address of a known IPv6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ICMPv6 Neighbor Solicitation messages are sent using special Ethernet and IPv6 multicast addresses.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C4A0AF-0003-44FE-BC39-5B53008F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47" y="899040"/>
            <a:ext cx="4776067" cy="33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3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0FB63644-4EEA-4181-89E6-657F8BF02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63" y="923582"/>
            <a:ext cx="8280057" cy="3073946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0000"/>
                </a:solidFill>
              </a:rPr>
              <a:t>In this Packet Tracer, you will complete the following objectives: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Part 1: IPv6 Neighbor Discovery Local Network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Part 2: IPv6 Neighbor discovery Remote Network</a:t>
            </a: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7E5C6E2-3BAE-4B94-9B14-1208CF2DA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936"/>
            <a:ext cx="9068585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br>
              <a:rPr lang="en-US" dirty="0"/>
            </a:br>
            <a:r>
              <a:rPr lang="en-US" sz="2400" dirty="0"/>
              <a:t>Packet Tracer – IPv6 Neighbor Discovery</a:t>
            </a:r>
          </a:p>
        </p:txBody>
      </p:sp>
    </p:spTree>
    <p:extLst>
      <p:ext uri="{BB962C8B-B14F-4D97-AF65-F5344CB8AC3E}">
        <p14:creationId xmlns:p14="http://schemas.microsoft.com/office/powerpoint/2010/main" val="66058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9.4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Layer 2 physical addresses (i.e., Ethernet MAC addresses) are used to deliver the data link frame with the encapsulated IP packet from one NIC to another NIC on the same network.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If the destination IP address is on the same network, the destination MAC address will be that of the destination device. 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When the destination IP address (IPv4 or IPv6) is on a remote network, the destination MAC address will be the address of the host default gateway (i.e., the router interface).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An IPv4 device uses ARP to determine the destination MAC address of a local device when it knows its IPv4 address.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ARP provides two basic functions: resolving IPv4 addresses to MAC addresses and maintaining a table of IPv4 to MAC address mappings.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After the ARP reply is received, the device will add the IPv4 address and the corresponding MAC address to its ARP table.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For each device, an ARP cache timer removes ARP entries that have not been used for a specified period of time.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IPv6 does not use ARP, it uses the ND protocol to resolve MAC addresses. 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An IPv6 device uses ICMPv6 Neighbor Discovery to determine the destination MAC address of a local device when it knows its IPv6 address.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9: Address Resolution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2480B83-AF5E-4A70-B69B-F1E3A8FAC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6206135"/>
              </p:ext>
            </p:extLst>
          </p:nvPr>
        </p:nvGraphicFramePr>
        <p:xfrm>
          <a:off x="144463" y="798513"/>
          <a:ext cx="8853486" cy="3474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26743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  <a:gridCol w="4426743">
                  <a:extLst>
                    <a:ext uri="{9D8B030D-6E8A-4147-A177-3AD203B41FA5}">
                      <a16:colId xmlns:a16="http://schemas.microsoft.com/office/drawing/2014/main" val="1988644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Address Resolution Protocol (ARP)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ARP table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show ip arp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arpr -a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Neighbor Discovery protocol (ND)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Neighbor Solicitation (NS) message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Neighbor Advertisement (NA) message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Router Solicitation (RS) message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Router Advertisement (RA) message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Redirect Message</a:t>
                      </a: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9288</TotalTime>
  <Words>1654</Words>
  <Application>Microsoft Office PowerPoint</Application>
  <PresentationFormat>On-screen Show (16:9)</PresentationFormat>
  <Paragraphs>217</Paragraphs>
  <Slides>25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CiscoSans ExtraLight</vt:lpstr>
      <vt:lpstr>Courier New</vt:lpstr>
      <vt:lpstr>Wingdings</vt:lpstr>
      <vt:lpstr>Default Theme</vt:lpstr>
      <vt:lpstr>Module 9: Address Resolution</vt:lpstr>
      <vt:lpstr>Module Objectives</vt:lpstr>
      <vt:lpstr>9.1 MAC and IP</vt:lpstr>
      <vt:lpstr>MAC and IP Destination on Same Network</vt:lpstr>
      <vt:lpstr>MAC and IP Destination on Remote Network</vt:lpstr>
      <vt:lpstr>MAC and IP Packet Tracer – Identify MAC and IP Addresses</vt:lpstr>
      <vt:lpstr>9.2 ARP</vt:lpstr>
      <vt:lpstr>ARP ARP Overview</vt:lpstr>
      <vt:lpstr>ARP ARP Functions</vt:lpstr>
      <vt:lpstr>ARP Video - ARP Request</vt:lpstr>
      <vt:lpstr>ARP Video – ARP Operation - ARP Reply</vt:lpstr>
      <vt:lpstr>ARP Video - ARP Role in Remote Communications</vt:lpstr>
      <vt:lpstr>ARP Removing Entries from an ARP Table</vt:lpstr>
      <vt:lpstr>ARP ARP Tables on Networking Devices</vt:lpstr>
      <vt:lpstr>ARP ARP Issues – ARP Broadcasting and ARP Spoofing</vt:lpstr>
      <vt:lpstr>ARP Packet Tracer – Examine the ARP Table</vt:lpstr>
      <vt:lpstr>9.3 IPv6 ND</vt:lpstr>
      <vt:lpstr>IPv6 Neighbor Discovery Video – IPv6 Neighbor Discovery</vt:lpstr>
      <vt:lpstr>IPv6 Neighbor Discovery IPv6 Neighbor Discovery Messages</vt:lpstr>
      <vt:lpstr>IPv6 Neighbor Discovery IPv6 Neighbor Discovery – Address Resolution</vt:lpstr>
      <vt:lpstr>IPv6 Neighbor Discovery Packet Tracer – IPv6 Neighbor Discovery</vt:lpstr>
      <vt:lpstr>9.4 Module Practice and Quiz</vt:lpstr>
      <vt:lpstr>Module Practice and Quiz What did I learn in this module?</vt:lpstr>
      <vt:lpstr>Module 9: Address Resolution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Michael Holtz</cp:lastModifiedBy>
  <cp:revision>249</cp:revision>
  <dcterms:created xsi:type="dcterms:W3CDTF">2019-10-18T06:21:22Z</dcterms:created>
  <dcterms:modified xsi:type="dcterms:W3CDTF">2024-01-31T21:29:28Z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