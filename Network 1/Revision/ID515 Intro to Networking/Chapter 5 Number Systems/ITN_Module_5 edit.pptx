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6.xml" ContentType="application/vnd.openxmlformats-officedocument.presentationml.tags+xml"/>
  <Override PartName="/ppt/notesSlides/notesSlide18.xml" ContentType="application/vnd.openxmlformats-officedocument.presentationml.notesSlide+xml"/>
  <Override PartName="/ppt/tags/tag7.xml" ContentType="application/vnd.openxmlformats-officedocument.presentationml.tags+xml"/>
  <Override PartName="/ppt/notesSlides/notesSlide19.xml" ContentType="application/vnd.openxmlformats-officedocument.presentationml.notesSlide+xml"/>
  <Override PartName="/ppt/tags/tag8.xml" ContentType="application/vnd.openxmlformats-officedocument.presentationml.tags+xml"/>
  <Override PartName="/ppt/notesSlides/notesSlide20.xml" ContentType="application/vnd.openxmlformats-officedocument.presentationml.notesSlide+xml"/>
  <Override PartName="/ppt/tags/tag9.xml" ContentType="application/vnd.openxmlformats-officedocument.presentationml.tags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3"/>
  </p:notesMasterIdLst>
  <p:sldIdLst>
    <p:sldId id="876" r:id="rId2"/>
    <p:sldId id="860" r:id="rId3"/>
    <p:sldId id="759" r:id="rId4"/>
    <p:sldId id="1054" r:id="rId5"/>
    <p:sldId id="1090" r:id="rId6"/>
    <p:sldId id="1091" r:id="rId7"/>
    <p:sldId id="1092" r:id="rId8"/>
    <p:sldId id="1093" r:id="rId9"/>
    <p:sldId id="1094" r:id="rId10"/>
    <p:sldId id="1095" r:id="rId11"/>
    <p:sldId id="1096" r:id="rId12"/>
    <p:sldId id="1056" r:id="rId13"/>
    <p:sldId id="1097" r:id="rId14"/>
    <p:sldId id="1098" r:id="rId15"/>
    <p:sldId id="1099" r:id="rId16"/>
    <p:sldId id="1100" r:id="rId17"/>
    <p:sldId id="1101" r:id="rId18"/>
    <p:sldId id="957" r:id="rId19"/>
    <p:sldId id="958" r:id="rId20"/>
    <p:sldId id="874" r:id="rId21"/>
    <p:sldId id="291" r:id="rId22"/>
  </p:sldIdLst>
  <p:sldSz cx="9144000" cy="5143500" type="screen16x9"/>
  <p:notesSz cx="6858000" cy="9144000"/>
  <p:custDataLst>
    <p:tags r:id="rId24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/>
  </p:cmAuthor>
  <p:cmAuthor id="2" name="Bob Vachon" initials="BV" lastIdx="24" clrIdx="2">
    <p:extLst/>
  </p:cmAuthor>
  <p:cmAuthor id="3" name="Sue Livingston -X (suliving - UNICON INC at Cisco)" initials="SL-(-UIaC" lastIdx="26" clrIdx="3">
    <p:extLst/>
  </p:cmAuthor>
  <p:cmAuthor id="4" name="jagibbon" initials="jmg" lastIdx="8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34" autoAdjust="0"/>
    <p:restoredTop sz="86438" autoAdjust="0"/>
  </p:normalViewPr>
  <p:slideViewPr>
    <p:cSldViewPr snapToGrid="0" showGuides="1">
      <p:cViewPr varScale="1">
        <p:scale>
          <a:sx n="140" d="100"/>
          <a:sy n="140" d="100"/>
        </p:scale>
        <p:origin x="-990" y="-102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21-Dec-20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Cisco Networking Academy Program</a:t>
            </a:r>
          </a:p>
          <a:p>
            <a:r>
              <a:rPr lang="en-US" dirty="0"/>
              <a:t>Introduction to Networks v7.0 (ITN)</a:t>
            </a:r>
          </a:p>
          <a:p>
            <a:r>
              <a:rPr lang="en-US" dirty="0"/>
              <a:t>Module 5: Number Systems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>
                <a:solidFill>
                  <a:prstClr val="black"/>
                </a:solidFill>
              </a:rPr>
              <a:pPr algn="r"/>
              <a:t>2</a:t>
            </a:fld>
            <a:endParaRPr lang="en-US" sz="800" b="0" dirty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GB" dirty="0"/>
              <a:t>5.0- Introduction</a:t>
            </a:r>
          </a:p>
          <a:p>
            <a:pPr>
              <a:buFontTx/>
              <a:buNone/>
            </a:pPr>
            <a:r>
              <a:rPr lang="en-GB" dirty="0"/>
              <a:t>5.0.2 – What will I learn in this module?</a:t>
            </a:r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5 -Number Systems</a:t>
            </a:r>
          </a:p>
          <a:p>
            <a:r>
              <a:rPr lang="en-US" dirty="0"/>
              <a:t>5.1 Binary Number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5.1.1 – Binary and IPv4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5.1.2 – Video – Convert Between Binary and Decimal Numbering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542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5.1.3 – Binary Positional Notation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881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5.1.3 – Binary Positional Notation</a:t>
            </a:r>
          </a:p>
          <a:p>
            <a:r>
              <a:rPr lang="en-US" dirty="0"/>
              <a:t>5.1.4 – Check Your Understanding – Binary Number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978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5.1.5  - Convert Binary to Decimal</a:t>
            </a:r>
          </a:p>
          <a:p>
            <a:r>
              <a:rPr lang="en-US" dirty="0"/>
              <a:t>5.1.6 – Activity – Binary to Decimal Conversions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677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5.1.7 – Decimal to Binary Conversion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153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5.1.8 – Decimal to Binary Conversion Example</a:t>
            </a:r>
          </a:p>
          <a:p>
            <a:r>
              <a:rPr lang="en-US" dirty="0"/>
              <a:t>5.1.9 - Activity – Decimal to Binary Conversions</a:t>
            </a:r>
          </a:p>
          <a:p>
            <a:r>
              <a:rPr lang="en-US" dirty="0"/>
              <a:t>5.1.10 – Activity – Binary Game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694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5.1 – Binary Number Systems</a:t>
            </a:r>
          </a:p>
          <a:p>
            <a:r>
              <a:rPr lang="en-US" dirty="0"/>
              <a:t>5.1.11 – IPv4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7983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 Number Systems</a:t>
            </a:r>
          </a:p>
          <a:p>
            <a:r>
              <a:rPr lang="en-US" dirty="0"/>
              <a:t>5.2 - Hexadecimal Number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5.2 – Hexadecimal Number Systems</a:t>
            </a:r>
          </a:p>
          <a:p>
            <a:r>
              <a:rPr lang="en-US" dirty="0"/>
              <a:t>5.2.1– Hexadecimal and IPv6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8363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5.2 – Hexadecimal Number Systems</a:t>
            </a:r>
          </a:p>
          <a:p>
            <a:r>
              <a:rPr lang="en-US" dirty="0"/>
              <a:t>5.2.1– Hexadecimal and IPv6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8752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5.2 – Hexadecimal Number Systems</a:t>
            </a:r>
          </a:p>
          <a:p>
            <a:r>
              <a:rPr lang="en-US" dirty="0"/>
              <a:t>5.2.2 – Video – Converting Between Hexadecimal and Decimal Numbering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443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5.2 – Hexadecimal Number Systems</a:t>
            </a:r>
          </a:p>
          <a:p>
            <a:r>
              <a:rPr lang="en-US" dirty="0"/>
              <a:t>5.2.3 – </a:t>
            </a:r>
            <a:r>
              <a:rPr lang="en-US" sz="1200" dirty="0"/>
              <a:t>Decimal to Hexadecimal Conversions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2798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5.2 – Hexadecimal Number Systems</a:t>
            </a:r>
          </a:p>
          <a:p>
            <a:r>
              <a:rPr lang="en-US" dirty="0"/>
              <a:t>5.2.4 - </a:t>
            </a:r>
            <a:r>
              <a:rPr lang="en-US" sz="1200" dirty="0"/>
              <a:t>Hexadecimal to Decimal Conversions</a:t>
            </a:r>
          </a:p>
          <a:p>
            <a:r>
              <a:rPr lang="en-US" sz="1200" dirty="0"/>
              <a:t>5.2.5 – Check Your Understanding – Hexadecimal Number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7155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5 - Number Systems</a:t>
            </a:r>
          </a:p>
          <a:p>
            <a:pPr>
              <a:buFontTx/>
              <a:buNone/>
            </a:pPr>
            <a:r>
              <a:rPr lang="en-US" dirty="0"/>
              <a:t>5.3 Module Practice and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19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5 – Number Systems</a:t>
            </a:r>
          </a:p>
          <a:p>
            <a:r>
              <a:rPr lang="en-US" dirty="0"/>
              <a:t>5.3 - Module Practice and Quiz</a:t>
            </a:r>
          </a:p>
          <a:p>
            <a:r>
              <a:rPr lang="en-US" dirty="0"/>
              <a:t>5.3.1 – What Did I Learn In This Module?</a:t>
            </a:r>
          </a:p>
          <a:p>
            <a:r>
              <a:rPr lang="en-US" sz="1200" dirty="0"/>
              <a:t>5.3.2 – Module Quiz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>
                <a:solidFill>
                  <a:prstClr val="black"/>
                </a:solidFill>
              </a:rPr>
              <a:pPr/>
              <a:t>20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 xmlns="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 xmlns="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 xmlns="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5: Number Systems</a:t>
            </a:r>
          </a:p>
        </p:txBody>
      </p:sp>
      <p:sp>
        <p:nvSpPr>
          <p:cNvPr id="4" name="Subtitle 6">
            <a:extLst>
              <a:ext uri="{FF2B5EF4-FFF2-40B4-BE49-F238E27FC236}">
                <a16:creationId xmlns:a16="http://schemas.microsoft.com/office/drawing/2014/main" xmlns="" id="{8DD39E36-01CA-477F-AEAE-748C42C8B4E2}"/>
              </a:ext>
            </a:extLst>
          </p:cNvPr>
          <p:cNvSpPr txBox="1">
            <a:spLocks/>
          </p:cNvSpPr>
          <p:nvPr/>
        </p:nvSpPr>
        <p:spPr>
          <a:xfrm>
            <a:off x="469497" y="3646043"/>
            <a:ext cx="2368954" cy="902174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 defTabSz="684213" rtl="0" eaLnBrk="1" fontAlgn="base" hangingPunct="1">
              <a:lnSpc>
                <a:spcPct val="95000"/>
              </a:lnSpc>
              <a:spcBef>
                <a:spcPts val="1075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Arial" charset="0"/>
              <a:buNone/>
              <a:defRPr lang="en-US" sz="1200" b="0" i="0" kern="1200">
                <a:solidFill>
                  <a:schemeClr val="accent5"/>
                </a:solidFill>
                <a:latin typeface="+mn-lt"/>
                <a:ea typeface="ＭＳ Ｐゴシック" charset="0"/>
                <a:cs typeface="CiscoSans"/>
              </a:defRPr>
            </a:lvl1pPr>
            <a:lvl2pPr marL="342856" indent="0" algn="ctr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None/>
              <a:defRPr lang="en-US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2pPr>
            <a:lvl3pPr marL="685720" indent="0" algn="ctr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None/>
              <a:def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3pPr>
            <a:lvl4pPr marL="1028579" indent="0" algn="ctr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None/>
              <a:def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4pPr>
            <a:lvl5pPr marL="1371441" indent="0" algn="ctr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None/>
              <a:def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5pPr>
            <a:lvl6pPr marL="1714297" indent="0" algn="ctr" defTabSz="685777" rtl="0" eaLnBrk="1" latinLnBrk="0" hangingPunct="1">
              <a:spcBef>
                <a:spcPts val="600"/>
              </a:spcBef>
              <a:buFont typeface="Arial" pitchFamily="34" charset="0"/>
              <a:buNone/>
              <a:defRPr sz="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161" indent="0" algn="ctr" defTabSz="685777" rtl="0" eaLnBrk="1" latinLnBrk="0" hangingPunct="1">
              <a:spcBef>
                <a:spcPts val="600"/>
              </a:spcBef>
              <a:buFont typeface="Arial" pitchFamily="34" charset="0"/>
              <a:buNone/>
              <a:defRPr sz="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020" indent="0" algn="ctr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2882" indent="0" algn="ctr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Module Objectives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xmlns="" id="{1BC18D5F-2DAE-4928-9876-7F81DBAC95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462" y="798944"/>
            <a:ext cx="88534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Title: </a:t>
            </a:r>
            <a:r>
              <a:rPr lang="en-US" altLang="en-US" sz="1600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Number Systems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Objective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en-US" sz="1600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Calculate numbers between decimal, binary, and hexadecimal systems.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xmlns="" id="{CA1CF45F-6FFF-4E7B-A283-AF4D9C8D6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683985"/>
              </p:ext>
            </p:extLst>
          </p:nvPr>
        </p:nvGraphicFramePr>
        <p:xfrm>
          <a:off x="1080754" y="2050715"/>
          <a:ext cx="6980904" cy="10519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90452">
                  <a:extLst>
                    <a:ext uri="{9D8B030D-6E8A-4147-A177-3AD203B41FA5}">
                      <a16:colId xmlns:a16="http://schemas.microsoft.com/office/drawing/2014/main" xmlns="" val="1523797708"/>
                    </a:ext>
                  </a:extLst>
                </a:gridCol>
                <a:gridCol w="3490452">
                  <a:extLst>
                    <a:ext uri="{9D8B030D-6E8A-4147-A177-3AD203B41FA5}">
                      <a16:colId xmlns:a16="http://schemas.microsoft.com/office/drawing/2014/main" xmlns="" val="2750207184"/>
                    </a:ext>
                  </a:extLst>
                </a:gridCol>
              </a:tblGrid>
              <a:tr h="2163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Title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Objective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874061904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Binary Number System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a:t>Calculate numbers between decimal and binary systems.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646858405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Hexadecimal Number System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a:t>Calculate numbers between decimal and hexadecimal systems.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43590425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119238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5.1 Binary Number System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Binary and IPv4 Addresses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531276" cy="174552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Binary numbering system consists of 1s and 0s, called bits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Decimal numbering system consists of digits 0 through 9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Hosts, servers, and network equipment using binary addressing to identify each other.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Each address is made up of a string of 32 bits, divided into four sections called octets.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Each octet contains 8 bits (or 1 byte) separated by a dot.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For ease of use by people, this dotted notation is converted to dotted decimal.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CD0F2E4-E369-A548-A618-9BAB0C0C5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08" y="2722001"/>
            <a:ext cx="3473597" cy="1745526"/>
          </a:xfrm>
          <a:prstGeom prst="rect">
            <a:avLst/>
          </a:prstGeom>
        </p:spPr>
      </p:pic>
      <p:sp>
        <p:nvSpPr>
          <p:cNvPr id="7" name="Striped Right Arrow 6">
            <a:extLst>
              <a:ext uri="{FF2B5EF4-FFF2-40B4-BE49-F238E27FC236}">
                <a16:creationId xmlns:a16="http://schemas.microsoft.com/office/drawing/2014/main" xmlns="" id="{71668B65-DD31-5646-8CF8-039199DDBBA7}"/>
              </a:ext>
            </a:extLst>
          </p:cNvPr>
          <p:cNvSpPr/>
          <p:nvPr/>
        </p:nvSpPr>
        <p:spPr>
          <a:xfrm>
            <a:off x="3992526" y="3474830"/>
            <a:ext cx="520995" cy="239867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E5F7270-39AA-FE40-92FD-F80B1DD90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609" y="2722001"/>
            <a:ext cx="3227909" cy="174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Video – Convert Between Binary and Decimal Numbering Systems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056AB3A8-AF6D-4821-B196-F1B8058BD7B6}"/>
              </a:ext>
            </a:extLst>
          </p:cNvPr>
          <p:cNvSpPr/>
          <p:nvPr/>
        </p:nvSpPr>
        <p:spPr>
          <a:xfrm>
            <a:off x="332509" y="1138843"/>
            <a:ext cx="8345488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" indent="0">
              <a:buNone/>
            </a:pPr>
            <a:r>
              <a:rPr lang="en-US" dirty="0"/>
              <a:t>This video will cover the following:</a:t>
            </a:r>
          </a:p>
          <a:p>
            <a:pPr marL="57150" indent="0"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Positional notation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Powers of 10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Decimal – base 10 numbering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Binary – base 2 numbering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Convert an P address in binary to decimal numbering</a:t>
            </a:r>
          </a:p>
        </p:txBody>
      </p:sp>
    </p:spTree>
    <p:extLst>
      <p:ext uri="{BB962C8B-B14F-4D97-AF65-F5344CB8AC3E}">
        <p14:creationId xmlns:p14="http://schemas.microsoft.com/office/powerpoint/2010/main" val="385041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Binary Positional Notation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1329901-EBC7-0747-A1C2-F937CA26E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39972"/>
            <a:ext cx="8280057" cy="1005453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Positional notation means that a digit represents different values depending on the “position” the digit occupies in the sequence of numbers.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decimal positional notation system operates as shown in the tables below.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559CEC86-4057-DA4B-98C8-93666AE4B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672850"/>
              </p:ext>
            </p:extLst>
          </p:nvPr>
        </p:nvGraphicFramePr>
        <p:xfrm>
          <a:off x="389281" y="2464614"/>
          <a:ext cx="3402419" cy="121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437">
                  <a:extLst>
                    <a:ext uri="{9D8B030D-6E8A-4147-A177-3AD203B41FA5}">
                      <a16:colId xmlns:a16="http://schemas.microsoft.com/office/drawing/2014/main" xmlns="" val="3837822917"/>
                    </a:ext>
                  </a:extLst>
                </a:gridCol>
                <a:gridCol w="465690">
                  <a:extLst>
                    <a:ext uri="{9D8B030D-6E8A-4147-A177-3AD203B41FA5}">
                      <a16:colId xmlns:a16="http://schemas.microsoft.com/office/drawing/2014/main" xmlns="" val="2257126818"/>
                    </a:ext>
                  </a:extLst>
                </a:gridCol>
                <a:gridCol w="490708">
                  <a:extLst>
                    <a:ext uri="{9D8B030D-6E8A-4147-A177-3AD203B41FA5}">
                      <a16:colId xmlns:a16="http://schemas.microsoft.com/office/drawing/2014/main" xmlns="" val="733968975"/>
                    </a:ext>
                  </a:extLst>
                </a:gridCol>
                <a:gridCol w="480266">
                  <a:extLst>
                    <a:ext uri="{9D8B030D-6E8A-4147-A177-3AD203B41FA5}">
                      <a16:colId xmlns:a16="http://schemas.microsoft.com/office/drawing/2014/main" xmlns="" val="2184405947"/>
                    </a:ext>
                  </a:extLst>
                </a:gridCol>
                <a:gridCol w="647318">
                  <a:extLst>
                    <a:ext uri="{9D8B030D-6E8A-4147-A177-3AD203B41FA5}">
                      <a16:colId xmlns:a16="http://schemas.microsoft.com/office/drawing/2014/main" xmlns="" val="326059745"/>
                    </a:ext>
                  </a:extLst>
                </a:gridCol>
              </a:tblGrid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Radix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98718847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Position in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80694335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(10</a:t>
                      </a:r>
                      <a:r>
                        <a:rPr lang="en-US" sz="1000" baseline="30000" dirty="0"/>
                        <a:t>3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(10</a:t>
                      </a:r>
                      <a:r>
                        <a:rPr lang="en-US" sz="1000" baseline="30000" dirty="0"/>
                        <a:t>2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(10</a:t>
                      </a:r>
                      <a:r>
                        <a:rPr lang="en-US" sz="1000" baseline="30000" dirty="0"/>
                        <a:t>1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(10</a:t>
                      </a:r>
                      <a:r>
                        <a:rPr lang="en-US" sz="1000" baseline="30000" dirty="0"/>
                        <a:t>0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26254151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Position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26814726"/>
                  </a:ext>
                </a:extLst>
              </a:tr>
            </a:tbl>
          </a:graphicData>
        </a:graphic>
      </p:graphicFrame>
      <p:sp>
        <p:nvSpPr>
          <p:cNvPr id="7" name="Striped Right Arrow 6">
            <a:extLst>
              <a:ext uri="{FF2B5EF4-FFF2-40B4-BE49-F238E27FC236}">
                <a16:creationId xmlns:a16="http://schemas.microsoft.com/office/drawing/2014/main" xmlns="" id="{42020144-2692-E747-88CD-CE940510F874}"/>
              </a:ext>
            </a:extLst>
          </p:cNvPr>
          <p:cNvSpPr/>
          <p:nvPr/>
        </p:nvSpPr>
        <p:spPr>
          <a:xfrm>
            <a:off x="3846144" y="2975788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ED3027A9-4D3C-0E45-A334-44753559F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983596"/>
              </p:ext>
            </p:extLst>
          </p:nvPr>
        </p:nvGraphicFramePr>
        <p:xfrm>
          <a:off x="4285498" y="2286740"/>
          <a:ext cx="4469221" cy="15703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62986">
                  <a:extLst>
                    <a:ext uri="{9D8B030D-6E8A-4147-A177-3AD203B41FA5}">
                      <a16:colId xmlns:a16="http://schemas.microsoft.com/office/drawing/2014/main" xmlns="" val="82544986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400489453"/>
                    </a:ext>
                  </a:extLst>
                </a:gridCol>
                <a:gridCol w="776177">
                  <a:extLst>
                    <a:ext uri="{9D8B030D-6E8A-4147-A177-3AD203B41FA5}">
                      <a16:colId xmlns:a16="http://schemas.microsoft.com/office/drawing/2014/main" xmlns="" val="2753584476"/>
                    </a:ext>
                  </a:extLst>
                </a:gridCol>
                <a:gridCol w="659218">
                  <a:extLst>
                    <a:ext uri="{9D8B030D-6E8A-4147-A177-3AD203B41FA5}">
                      <a16:colId xmlns:a16="http://schemas.microsoft.com/office/drawing/2014/main" xmlns="" val="589627143"/>
                    </a:ext>
                  </a:extLst>
                </a:gridCol>
                <a:gridCol w="556440">
                  <a:extLst>
                    <a:ext uri="{9D8B030D-6E8A-4147-A177-3AD203B41FA5}">
                      <a16:colId xmlns:a16="http://schemas.microsoft.com/office/drawing/2014/main" xmlns="" val="281118420"/>
                    </a:ext>
                  </a:extLst>
                </a:gridCol>
              </a:tblGrid>
              <a:tr h="261728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Thousands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Hundreds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62842908"/>
                  </a:ext>
                </a:extLst>
              </a:tr>
              <a:tr h="261728">
                <a:tc>
                  <a:txBody>
                    <a:bodyPr/>
                    <a:lstStyle/>
                    <a:p>
                      <a:r>
                        <a:rPr lang="en-US" sz="1000" dirty="0"/>
                        <a:t>Positional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89960212"/>
                  </a:ext>
                </a:extLst>
              </a:tr>
              <a:tr h="261728">
                <a:tc>
                  <a:txBody>
                    <a:bodyPr/>
                    <a:lstStyle/>
                    <a:p>
                      <a:r>
                        <a:rPr lang="en-US" sz="1000" dirty="0"/>
                        <a:t>Decimal Number (1234)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18247003"/>
                  </a:ext>
                </a:extLst>
              </a:tr>
              <a:tr h="261728">
                <a:tc>
                  <a:txBody>
                    <a:bodyPr/>
                    <a:lstStyle/>
                    <a:p>
                      <a:r>
                        <a:rPr lang="en-US" sz="10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 x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 x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 x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 x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06830395"/>
                  </a:ext>
                </a:extLst>
              </a:tr>
              <a:tr h="261728">
                <a:tc>
                  <a:txBody>
                    <a:bodyPr/>
                    <a:lstStyle/>
                    <a:p>
                      <a:r>
                        <a:rPr lang="en-US" sz="1000" dirty="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22523445"/>
                  </a:ext>
                </a:extLst>
              </a:tr>
              <a:tr h="261728">
                <a:tc>
                  <a:txBody>
                    <a:bodyPr/>
                    <a:lstStyle/>
                    <a:p>
                      <a:r>
                        <a:rPr lang="en-US" sz="1000" dirty="0"/>
                        <a:t>Result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1,234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144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362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Binary Positional Notation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1329901-EBC7-0747-A1C2-F937CA26E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39972"/>
            <a:ext cx="8280057" cy="334762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The binary positional notation system operates as shown in the tables below.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559CEC86-4057-DA4B-98C8-93666AE4B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030563"/>
              </p:ext>
            </p:extLst>
          </p:nvPr>
        </p:nvGraphicFramePr>
        <p:xfrm>
          <a:off x="389281" y="1265932"/>
          <a:ext cx="5733792" cy="121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498">
                  <a:extLst>
                    <a:ext uri="{9D8B030D-6E8A-4147-A177-3AD203B41FA5}">
                      <a16:colId xmlns:a16="http://schemas.microsoft.com/office/drawing/2014/main" xmlns="" val="3837822917"/>
                    </a:ext>
                  </a:extLst>
                </a:gridCol>
                <a:gridCol w="499730">
                  <a:extLst>
                    <a:ext uri="{9D8B030D-6E8A-4147-A177-3AD203B41FA5}">
                      <a16:colId xmlns:a16="http://schemas.microsoft.com/office/drawing/2014/main" xmlns="" val="225712681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733968975"/>
                    </a:ext>
                  </a:extLst>
                </a:gridCol>
                <a:gridCol w="435935">
                  <a:extLst>
                    <a:ext uri="{9D8B030D-6E8A-4147-A177-3AD203B41FA5}">
                      <a16:colId xmlns:a16="http://schemas.microsoft.com/office/drawing/2014/main" xmlns="" val="2184405947"/>
                    </a:ext>
                  </a:extLst>
                </a:gridCol>
                <a:gridCol w="435935">
                  <a:extLst>
                    <a:ext uri="{9D8B030D-6E8A-4147-A177-3AD203B41FA5}">
                      <a16:colId xmlns:a16="http://schemas.microsoft.com/office/drawing/2014/main" xmlns="" val="2878814134"/>
                    </a:ext>
                  </a:extLst>
                </a:gridCol>
                <a:gridCol w="499730">
                  <a:extLst>
                    <a:ext uri="{9D8B030D-6E8A-4147-A177-3AD203B41FA5}">
                      <a16:colId xmlns:a16="http://schemas.microsoft.com/office/drawing/2014/main" xmlns="" val="32605974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1053828557"/>
                    </a:ext>
                  </a:extLst>
                </a:gridCol>
                <a:gridCol w="478466">
                  <a:extLst>
                    <a:ext uri="{9D8B030D-6E8A-4147-A177-3AD203B41FA5}">
                      <a16:colId xmlns:a16="http://schemas.microsoft.com/office/drawing/2014/main" xmlns="" val="830387269"/>
                    </a:ext>
                  </a:extLst>
                </a:gridCol>
                <a:gridCol w="489098">
                  <a:extLst>
                    <a:ext uri="{9D8B030D-6E8A-4147-A177-3AD203B41FA5}">
                      <a16:colId xmlns:a16="http://schemas.microsoft.com/office/drawing/2014/main" xmlns="" val="3034883102"/>
                    </a:ext>
                  </a:extLst>
                </a:gridCol>
              </a:tblGrid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Radix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98718847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Position in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80694335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7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6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5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4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3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2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1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</a:t>
                      </a:r>
                      <a:r>
                        <a:rPr lang="en-US" sz="1000" baseline="30000" dirty="0"/>
                        <a:t>0</a:t>
                      </a:r>
                      <a:r>
                        <a:rPr lang="en-US" sz="10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26254151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Position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26814726"/>
                  </a:ext>
                </a:extLst>
              </a:tr>
            </a:tbl>
          </a:graphicData>
        </a:graphic>
      </p:graphicFrame>
      <p:sp>
        <p:nvSpPr>
          <p:cNvPr id="7" name="Striped Right Arrow 6">
            <a:extLst>
              <a:ext uri="{FF2B5EF4-FFF2-40B4-BE49-F238E27FC236}">
                <a16:creationId xmlns:a16="http://schemas.microsoft.com/office/drawing/2014/main" xmlns="" id="{42020144-2692-E747-88CD-CE940510F874}"/>
              </a:ext>
            </a:extLst>
          </p:cNvPr>
          <p:cNvSpPr/>
          <p:nvPr/>
        </p:nvSpPr>
        <p:spPr>
          <a:xfrm rot="5400000">
            <a:off x="3753951" y="2666137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5AF9CA21-1491-D046-A16A-EF95E9FFD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745532"/>
              </p:ext>
            </p:extLst>
          </p:nvPr>
        </p:nvGraphicFramePr>
        <p:xfrm>
          <a:off x="2611696" y="3037184"/>
          <a:ext cx="5733792" cy="15182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00816">
                  <a:extLst>
                    <a:ext uri="{9D8B030D-6E8A-4147-A177-3AD203B41FA5}">
                      <a16:colId xmlns:a16="http://schemas.microsoft.com/office/drawing/2014/main" xmlns="" val="3837822917"/>
                    </a:ext>
                  </a:extLst>
                </a:gridCol>
                <a:gridCol w="584790">
                  <a:extLst>
                    <a:ext uri="{9D8B030D-6E8A-4147-A177-3AD203B41FA5}">
                      <a16:colId xmlns:a16="http://schemas.microsoft.com/office/drawing/2014/main" xmlns="" val="2257126818"/>
                    </a:ext>
                  </a:extLst>
                </a:gridCol>
                <a:gridCol w="489098">
                  <a:extLst>
                    <a:ext uri="{9D8B030D-6E8A-4147-A177-3AD203B41FA5}">
                      <a16:colId xmlns:a16="http://schemas.microsoft.com/office/drawing/2014/main" xmlns="" val="733968975"/>
                    </a:ext>
                  </a:extLst>
                </a:gridCol>
                <a:gridCol w="499730">
                  <a:extLst>
                    <a:ext uri="{9D8B030D-6E8A-4147-A177-3AD203B41FA5}">
                      <a16:colId xmlns:a16="http://schemas.microsoft.com/office/drawing/2014/main" xmlns="" val="2184405947"/>
                    </a:ext>
                  </a:extLst>
                </a:gridCol>
                <a:gridCol w="478465">
                  <a:extLst>
                    <a:ext uri="{9D8B030D-6E8A-4147-A177-3AD203B41FA5}">
                      <a16:colId xmlns:a16="http://schemas.microsoft.com/office/drawing/2014/main" xmlns="" val="2878814134"/>
                    </a:ext>
                  </a:extLst>
                </a:gridCol>
                <a:gridCol w="456129">
                  <a:extLst>
                    <a:ext uri="{9D8B030D-6E8A-4147-A177-3AD203B41FA5}">
                      <a16:colId xmlns:a16="http://schemas.microsoft.com/office/drawing/2014/main" xmlns="" val="32605974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1053828557"/>
                    </a:ext>
                  </a:extLst>
                </a:gridCol>
                <a:gridCol w="478466">
                  <a:extLst>
                    <a:ext uri="{9D8B030D-6E8A-4147-A177-3AD203B41FA5}">
                      <a16:colId xmlns:a16="http://schemas.microsoft.com/office/drawing/2014/main" xmlns="" val="830387269"/>
                    </a:ext>
                  </a:extLst>
                </a:gridCol>
                <a:gridCol w="489098">
                  <a:extLst>
                    <a:ext uri="{9D8B030D-6E8A-4147-A177-3AD203B41FA5}">
                      <a16:colId xmlns:a16="http://schemas.microsoft.com/office/drawing/2014/main" xmlns="" val="3034883102"/>
                    </a:ext>
                  </a:extLst>
                </a:gridCol>
              </a:tblGrid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Positional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98718847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Binary Number (11000000)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80694335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1x128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0x16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26254151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+ 0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26814726"/>
                  </a:ext>
                </a:extLst>
              </a:tr>
              <a:tr h="303655">
                <a:tc>
                  <a:txBody>
                    <a:bodyPr/>
                    <a:lstStyle/>
                    <a:p>
                      <a:r>
                        <a:rPr lang="en-US" sz="1000" dirty="0"/>
                        <a:t>Result</a:t>
                      </a:r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192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53779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23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900"/>
            <a:ext cx="8345488" cy="642000"/>
          </a:xfrm>
        </p:spPr>
        <p:txBody>
          <a:bodyPr/>
          <a:lstStyle/>
          <a:p>
            <a:r>
              <a:rPr lang="en-US" sz="1600" dirty="0"/>
              <a:t>Binary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Convert Binary to Decimal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E33637D-1648-514C-8643-E324E7FBCF34}"/>
              </a:ext>
            </a:extLst>
          </p:cNvPr>
          <p:cNvSpPr txBox="1"/>
          <p:nvPr/>
        </p:nvSpPr>
        <p:spPr>
          <a:xfrm>
            <a:off x="457201" y="609847"/>
            <a:ext cx="5079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Convert 11000000.10101000.00001011.00001010 to decimal.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5AF9CA21-1491-D046-A16A-EF95E9FFD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375451"/>
              </p:ext>
            </p:extLst>
          </p:nvPr>
        </p:nvGraphicFramePr>
        <p:xfrm>
          <a:off x="457201" y="870063"/>
          <a:ext cx="5220587" cy="371256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50437">
                  <a:extLst>
                    <a:ext uri="{9D8B030D-6E8A-4147-A177-3AD203B41FA5}">
                      <a16:colId xmlns:a16="http://schemas.microsoft.com/office/drawing/2014/main" xmlns="" val="3837822917"/>
                    </a:ext>
                  </a:extLst>
                </a:gridCol>
                <a:gridCol w="530842">
                  <a:extLst>
                    <a:ext uri="{9D8B030D-6E8A-4147-A177-3AD203B41FA5}">
                      <a16:colId xmlns:a16="http://schemas.microsoft.com/office/drawing/2014/main" xmlns="" val="2257126818"/>
                    </a:ext>
                  </a:extLst>
                </a:gridCol>
                <a:gridCol w="443978">
                  <a:extLst>
                    <a:ext uri="{9D8B030D-6E8A-4147-A177-3AD203B41FA5}">
                      <a16:colId xmlns:a16="http://schemas.microsoft.com/office/drawing/2014/main" xmlns="" val="733968975"/>
                    </a:ext>
                  </a:extLst>
                </a:gridCol>
                <a:gridCol w="453629">
                  <a:extLst>
                    <a:ext uri="{9D8B030D-6E8A-4147-A177-3AD203B41FA5}">
                      <a16:colId xmlns:a16="http://schemas.microsoft.com/office/drawing/2014/main" xmlns="" val="2184405947"/>
                    </a:ext>
                  </a:extLst>
                </a:gridCol>
                <a:gridCol w="434325">
                  <a:extLst>
                    <a:ext uri="{9D8B030D-6E8A-4147-A177-3AD203B41FA5}">
                      <a16:colId xmlns:a16="http://schemas.microsoft.com/office/drawing/2014/main" xmlns="" val="2878814134"/>
                    </a:ext>
                  </a:extLst>
                </a:gridCol>
                <a:gridCol w="414050">
                  <a:extLst>
                    <a:ext uri="{9D8B030D-6E8A-4147-A177-3AD203B41FA5}">
                      <a16:colId xmlns:a16="http://schemas.microsoft.com/office/drawing/2014/main" xmlns="" val="326059745"/>
                    </a:ext>
                  </a:extLst>
                </a:gridCol>
                <a:gridCol w="415022">
                  <a:extLst>
                    <a:ext uri="{9D8B030D-6E8A-4147-A177-3AD203B41FA5}">
                      <a16:colId xmlns:a16="http://schemas.microsoft.com/office/drawing/2014/main" xmlns="" val="1053828557"/>
                    </a:ext>
                  </a:extLst>
                </a:gridCol>
                <a:gridCol w="434326">
                  <a:extLst>
                    <a:ext uri="{9D8B030D-6E8A-4147-A177-3AD203B41FA5}">
                      <a16:colId xmlns:a16="http://schemas.microsoft.com/office/drawing/2014/main" xmlns="" val="830387269"/>
                    </a:ext>
                  </a:extLst>
                </a:gridCol>
                <a:gridCol w="443978">
                  <a:extLst>
                    <a:ext uri="{9D8B030D-6E8A-4147-A177-3AD203B41FA5}">
                      <a16:colId xmlns:a16="http://schemas.microsoft.com/office/drawing/2014/main" xmlns="" val="3034883102"/>
                    </a:ext>
                  </a:extLst>
                </a:gridCol>
              </a:tblGrid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Positional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98718847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b="1" dirty="0"/>
                        <a:t>Binary Number (11000000)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80694335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26254151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26814726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b="1" dirty="0"/>
                        <a:t>Binary Number (10101000)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35192349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05965177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63785248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b="1" dirty="0"/>
                        <a:t>Binary Number (00001011)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11484521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80687189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1276895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b="1" dirty="0"/>
                        <a:t>Binary Number (00001010)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14818952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Calculate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87708464"/>
                  </a:ext>
                </a:extLst>
              </a:tr>
              <a:tr h="285582">
                <a:tc>
                  <a:txBody>
                    <a:bodyPr/>
                    <a:lstStyle/>
                    <a:p>
                      <a:r>
                        <a:rPr lang="en-US" sz="900" dirty="0"/>
                        <a:t>Add Them Up…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+ 0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43732414"/>
                  </a:ext>
                </a:extLst>
              </a:tr>
            </a:tbl>
          </a:graphicData>
        </a:graphic>
      </p:graphicFrame>
      <p:sp>
        <p:nvSpPr>
          <p:cNvPr id="10" name="Striped Right Arrow 9">
            <a:extLst>
              <a:ext uri="{FF2B5EF4-FFF2-40B4-BE49-F238E27FC236}">
                <a16:creationId xmlns:a16="http://schemas.microsoft.com/office/drawing/2014/main" xmlns="" id="{D49ED2DC-1A84-EF4D-A815-27AB78E5A890}"/>
              </a:ext>
            </a:extLst>
          </p:cNvPr>
          <p:cNvSpPr/>
          <p:nvPr/>
        </p:nvSpPr>
        <p:spPr>
          <a:xfrm>
            <a:off x="5760005" y="1774309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4DF44BE1-E74E-B943-ACAF-701CDE5A5AB1}"/>
              </a:ext>
            </a:extLst>
          </p:cNvPr>
          <p:cNvSpPr txBox="1"/>
          <p:nvPr/>
        </p:nvSpPr>
        <p:spPr>
          <a:xfrm>
            <a:off x="6141049" y="1668465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192</a:t>
            </a:r>
          </a:p>
        </p:txBody>
      </p:sp>
      <p:sp>
        <p:nvSpPr>
          <p:cNvPr id="11" name="Striped Right Arrow 10">
            <a:extLst>
              <a:ext uri="{FF2B5EF4-FFF2-40B4-BE49-F238E27FC236}">
                <a16:creationId xmlns:a16="http://schemas.microsoft.com/office/drawing/2014/main" xmlns="" id="{E2DD788D-C7C9-8F41-9780-6C918558245C}"/>
              </a:ext>
            </a:extLst>
          </p:cNvPr>
          <p:cNvSpPr/>
          <p:nvPr/>
        </p:nvSpPr>
        <p:spPr>
          <a:xfrm>
            <a:off x="5760005" y="2630210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23DAB09D-5C2D-3F4E-8845-7623CD741BA3}"/>
              </a:ext>
            </a:extLst>
          </p:cNvPr>
          <p:cNvSpPr txBox="1"/>
          <p:nvPr/>
        </p:nvSpPr>
        <p:spPr>
          <a:xfrm>
            <a:off x="6141049" y="2562677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168</a:t>
            </a:r>
          </a:p>
        </p:txBody>
      </p:sp>
      <p:sp>
        <p:nvSpPr>
          <p:cNvPr id="12" name="Striped Right Arrow 11">
            <a:extLst>
              <a:ext uri="{FF2B5EF4-FFF2-40B4-BE49-F238E27FC236}">
                <a16:creationId xmlns:a16="http://schemas.microsoft.com/office/drawing/2014/main" xmlns="" id="{141871DF-706B-6245-89ED-0FF3A3547950}"/>
              </a:ext>
            </a:extLst>
          </p:cNvPr>
          <p:cNvSpPr/>
          <p:nvPr/>
        </p:nvSpPr>
        <p:spPr>
          <a:xfrm>
            <a:off x="5760005" y="3453770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3F7ACE9-16B2-3749-863C-F4F3A589F177}"/>
              </a:ext>
            </a:extLst>
          </p:cNvPr>
          <p:cNvSpPr txBox="1"/>
          <p:nvPr/>
        </p:nvSpPr>
        <p:spPr>
          <a:xfrm>
            <a:off x="6141049" y="3380628"/>
            <a:ext cx="397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11</a:t>
            </a:r>
          </a:p>
        </p:txBody>
      </p:sp>
      <p:sp>
        <p:nvSpPr>
          <p:cNvPr id="13" name="Striped Right Arrow 12">
            <a:extLst>
              <a:ext uri="{FF2B5EF4-FFF2-40B4-BE49-F238E27FC236}">
                <a16:creationId xmlns:a16="http://schemas.microsoft.com/office/drawing/2014/main" xmlns="" id="{0C9E7D89-0647-014E-B2C5-64798F2B969B}"/>
              </a:ext>
            </a:extLst>
          </p:cNvPr>
          <p:cNvSpPr/>
          <p:nvPr/>
        </p:nvSpPr>
        <p:spPr>
          <a:xfrm>
            <a:off x="5760005" y="4277330"/>
            <a:ext cx="381044" cy="192271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50657E43-4134-CF48-A3F5-8683E2255920}"/>
              </a:ext>
            </a:extLst>
          </p:cNvPr>
          <p:cNvSpPr txBox="1"/>
          <p:nvPr/>
        </p:nvSpPr>
        <p:spPr>
          <a:xfrm>
            <a:off x="6176476" y="4215204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C7CEEC7A-5727-4044-985E-A3720E5F431A}"/>
              </a:ext>
            </a:extLst>
          </p:cNvPr>
          <p:cNvSpPr txBox="1"/>
          <p:nvPr/>
        </p:nvSpPr>
        <p:spPr>
          <a:xfrm>
            <a:off x="7048199" y="2901231"/>
            <a:ext cx="14806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192.168.11.10</a:t>
            </a:r>
          </a:p>
        </p:txBody>
      </p:sp>
    </p:spTree>
    <p:extLst>
      <p:ext uri="{BB962C8B-B14F-4D97-AF65-F5344CB8AC3E}">
        <p14:creationId xmlns:p14="http://schemas.microsoft.com/office/powerpoint/2010/main" val="413044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Decimal to Binary Conversion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1329901-EBC7-0747-A1C2-F937CA26E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85" y="753957"/>
            <a:ext cx="8169608" cy="613657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The binary positional value table is useful in converting a dotted decimal IPv4 address to binary.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CD84704-3B8B-8A4B-8934-63877DA7F66D}"/>
              </a:ext>
            </a:extLst>
          </p:cNvPr>
          <p:cNvSpPr txBox="1"/>
          <p:nvPr/>
        </p:nvSpPr>
        <p:spPr>
          <a:xfrm>
            <a:off x="499729" y="1453629"/>
            <a:ext cx="383120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186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Start in the 128 position (the most significant bit). Is the decimal number of the octet (n) equal to or greater than 128?</a:t>
            </a:r>
          </a:p>
          <a:p>
            <a:pPr marL="43186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If no, record a binary 0 in the 128 positional value and move to the 64 positional value.</a:t>
            </a:r>
          </a:p>
          <a:p>
            <a:pPr marL="43186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If yes, record a binary 1 in the 128 positional value, subtract 128 from the decimal number, and move to the 64 positional value.</a:t>
            </a:r>
          </a:p>
          <a:p>
            <a:pPr marL="43186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Repeat these steps through the 1 positional value.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A5B9CF60-26BD-2A4F-84D1-1606E7654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930" y="1383647"/>
            <a:ext cx="4680513" cy="280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54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Decimal to Binary Conversion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D0E0F311-4D33-514A-9143-27C3742AE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1" y="786907"/>
            <a:ext cx="8280057" cy="448354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Convert decimal 168 to binary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84FBDCB-1E6D-BB46-BF05-F3AEE9F9019F}"/>
              </a:ext>
            </a:extLst>
          </p:cNvPr>
          <p:cNvSpPr txBox="1"/>
          <p:nvPr/>
        </p:nvSpPr>
        <p:spPr>
          <a:xfrm>
            <a:off x="1720182" y="1235260"/>
            <a:ext cx="5134291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Is 168 &gt; 128?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000000"/>
                </a:solidFill>
              </a:rPr>
              <a:t>Yes, enter 1 in 128 position and subtract 128 (168-128=40)</a:t>
            </a:r>
          </a:p>
          <a:p>
            <a:r>
              <a:rPr lang="en-US" sz="1400" dirty="0">
                <a:solidFill>
                  <a:srgbClr val="000000"/>
                </a:solidFill>
              </a:rPr>
              <a:t>Is 40 &gt; 64?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000000"/>
                </a:solidFill>
              </a:rPr>
              <a:t>No, enter 0 in 64 position and move on</a:t>
            </a:r>
          </a:p>
          <a:p>
            <a:r>
              <a:rPr lang="en-US" sz="1400" dirty="0">
                <a:solidFill>
                  <a:srgbClr val="000000"/>
                </a:solidFill>
              </a:rPr>
              <a:t>Is 40 &gt; 32?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000000"/>
                </a:solidFill>
              </a:rPr>
              <a:t>Yes, enter 1 in 32 position and subtract 32 (40-32=8)</a:t>
            </a:r>
          </a:p>
          <a:p>
            <a:r>
              <a:rPr lang="en-US" sz="1400" dirty="0">
                <a:solidFill>
                  <a:srgbClr val="000000"/>
                </a:solidFill>
              </a:rPr>
              <a:t>Is 8 &gt; 16?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000000"/>
                </a:solidFill>
              </a:rPr>
              <a:t>No, enter 0 in 16 position and move on</a:t>
            </a:r>
          </a:p>
          <a:p>
            <a:r>
              <a:rPr lang="en-US" sz="1400" dirty="0">
                <a:solidFill>
                  <a:srgbClr val="000000"/>
                </a:solidFill>
              </a:rPr>
              <a:t>Is 8 &gt; 8?</a:t>
            </a: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000000"/>
                </a:solidFill>
              </a:rPr>
              <a:t>Equal. Enter 1 in 8 position and subtract 8 (8-8=0)</a:t>
            </a:r>
          </a:p>
          <a:p>
            <a:r>
              <a:rPr lang="en-US" sz="1400" dirty="0">
                <a:solidFill>
                  <a:srgbClr val="000000"/>
                </a:solidFill>
              </a:rPr>
              <a:t>No values left. Enter 0 in remaining binary positions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ECE0BC4F-4A15-D942-ABB8-2C9AD7326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376779"/>
              </p:ext>
            </p:extLst>
          </p:nvPr>
        </p:nvGraphicFramePr>
        <p:xfrm>
          <a:off x="1524000" y="3720643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xmlns="" val="174530668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377926051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14257969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9395935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26246546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6835414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129886381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xmlns="" val="799469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2020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1064620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CF774CF2-89D3-0F49-8952-FA53BF5E2107}"/>
              </a:ext>
            </a:extLst>
          </p:cNvPr>
          <p:cNvSpPr txBox="1"/>
          <p:nvPr/>
        </p:nvSpPr>
        <p:spPr>
          <a:xfrm>
            <a:off x="2741421" y="4462323"/>
            <a:ext cx="3746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Decimal 168 is written as 10101000 in binary</a:t>
            </a:r>
          </a:p>
        </p:txBody>
      </p:sp>
    </p:spTree>
    <p:extLst>
      <p:ext uri="{BB962C8B-B14F-4D97-AF65-F5344CB8AC3E}">
        <p14:creationId xmlns:p14="http://schemas.microsoft.com/office/powerpoint/2010/main" val="1580804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Binary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IPv4 Addresses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656F18A1-5638-1542-BEEF-C029A4518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61238"/>
            <a:ext cx="8280057" cy="106916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Routers and computers only understand binary, while humans work in decimal. It is important for you to gain a thorough understanding of these two numbering systems and how they are used in networking.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20D8357-5E16-E046-963D-9D92DCC36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68" y="2027902"/>
            <a:ext cx="7803263" cy="199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221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5.2 Hexadecimal Number System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Hexadecimal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Hexadecimal and IPv6 Addresses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45B2D937-4573-8C4B-B077-4E01156C5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3" y="763736"/>
            <a:ext cx="3331794" cy="3657998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To understand IPv6 addresses, you must be able to convert hexadecimal to decimal and vice versa.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Hexadecimal is a base sixteen numbering system, using the digits 0 through 9 and letters A to F.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It is easier to express a value as a single hexadecimal digit than as four binary bit.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Hexadecimal is used to represent IPv6 addresses and MAC addresses.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1843AE3-D03A-144A-9406-49FB46A73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337" y="763736"/>
            <a:ext cx="4699000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315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Hexadecimal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Hexadecimal and IPv6 Addresses (Cont.)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45B2D937-4573-8C4B-B077-4E01156C5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3" y="763736"/>
            <a:ext cx="3331794" cy="3657998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IPv6 addresses are 128 bits in length. Every 4 bits is represented by a single hexadecimal digit. That makes the IPv6 address a total of 32 hexadecimal values.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figure shows the preferred method of writing out an IPv6 address, with each X representing four hexadecimal values.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Each four hexadecimal character group is referred to as a </a:t>
            </a:r>
            <a:r>
              <a:rPr lang="en-US" sz="1600" dirty="0" err="1">
                <a:solidFill>
                  <a:srgbClr val="000000"/>
                </a:solidFill>
              </a:rPr>
              <a:t>hextet</a:t>
            </a:r>
            <a:r>
              <a:rPr lang="en-US" sz="1600" dirty="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F7C18F6-5C91-FD4A-8ADF-670AFB37C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422" y="949381"/>
            <a:ext cx="4859344" cy="324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82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Hexadecimal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Video – Converting Between Hexadecimal and Decimal Numbering Systems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483787F-4E15-4F85-A3D6-7443E22566A5}"/>
              </a:ext>
            </a:extLst>
          </p:cNvPr>
          <p:cNvSpPr/>
          <p:nvPr/>
        </p:nvSpPr>
        <p:spPr>
          <a:xfrm>
            <a:off x="182390" y="1094422"/>
            <a:ext cx="816309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" indent="0">
              <a:buNone/>
            </a:pPr>
            <a:r>
              <a:rPr lang="en-US" dirty="0"/>
              <a:t>This video will cover the following:</a:t>
            </a:r>
          </a:p>
          <a:p>
            <a:pPr marL="57150" indent="0"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Characteristics of the Hexadecimal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Convert from Hexadecimal to Decimal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Convert from Decimal to Hexadecimal</a:t>
            </a:r>
          </a:p>
        </p:txBody>
      </p:sp>
    </p:spTree>
    <p:extLst>
      <p:ext uri="{BB962C8B-B14F-4D97-AF65-F5344CB8AC3E}">
        <p14:creationId xmlns:p14="http://schemas.microsoft.com/office/powerpoint/2010/main" val="3519709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Hexadecimal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Decimal to Hexadecimal Conversions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B6BDE01-7B44-5940-8AE9-3A778D310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50605"/>
            <a:ext cx="8280057" cy="3571129"/>
          </a:xfrm>
        </p:spPr>
        <p:txBody>
          <a:bodyPr/>
          <a:lstStyle/>
          <a:p>
            <a:pPr algn="l"/>
            <a:r>
              <a:rPr lang="en-US" sz="1600" dirty="0">
                <a:solidFill>
                  <a:srgbClr val="000000"/>
                </a:solidFill>
              </a:rPr>
              <a:t>Follow the steps listed to convert decimal numbers to hexadecimal values: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Convert the decimal number to 8-bit binary strings.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Divide the binary strings in groups of four starting from the rightmost position.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Convert each four binary numbers into their equivalent hexadecimal digit.</a:t>
            </a:r>
          </a:p>
          <a:p>
            <a:pPr algn="l"/>
            <a:endParaRPr lang="en-US" sz="1600" dirty="0">
              <a:solidFill>
                <a:srgbClr val="000000"/>
              </a:solidFill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</a:rPr>
              <a:t>For example, 168 converted into hex using the three-step process.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168 in binary is 10101000.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10101000 in two groups of four binary digits is 1010 and 1000.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1010 is hex A and 1000 is hex 8, so 168 is A8 in hexadecimal.</a:t>
            </a:r>
          </a:p>
          <a:p>
            <a:pPr algn="l"/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09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99"/>
            <a:ext cx="8345488" cy="731837"/>
          </a:xfrm>
        </p:spPr>
        <p:txBody>
          <a:bodyPr/>
          <a:lstStyle/>
          <a:p>
            <a:r>
              <a:rPr lang="en-US" sz="1600" dirty="0"/>
              <a:t>Hexadecimal Number System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Hexadecimal to Decimal Conversions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B6BDE01-7B44-5940-8AE9-3A778D310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50605"/>
            <a:ext cx="8280057" cy="3571129"/>
          </a:xfrm>
        </p:spPr>
        <p:txBody>
          <a:bodyPr/>
          <a:lstStyle/>
          <a:p>
            <a:pPr algn="l"/>
            <a:r>
              <a:rPr lang="en-US" sz="1600" dirty="0">
                <a:solidFill>
                  <a:srgbClr val="000000"/>
                </a:solidFill>
              </a:rPr>
              <a:t>Follow the steps listed to convert hexadecimal numbers to decimal values: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Convert the hexadecimal number to 4-bit binary strings.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Create 8-bit binary grouping starting from the rightmost position.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Convert each 8-bit binary grouping into their equivalent decimal digit.</a:t>
            </a:r>
          </a:p>
          <a:p>
            <a:pPr algn="l"/>
            <a:endParaRPr lang="en-US" sz="1600" dirty="0">
              <a:solidFill>
                <a:srgbClr val="000000"/>
              </a:solidFill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</a:rPr>
              <a:t>For example, D2 converted into decimal using the three-step process: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D2 in 4-bit binary strings is 1110 and 0010.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1110 and 0010 is 11100010 in an 8-bit grouping.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11100010 in binary is equivalent to 210 in decimal, so D2 is 210 is decimal</a:t>
            </a:r>
          </a:p>
        </p:txBody>
      </p:sp>
    </p:spTree>
    <p:extLst>
      <p:ext uri="{BB962C8B-B14F-4D97-AF65-F5344CB8AC3E}">
        <p14:creationId xmlns:p14="http://schemas.microsoft.com/office/powerpoint/2010/main" val="2836564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5.3 Module Practice and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What did I learn in this module?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Binary is a base two numbering system that consists of the numbers 0 and 1, called bits.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Decimal is a base ten numbering system that consists of the numbers 0 through 9.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Binary is what hosts, servers, and networking equipment uses to identify each other.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Hexadecimal is a base sixteen numbering system that consists of the numbers 0 through 9 and the letters A to F.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Hexadecimal is used to represent IPv6 addresses and MAC addresses.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IPv6 addresses are 128 bits long, and every 4 bits is represented by a hexadecimal digit for a total of 32 hexadecimal digits.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To convert hexadecimal to decimal, you must first convert the hexadecimal to binary, then convert the binary to decimal.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To convert decimal to hexadecimal, you must first convert the decimal to binary and then the binary to hexadecimal.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Module 5: Number Systems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A54BBD4-F89B-694E-BFD7-7FDA836EE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dotted decimal notation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positional notation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base 10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base 16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radix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octet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hextet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3804</TotalTime>
  <Words>1596</Words>
  <Application>Microsoft Office PowerPoint</Application>
  <PresentationFormat>On-screen Show (16:9)</PresentationFormat>
  <Paragraphs>449</Paragraphs>
  <Slides>21</Slides>
  <Notes>21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Default Theme</vt:lpstr>
      <vt:lpstr>Module 5: Number Systems</vt:lpstr>
      <vt:lpstr>Module Objectives</vt:lpstr>
      <vt:lpstr>5.1 Binary Number System</vt:lpstr>
      <vt:lpstr>Binary Number System Binary and IPv4 Addresses</vt:lpstr>
      <vt:lpstr>Binary Number System Video – Convert Between Binary and Decimal Numbering Systems</vt:lpstr>
      <vt:lpstr>Binary Number System Binary Positional Notation</vt:lpstr>
      <vt:lpstr>Binary Number System Binary Positional Notation (Cont.)</vt:lpstr>
      <vt:lpstr>Binary Number System Convert Binary to Decimal</vt:lpstr>
      <vt:lpstr>Binary Number System Decimal to Binary Conversion</vt:lpstr>
      <vt:lpstr>Binary Number System Decimal to Binary Conversion Example</vt:lpstr>
      <vt:lpstr>Binary Number System IPv4 Addresses</vt:lpstr>
      <vt:lpstr>5.2 Hexadecimal Number System</vt:lpstr>
      <vt:lpstr>Hexadecimal Number System Hexadecimal and IPv6 Addresses</vt:lpstr>
      <vt:lpstr>Hexadecimal Number System Hexadecimal and IPv6 Addresses (Cont.)</vt:lpstr>
      <vt:lpstr>Hexadecimal Number System Video – Converting Between Hexadecimal and Decimal Numbering Systems</vt:lpstr>
      <vt:lpstr>Hexadecimal Number System Decimal to Hexadecimal Conversions</vt:lpstr>
      <vt:lpstr>Hexadecimal Number System Hexadecimal to Decimal Conversions</vt:lpstr>
      <vt:lpstr>5.3 Module Practice and Quiz</vt:lpstr>
      <vt:lpstr>Module Practice and Quiz What did I learn in this module?</vt:lpstr>
      <vt:lpstr>Module 5: Number Systems New Terms and Commands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Michael Holtz</cp:lastModifiedBy>
  <cp:revision>206</cp:revision>
  <dcterms:created xsi:type="dcterms:W3CDTF">2019-10-18T06:21:22Z</dcterms:created>
  <dcterms:modified xsi:type="dcterms:W3CDTF">2020-12-20T21:57:22Z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