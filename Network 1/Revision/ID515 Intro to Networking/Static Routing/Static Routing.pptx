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7"/>
  </p:notesMasterIdLst>
  <p:sldIdLst>
    <p:sldId id="876" r:id="rId2"/>
    <p:sldId id="1194" r:id="rId3"/>
    <p:sldId id="1292" r:id="rId4"/>
    <p:sldId id="1272" r:id="rId5"/>
    <p:sldId id="1187" r:id="rId6"/>
  </p:sldIdLst>
  <p:sldSz cx="9144000" cy="5143500" type="screen16x9"/>
  <p:notesSz cx="6858000" cy="9144000"/>
  <p:custDataLst>
    <p:tags r:id="rId8"/>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21" clrIdx="3"/>
  <p:cmAuthor id="4" name="jagibbon" initials="jmg" lastIdx="8" clrIdx="4"/>
  <p:cmAuthor id="5" name="James Riedmueller" initials="JR" lastIdx="4"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116" autoAdjust="0"/>
    <p:restoredTop sz="86275" autoAdjust="0"/>
  </p:normalViewPr>
  <p:slideViewPr>
    <p:cSldViewPr snapToGrid="0" showGuides="1">
      <p:cViewPr varScale="1">
        <p:scale>
          <a:sx n="109" d="100"/>
          <a:sy n="109" d="100"/>
        </p:scale>
        <p:origin x="540" y="9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5/14/2024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Switching, Routing, and Wireless Essentials v7.0 (SRWE)</a:t>
            </a:r>
          </a:p>
          <a:p>
            <a:pPr>
              <a:buFontTx/>
              <a:buNone/>
            </a:pPr>
            <a:r>
              <a:rPr lang="en-US" b="0" dirty="0"/>
              <a:t>Module 15: IP Static Routing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14.4.1 - Route Sources</a:t>
            </a:r>
          </a:p>
        </p:txBody>
      </p:sp>
      <p:sp>
        <p:nvSpPr>
          <p:cNvPr id="4" name="Slide Number Placeholder 3"/>
          <p:cNvSpPr>
            <a:spLocks noGrp="1"/>
          </p:cNvSpPr>
          <p:nvPr>
            <p:ph type="sldNum" sz="quarter" idx="5"/>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34633508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14.4.6 - Static Routes in the IP Routing Table</a:t>
            </a:r>
          </a:p>
        </p:txBody>
      </p:sp>
      <p:sp>
        <p:nvSpPr>
          <p:cNvPr id="4" name="Slide Number Placeholder 3"/>
          <p:cNvSpPr>
            <a:spLocks noGrp="1"/>
          </p:cNvSpPr>
          <p:nvPr>
            <p:ph type="sldNum" sz="quarter" idx="5"/>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22308448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IP Static Routing</a:t>
            </a:r>
          </a:p>
          <a:p>
            <a:r>
              <a:rPr lang="en-US" dirty="0"/>
              <a:t>15.1 – Static Routes</a:t>
            </a:r>
          </a:p>
          <a:p>
            <a:r>
              <a:rPr lang="en-US" dirty="0"/>
              <a:t>15.1.3 - </a:t>
            </a:r>
            <a:r>
              <a:rPr lang="en-US" sz="1200" dirty="0"/>
              <a:t>IPv4 Static Route Command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42724973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Static IP Routes</a:t>
            </a:r>
          </a:p>
          <a:p>
            <a:r>
              <a:rPr lang="en-US" dirty="0"/>
              <a:t>15.2 – Configure IP Static Routes</a:t>
            </a:r>
          </a:p>
          <a:p>
            <a:r>
              <a:rPr lang="en-US" dirty="0"/>
              <a:t>15.2.1 - IPv4 Next-Hop Static Route</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29490222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31" r:id="rId13"/>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IP Static Routing</a:t>
            </a:r>
          </a:p>
        </p:txBody>
      </p:sp>
      <p:sp>
        <p:nvSpPr>
          <p:cNvPr id="3" name="Subtitle 2">
            <a:extLst>
              <a:ext uri="{FF2B5EF4-FFF2-40B4-BE49-F238E27FC236}">
                <a16:creationId xmlns:a16="http://schemas.microsoft.com/office/drawing/2014/main" id="{A04B08B5-D920-1002-F5C6-C00CAB739AD1}"/>
              </a:ext>
            </a:extLst>
          </p:cNvPr>
          <p:cNvSpPr>
            <a:spLocks noGrp="1"/>
          </p:cNvSpPr>
          <p:nvPr>
            <p:ph type="subTitle" idx="1"/>
          </p:nvPr>
        </p:nvSpPr>
        <p:spPr/>
        <p:txBody>
          <a:bodyPr/>
          <a:lstStyle/>
          <a:p>
            <a:endParaRPr lang="en-NZ"/>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br>
              <a:rPr lang="en-US" dirty="0"/>
            </a:br>
            <a:r>
              <a:rPr lang="en-US" sz="2400" dirty="0"/>
              <a:t>Route Sources</a:t>
            </a:r>
          </a:p>
        </p:txBody>
      </p:sp>
      <p:sp>
        <p:nvSpPr>
          <p:cNvPr id="5" name="Content Placeholder 4">
            <a:extLst>
              <a:ext uri="{FF2B5EF4-FFF2-40B4-BE49-F238E27FC236}">
                <a16:creationId xmlns:a16="http://schemas.microsoft.com/office/drawing/2014/main" id="{53F6CA7D-0022-C640-9D48-52F0429B18A5}"/>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 routing table contains a list of routes to known networks (prefixes and prefix lengths). The source of this information is derived from the following:</a:t>
            </a:r>
          </a:p>
          <a:p>
            <a:pPr marL="342900" indent="-342900" algn="l">
              <a:buFont typeface="Arial" panose="020B0604020202020204" pitchFamily="34" charset="0"/>
              <a:buChar char="•"/>
            </a:pPr>
            <a:r>
              <a:rPr lang="en-US" sz="1600" dirty="0">
                <a:solidFill>
                  <a:srgbClr val="000000"/>
                </a:solidFill>
              </a:rPr>
              <a:t>Directly connected networks</a:t>
            </a:r>
          </a:p>
          <a:p>
            <a:pPr marL="342900" indent="-342900" algn="l">
              <a:buFont typeface="Arial" panose="020B0604020202020204" pitchFamily="34" charset="0"/>
              <a:buChar char="•"/>
            </a:pPr>
            <a:r>
              <a:rPr lang="en-US" sz="1600" dirty="0">
                <a:solidFill>
                  <a:srgbClr val="000000"/>
                </a:solidFill>
              </a:rPr>
              <a:t>Static routes</a:t>
            </a:r>
          </a:p>
          <a:p>
            <a:pPr marL="342900" indent="-342900" algn="l">
              <a:buFont typeface="Arial" panose="020B0604020202020204" pitchFamily="34" charset="0"/>
              <a:buChar char="•"/>
            </a:pPr>
            <a:r>
              <a:rPr lang="en-US" sz="1600" dirty="0">
                <a:solidFill>
                  <a:srgbClr val="000000"/>
                </a:solidFill>
              </a:rPr>
              <a:t>Dynamic routing protocols</a:t>
            </a:r>
          </a:p>
          <a:p>
            <a:pPr marL="342900" indent="-34290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The source for each route in the routing table is identified by a code. Common codes include the following:</a:t>
            </a:r>
          </a:p>
          <a:p>
            <a:pPr marL="415985" lvl="1" indent="-342900">
              <a:buFont typeface="Arial" panose="020B0604020202020204" pitchFamily="34" charset="0"/>
              <a:buChar char="•"/>
            </a:pPr>
            <a:r>
              <a:rPr lang="en-US" b="1" dirty="0">
                <a:solidFill>
                  <a:srgbClr val="000000"/>
                </a:solidFill>
              </a:rPr>
              <a:t>L</a:t>
            </a:r>
            <a:r>
              <a:rPr lang="en-US" dirty="0">
                <a:solidFill>
                  <a:srgbClr val="000000"/>
                </a:solidFill>
              </a:rPr>
              <a:t> - Identifies the address assigned to a router interface. </a:t>
            </a:r>
          </a:p>
          <a:p>
            <a:pPr marL="415985" lvl="1" indent="-342900">
              <a:buFont typeface="Arial" panose="020B0604020202020204" pitchFamily="34" charset="0"/>
              <a:buChar char="•"/>
            </a:pPr>
            <a:r>
              <a:rPr lang="en-US" b="1" dirty="0">
                <a:solidFill>
                  <a:srgbClr val="000000"/>
                </a:solidFill>
              </a:rPr>
              <a:t>C</a:t>
            </a:r>
            <a:r>
              <a:rPr lang="en-US" dirty="0">
                <a:solidFill>
                  <a:srgbClr val="000000"/>
                </a:solidFill>
              </a:rPr>
              <a:t> - Identifies a directly connected network.</a:t>
            </a:r>
          </a:p>
          <a:p>
            <a:pPr marL="415985" lvl="1" indent="-342900">
              <a:buFont typeface="Arial" panose="020B0604020202020204" pitchFamily="34" charset="0"/>
              <a:buChar char="•"/>
            </a:pPr>
            <a:r>
              <a:rPr lang="en-US" b="1" dirty="0">
                <a:solidFill>
                  <a:srgbClr val="000000"/>
                </a:solidFill>
              </a:rPr>
              <a:t>S</a:t>
            </a:r>
            <a:r>
              <a:rPr lang="en-US" dirty="0">
                <a:solidFill>
                  <a:srgbClr val="000000"/>
                </a:solidFill>
              </a:rPr>
              <a:t> - Identifies a static route created to reach a specific network.</a:t>
            </a:r>
          </a:p>
          <a:p>
            <a:pPr marL="415985" lvl="1" indent="-342900">
              <a:buFont typeface="Arial" panose="020B0604020202020204" pitchFamily="34" charset="0"/>
              <a:buChar char="•"/>
            </a:pPr>
            <a:r>
              <a:rPr lang="en-US" b="1" dirty="0">
                <a:solidFill>
                  <a:srgbClr val="000000"/>
                </a:solidFill>
              </a:rPr>
              <a:t>O</a:t>
            </a:r>
            <a:r>
              <a:rPr lang="en-US" dirty="0">
                <a:solidFill>
                  <a:srgbClr val="000000"/>
                </a:solidFill>
              </a:rPr>
              <a:t> - Identifies a dynamically learned network from another router using the OSPF routing protocol.</a:t>
            </a:r>
          </a:p>
          <a:p>
            <a:pPr marL="415985" lvl="1" indent="-342900">
              <a:buFont typeface="Arial" panose="020B0604020202020204" pitchFamily="34" charset="0"/>
              <a:buChar char="•"/>
            </a:pPr>
            <a:r>
              <a:rPr lang="en-US" b="1" dirty="0">
                <a:solidFill>
                  <a:srgbClr val="000000"/>
                </a:solidFill>
              </a:rPr>
              <a:t>*</a:t>
            </a:r>
            <a:r>
              <a:rPr lang="en-US" dirty="0">
                <a:solidFill>
                  <a:srgbClr val="000000"/>
                </a:solidFill>
              </a:rPr>
              <a:t> - This route is a candidate for a default route.</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0693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br>
              <a:rPr lang="en-US" dirty="0"/>
            </a:br>
            <a:r>
              <a:rPr lang="en-US" sz="2400" dirty="0"/>
              <a:t>Static Routes in the IP Routing Table</a:t>
            </a:r>
          </a:p>
        </p:txBody>
      </p:sp>
      <p:sp>
        <p:nvSpPr>
          <p:cNvPr id="8" name="Rectangle 7">
            <a:extLst>
              <a:ext uri="{FF2B5EF4-FFF2-40B4-BE49-F238E27FC236}">
                <a16:creationId xmlns:a16="http://schemas.microsoft.com/office/drawing/2014/main" id="{6053E92F-A16D-E04E-9FBC-8D469B0F8F38}"/>
              </a:ext>
            </a:extLst>
          </p:cNvPr>
          <p:cNvSpPr/>
          <p:nvPr/>
        </p:nvSpPr>
        <p:spPr>
          <a:xfrm>
            <a:off x="134224" y="731837"/>
            <a:ext cx="8508976" cy="830997"/>
          </a:xfrm>
          <a:prstGeom prst="rect">
            <a:avLst/>
          </a:prstGeom>
        </p:spPr>
        <p:txBody>
          <a:bodyPr wrap="square">
            <a:spAutoFit/>
          </a:bodyPr>
          <a:lstStyle/>
          <a:p>
            <a:r>
              <a:rPr lang="en-US" sz="1600" dirty="0">
                <a:solidFill>
                  <a:srgbClr val="000000"/>
                </a:solidFill>
                <a:latin typeface="+mn-lt"/>
              </a:rPr>
              <a:t>The topology in the figure is simplified to show only one LAN attached to each router. The figure shows IPv4 and IPv6 static routes configured on R1 to reach the 10.0.4.0/24 and 2001:db8:acad:4::/64 networks on R2. </a:t>
            </a:r>
          </a:p>
        </p:txBody>
      </p:sp>
      <p:pic>
        <p:nvPicPr>
          <p:cNvPr id="7" name="Content Placeholder 6">
            <a:extLst>
              <a:ext uri="{FF2B5EF4-FFF2-40B4-BE49-F238E27FC236}">
                <a16:creationId xmlns:a16="http://schemas.microsoft.com/office/drawing/2014/main" id="{1E3EFDD8-B941-974C-A1B0-B664720591A8}"/>
              </a:ext>
            </a:extLst>
          </p:cNvPr>
          <p:cNvPicPr>
            <a:picLocks noGrp="1" noChangeAspect="1"/>
          </p:cNvPicPr>
          <p:nvPr>
            <p:ph idx="1"/>
          </p:nvPr>
        </p:nvPicPr>
        <p:blipFill>
          <a:blip r:embed="rId3"/>
          <a:stretch>
            <a:fillRect/>
          </a:stretch>
        </p:blipFill>
        <p:spPr>
          <a:xfrm>
            <a:off x="1505150" y="1695330"/>
            <a:ext cx="5930611" cy="3055467"/>
          </a:xfrm>
        </p:spPr>
      </p:pic>
    </p:spTree>
    <p:extLst>
      <p:ext uri="{BB962C8B-B14F-4D97-AF65-F5344CB8AC3E}">
        <p14:creationId xmlns:p14="http://schemas.microsoft.com/office/powerpoint/2010/main" val="2348598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Routes</a:t>
            </a:r>
            <a:br>
              <a:rPr lang="en-US" dirty="0"/>
            </a:br>
            <a:r>
              <a:rPr lang="en-US" sz="2400" dirty="0"/>
              <a:t>IPv4 Static Route Command</a:t>
            </a:r>
          </a:p>
        </p:txBody>
      </p:sp>
      <p:sp>
        <p:nvSpPr>
          <p:cNvPr id="4" name="Content Placeholder 3">
            <a:extLst>
              <a:ext uri="{FF2B5EF4-FFF2-40B4-BE49-F238E27FC236}">
                <a16:creationId xmlns:a16="http://schemas.microsoft.com/office/drawing/2014/main" id="{427BB757-ABE3-5B4A-BEBC-4C90901838E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IPv4 static routes are configured using the following global configuration command:</a:t>
            </a:r>
          </a:p>
          <a:p>
            <a:pPr marL="0" indent="0" algn="l"/>
            <a:endParaRPr lang="en-US" sz="1600" dirty="0">
              <a:solidFill>
                <a:srgbClr val="000000"/>
              </a:solidFill>
            </a:endParaRPr>
          </a:p>
          <a:p>
            <a:pPr marL="0" indent="0" algn="l"/>
            <a:r>
              <a:rPr lang="en-US" sz="1600" b="1" dirty="0">
                <a:solidFill>
                  <a:srgbClr val="000000"/>
                </a:solidFill>
                <a:latin typeface="Courier New" panose="02070309020205020404" pitchFamily="49" charset="0"/>
                <a:cs typeface="Courier New" panose="02070309020205020404" pitchFamily="49" charset="0"/>
              </a:rPr>
              <a:t>Router(config)# ip route </a:t>
            </a:r>
            <a:r>
              <a:rPr lang="en-US" sz="1600" i="1" dirty="0">
                <a:solidFill>
                  <a:srgbClr val="000000"/>
                </a:solidFill>
                <a:latin typeface="Courier New" panose="02070309020205020404" pitchFamily="49" charset="0"/>
                <a:cs typeface="Courier New" panose="02070309020205020404" pitchFamily="49" charset="0"/>
              </a:rPr>
              <a:t>network-address subnet-mask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ip-address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exit-intf</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ip-address</a:t>
            </a:r>
            <a:r>
              <a:rPr lang="en-US" sz="1600" dirty="0">
                <a:solidFill>
                  <a:srgbClr val="000000"/>
                </a:solidFill>
                <a:latin typeface="Courier New" panose="02070309020205020404" pitchFamily="49" charset="0"/>
                <a:cs typeface="Courier New" panose="02070309020205020404" pitchFamily="49" charset="0"/>
              </a:rPr>
              <a:t>]} [distance]</a:t>
            </a:r>
            <a:endParaRPr lang="en-US" sz="1600" dirty="0">
              <a:solidFill>
                <a:srgbClr val="000000"/>
              </a:solidFill>
            </a:endParaRP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Either the </a:t>
            </a:r>
            <a:r>
              <a:rPr lang="en-US" sz="1600" i="1" dirty="0">
                <a:solidFill>
                  <a:srgbClr val="000000"/>
                </a:solidFill>
              </a:rPr>
              <a:t>ip-address</a:t>
            </a:r>
            <a:r>
              <a:rPr lang="en-US" sz="1600" dirty="0">
                <a:solidFill>
                  <a:srgbClr val="000000"/>
                </a:solidFill>
              </a:rPr>
              <a:t>, </a:t>
            </a:r>
            <a:r>
              <a:rPr lang="en-US" sz="1600" i="1" dirty="0">
                <a:solidFill>
                  <a:srgbClr val="000000"/>
                </a:solidFill>
              </a:rPr>
              <a:t>exit-intf,</a:t>
            </a:r>
            <a:r>
              <a:rPr lang="en-US" sz="1600" dirty="0">
                <a:solidFill>
                  <a:srgbClr val="000000"/>
                </a:solidFill>
              </a:rPr>
              <a:t> or the </a:t>
            </a:r>
            <a:r>
              <a:rPr lang="en-US" sz="1600" i="1" dirty="0">
                <a:solidFill>
                  <a:srgbClr val="000000"/>
                </a:solidFill>
              </a:rPr>
              <a:t>ip-address</a:t>
            </a:r>
            <a:r>
              <a:rPr lang="en-US" sz="1600" dirty="0">
                <a:solidFill>
                  <a:srgbClr val="000000"/>
                </a:solidFill>
              </a:rPr>
              <a:t> and </a:t>
            </a:r>
            <a:r>
              <a:rPr lang="en-US" sz="1600" i="1" dirty="0">
                <a:solidFill>
                  <a:srgbClr val="000000"/>
                </a:solidFill>
              </a:rPr>
              <a:t>exit-intf</a:t>
            </a:r>
            <a:r>
              <a:rPr lang="en-US" sz="1600" dirty="0">
                <a:solidFill>
                  <a:srgbClr val="000000"/>
                </a:solidFill>
              </a:rPr>
              <a:t> parameters must be configured.</a:t>
            </a:r>
          </a:p>
          <a:p>
            <a:pPr marL="0" indent="0" algn="l"/>
            <a:endParaRPr lang="en-US" sz="1600" dirty="0">
              <a:solidFill>
                <a:srgbClr val="000000"/>
              </a:solidFill>
            </a:endParaRPr>
          </a:p>
        </p:txBody>
      </p:sp>
    </p:spTree>
    <p:extLst>
      <p:ext uri="{BB962C8B-B14F-4D97-AF65-F5344CB8AC3E}">
        <p14:creationId xmlns:p14="http://schemas.microsoft.com/office/powerpoint/2010/main" val="2228332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IP Static Routes</a:t>
            </a:r>
            <a:br>
              <a:rPr lang="en-US" dirty="0"/>
            </a:br>
            <a:r>
              <a:rPr lang="en-US" sz="2400" dirty="0"/>
              <a:t>IPv4 Next-Hop Static Route</a:t>
            </a:r>
          </a:p>
        </p:txBody>
      </p:sp>
      <p:sp>
        <p:nvSpPr>
          <p:cNvPr id="5" name="Content Placeholder 4">
            <a:extLst>
              <a:ext uri="{FF2B5EF4-FFF2-40B4-BE49-F238E27FC236}">
                <a16:creationId xmlns:a16="http://schemas.microsoft.com/office/drawing/2014/main" id="{4BA9E5ED-E1E8-1F49-B254-BB794D88EC0A}"/>
              </a:ext>
            </a:extLst>
          </p:cNvPr>
          <p:cNvSpPr>
            <a:spLocks noGrp="1"/>
          </p:cNvSpPr>
          <p:nvPr>
            <p:ph idx="1"/>
          </p:nvPr>
        </p:nvSpPr>
        <p:spPr>
          <a:xfrm>
            <a:off x="474662" y="731838"/>
            <a:ext cx="8280057" cy="1947568"/>
          </a:xfrm>
        </p:spPr>
        <p:txBody>
          <a:bodyPr/>
          <a:lstStyle/>
          <a:p>
            <a:pPr marL="0" indent="0" algn="l"/>
            <a:r>
              <a:rPr lang="en-US" sz="1600" dirty="0">
                <a:solidFill>
                  <a:srgbClr val="000000"/>
                </a:solidFill>
              </a:rPr>
              <a:t>In a next-hop static route, only the next-hop IP address is specified. The exit interface is derived from the next hop. For example, three next-hop IPv4 static routes are configured on R1 using the IP address of the next hop, R2.</a:t>
            </a:r>
          </a:p>
          <a:p>
            <a:pPr marL="217548" lvl="3" indent="0">
              <a:buNone/>
            </a:pPr>
            <a:r>
              <a:rPr lang="en-US" sz="1400" dirty="0">
                <a:solidFill>
                  <a:srgbClr val="000000"/>
                </a:solidFill>
                <a:latin typeface="Courier New" panose="02070309020205020404" pitchFamily="49" charset="0"/>
                <a:cs typeface="Courier New" panose="02070309020205020404" pitchFamily="49" charset="0"/>
              </a:rPr>
              <a:t>R1(config)# </a:t>
            </a:r>
            <a:r>
              <a:rPr lang="en-US" sz="1400" b="1" dirty="0">
                <a:solidFill>
                  <a:srgbClr val="000000"/>
                </a:solidFill>
                <a:latin typeface="Courier New" panose="02070309020205020404" pitchFamily="49" charset="0"/>
                <a:cs typeface="Courier New" panose="02070309020205020404" pitchFamily="49" charset="0"/>
              </a:rPr>
              <a:t>ip route 172.16.1.0 255.255.255.0 172.16.2.2 </a:t>
            </a:r>
          </a:p>
          <a:p>
            <a:pPr marL="217548" lvl="3" indent="0">
              <a:buNone/>
            </a:pPr>
            <a:r>
              <a:rPr lang="en-US" sz="1400" dirty="0">
                <a:solidFill>
                  <a:srgbClr val="000000"/>
                </a:solidFill>
                <a:latin typeface="Courier New" panose="02070309020205020404" pitchFamily="49" charset="0"/>
                <a:cs typeface="Courier New" panose="02070309020205020404" pitchFamily="49" charset="0"/>
              </a:rPr>
              <a:t>R1(config)# </a:t>
            </a:r>
            <a:r>
              <a:rPr lang="en-US" sz="1400" b="1" dirty="0">
                <a:solidFill>
                  <a:srgbClr val="000000"/>
                </a:solidFill>
                <a:latin typeface="Courier New" panose="02070309020205020404" pitchFamily="49" charset="0"/>
                <a:cs typeface="Courier New" panose="02070309020205020404" pitchFamily="49" charset="0"/>
              </a:rPr>
              <a:t>ip route 192.168.1.0 255.255.255.0 172.16.2.2 </a:t>
            </a:r>
          </a:p>
          <a:p>
            <a:pPr marL="217548" lvl="3" indent="0">
              <a:buNone/>
            </a:pPr>
            <a:r>
              <a:rPr lang="en-US" sz="1400" dirty="0">
                <a:solidFill>
                  <a:srgbClr val="000000"/>
                </a:solidFill>
                <a:latin typeface="Courier New" panose="02070309020205020404" pitchFamily="49" charset="0"/>
                <a:cs typeface="Courier New" panose="02070309020205020404" pitchFamily="49" charset="0"/>
              </a:rPr>
              <a:t>R1(config)# </a:t>
            </a:r>
            <a:r>
              <a:rPr lang="en-US" sz="1400" b="1" dirty="0">
                <a:solidFill>
                  <a:srgbClr val="000000"/>
                </a:solidFill>
                <a:latin typeface="Courier New" panose="02070309020205020404" pitchFamily="49" charset="0"/>
                <a:cs typeface="Courier New" panose="02070309020205020404" pitchFamily="49" charset="0"/>
              </a:rPr>
              <a:t>ip route 192.168.2.0 255.255.255.0 172.16.2.2</a:t>
            </a:r>
            <a:endParaRPr lang="en-US" sz="1600" b="1" dirty="0">
              <a:solidFill>
                <a:srgbClr val="000000"/>
              </a:solidFill>
            </a:endParaRPr>
          </a:p>
          <a:p>
            <a:pPr marL="0" indent="0" algn="l"/>
            <a:r>
              <a:rPr lang="en-US" sz="1600" dirty="0">
                <a:solidFill>
                  <a:srgbClr val="000000"/>
                </a:solidFill>
              </a:rPr>
              <a:t>The resulting routing table entries on R1:</a:t>
            </a:r>
          </a:p>
          <a:p>
            <a:pPr marL="0" indent="0" algn="l"/>
            <a:endParaRPr lang="en-US" sz="1600" dirty="0">
              <a:solidFill>
                <a:srgbClr val="000000"/>
              </a:solidFill>
            </a:endParaRPr>
          </a:p>
        </p:txBody>
      </p:sp>
      <p:pic>
        <p:nvPicPr>
          <p:cNvPr id="2" name="Picture 1">
            <a:extLst>
              <a:ext uri="{FF2B5EF4-FFF2-40B4-BE49-F238E27FC236}">
                <a16:creationId xmlns:a16="http://schemas.microsoft.com/office/drawing/2014/main" id="{02DD7322-928D-4D28-9EE1-E0AB67BFEE64}"/>
              </a:ext>
            </a:extLst>
          </p:cNvPr>
          <p:cNvPicPr>
            <a:picLocks noChangeAspect="1"/>
          </p:cNvPicPr>
          <p:nvPr/>
        </p:nvPicPr>
        <p:blipFill>
          <a:blip r:embed="rId3"/>
          <a:stretch>
            <a:fillRect/>
          </a:stretch>
        </p:blipFill>
        <p:spPr>
          <a:xfrm>
            <a:off x="1701006" y="2679406"/>
            <a:ext cx="4943475" cy="1943100"/>
          </a:xfrm>
          <a:prstGeom prst="rect">
            <a:avLst/>
          </a:prstGeom>
        </p:spPr>
      </p:pic>
    </p:spTree>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5140</TotalTime>
  <Words>418</Words>
  <Application>Microsoft Office PowerPoint</Application>
  <PresentationFormat>On-screen Show (16:9)</PresentationFormat>
  <Paragraphs>47</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CiscoSans ExtraLight</vt:lpstr>
      <vt:lpstr>Courier New</vt:lpstr>
      <vt:lpstr>Default Theme</vt:lpstr>
      <vt:lpstr>IP Static Routing</vt:lpstr>
      <vt:lpstr>IP Routing Table Route Sources</vt:lpstr>
      <vt:lpstr>IP Routing Table Static Routes in the IP Routing Table</vt:lpstr>
      <vt:lpstr>Static Routes IPv4 Static Route Command</vt:lpstr>
      <vt:lpstr>Configure IP Static Routes IPv4 Next-Hop Static Route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Michael Holtz</cp:lastModifiedBy>
  <cp:revision>355</cp:revision>
  <dcterms:created xsi:type="dcterms:W3CDTF">2019-10-18T06:21:22Z</dcterms:created>
  <dcterms:modified xsi:type="dcterms:W3CDTF">2024-05-13T20:34:20Z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